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AF2F6"/>
                </a:solidFill>
                <a:latin typeface="Arial"/>
              </a:defRPr>
            </a:pPr>
            <a:r>
              <a:rPr sz="1400" b="0" i="0" u="none" strike="noStrike">
                <a:solidFill>
                  <a:srgbClr val="EAF2F6"/>
                </a:solidFill>
                <a:latin typeface="Arial"/>
              </a:rPr>
              <a:t>Attacker's loss (ETH)</a:t>
            </a:r>
          </a:p>
        </c:rich>
      </c:tx>
      <c:layout/>
      <c:overlay val="0"/>
    </c:title>
    <c:autoTitleDeleted val="0"/>
    <c:plotArea>
      <c:layout/>
      <c:barChart>
        <c:barDir val="col"/>
        <c:grouping val="clustered"/>
        <c:varyColors val="0"/>
        <c:ser>
          <c:idx val="0"/>
          <c:order val="0"/>
          <c:tx>
            <c:strRef>
              <c:f>Sheet1!$B$1</c:f>
              <c:strCache>
                <c:ptCount val="1"/>
                <c:pt idx="0">
                  <c:v>Attacker's loss (ETH)</c:v>
                </c:pt>
              </c:strCache>
            </c:strRef>
          </c:tx>
          <c:spPr>
            <a:solidFill>
              <a:srgbClr val="5D717E"/>
            </a:solidFill>
            <a:effectLst/>
          </c:spPr>
          <c:invertIfNegative val="0"/>
          <c:dLbls>
            <c:numFmt formatCode="0.0000" sourceLinked="0"/>
            <c:txPr>
              <a:bodyPr/>
              <a:lstStyle/>
              <a:p>
                <a:pPr>
                  <a:defRPr b="0" i="0" strike="noStrike" sz="1200" u="none">
                    <a:solidFill>
                      <a:srgbClr val="EAF2F6"/>
                    </a:solidFill>
                    <a:latin typeface="Arial"/>
                  </a:defRPr>
                </a:pPr>
              </a:p>
            </c:txPr>
            <c:showLegendKey val="0"/>
            <c:showVal val="1"/>
            <c:showCatName val="0"/>
            <c:showSerName val="0"/>
            <c:showPercent val="0"/>
            <c:showBubbleSize val="0"/>
            <c:showLeaderLines val="0"/>
          </c:dLbls>
          <c:dPt>
            <c:idx val="0"/>
            <c:invertIfNegative val="0"/>
            <c:bubble3D val="0"/>
            <c:spPr>
              <a:solidFill>
                <a:srgbClr val="5D717E"/>
              </a:solidFill>
              <a:effectLst/>
            </c:spPr>
          </c:dPt>
          <c:dPt>
            <c:idx val="1"/>
            <c:invertIfNegative val="0"/>
            <c:bubble3D val="0"/>
            <c:spPr>
              <a:solidFill>
                <a:srgbClr val="FF6B5B"/>
              </a:solidFill>
              <a:effectLst/>
            </c:spPr>
          </c:dPt>
          <c:cat>
            <c:multiLvlStrRef>
              <c:f>Sheet1!$A$2:$A$3</c:f>
              <c:multiLvlStrCache>
                <c:ptCount val="2"/>
                <c:lvl>
                  <c:pt idx="0">
                    <c:v>Plain pool</c:v>
                  </c:pt>
                  <c:pt idx="1">
                    <c:v>GradientShield</c:v>
                  </c:pt>
                </c:lvl>
              </c:multiLvlStrCache>
            </c:multiLvlStrRef>
          </c:cat>
          <c:val>
            <c:numRef>
              <c:f>Sheet1!$B$2:$B$3</c:f>
              <c:numCache>
                <c:formatCode>General</c:formatCode>
                <c:ptCount val="2"/>
                <c:pt idx="0">
                  <c:v>0.0112</c:v>
                </c:pt>
                <c:pt idx="1">
                  <c:v>0.0592</c:v>
                </c:pt>
              </c:numCache>
            </c:numRef>
          </c:val>
        </c:ser>
        <c:dLbls>
          <c:numFmt formatCode="0.0000" sourceLinked="0"/>
          <c:txPr>
            <a:bodyPr/>
            <a:lstStyle/>
            <a:p>
              <a:pPr>
                <a:defRPr b="0" i="0" strike="noStrike" sz="1200" u="none">
                  <a:solidFill>
                    <a:srgbClr val="EAF2F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FA3B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F1922"/>
        </a:solidFill>
        <a:ln>
          <a:noFill/>
        </a:ln>
        <a:effectLst/>
      </c:spPr>
    </c:plotArea>
    <c:plotVisOnly val="1"/>
    <c:dispBlanksAs val="span"/>
  </c:chart>
  <c:spPr>
    <a:solidFill>
      <a:srgbClr val="0F1922"/>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GradientShield is a Uniswap v4 hook that makes MEV extraction unprofitable. The headline framing matters: we do not block trades and we do not claim to give the victim their price back. We make the attacker pay, measurably, while leaving honest traders exactly where an ordinary pool would leave them. 247 tests, and a live loop you can run on anvil.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transactions, one block. The bot buys ahead, the victim gets a worse price, the bot sells into it. Three reasons existing defences miss: reputation is reactive so the first attack always succeeds; hard caps that revert break permissionlessness; and v4 hands the hook a router address rather than a person, so everyone behind the Universal Router looks like the same trader.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take one slide away, take this one. Three things that are each individually unusual and together are the idea. One: protection that works before any reputation exists, which is what closes the cold-start hole every reputation system has. Two: we penalise without ever excluding — no trade is refused for its size, the fee just climbs. Three: identity resolved at the trader rather than the router, which is the part most v4 hooks get wrong without noticing.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The important structural point is the split: layers one to three act on the first ever trade with no reputation lookup, which is what closes the cold-start hole. Layers four and five build the long memory so repeat offenders escalate. Note layer one says no reverts — that was a deliberate change, covered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design decision I would lead with if asked what changed. The first version reverted trades over 5 ETH. That kills the sandwich but it also refuses honest large trades, and a pool you can be refused from is not permissionless. So instead the fee escalates with the trader's own volume in that block. Anyone can trade any amount at any time — it just gets progressively more expensive to do the thing only an attacker needs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a Uniswap-savvy judge asks. In v4 the sender passed to the hook is whoever called poolManager.swap — a router. If you score that, everyone behind the Universal Router shares one reputation: an honest user inherits a bot's volume, and eventually the router crosses the reject threshold and the pool is bricked for everyone. We resolve the real trader, and the allow-list is the security-critical piece: never ask an unvetted contract who it represents.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spend time on. We ran the same sandwich against two identical pools — same liquidity, same sizes — and the only difference is the guard. The attacker's loss goes from 0.0112 to 0.0592 ETH, so 5.3x, and the extra 0.048 is exactly the fee delta on its back-run. The right-hand column is the part people miss: the victim's execution is identical to the digit and they still pay base fee. The guard costs innocent flow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rather say this than be caught on it. The guard does not give the victim their price back — the front-run has already moved the market by the time they execute. What it does is destroy the strategy's economics so the next victim never gets hit, and route what is extracted to LPs, since the escalated fee is an LP fee. Every limitation on this slide has a test asserting it, including the pool guard charging a clean bystander.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AVS is not mocked. Operators sign a BN254 BLS signature, the aggregator sums them, and the EVM pairing precompile verifies the aggregate against the signer set the contract derives from its own registry. The gamma term proves in one pairing both that the signature is valid and that the G1 and G2 aggregate keys match — the same construction EigenLayer's BLSSignatureChecker uses. Forged signatures, wrong aggregate keys and duplicate signers are all rejected by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submission includes test cases rather than a frontend, so this is the evidence slide. The left column is what the suite actually proves, broken out by claim rather than a bare count — identity resolution, real BLS signatures, the volume tiers, and the regression guard that catches detection state not surviving across transactions. The right is a real run: three separate transactions mined into one block, bot penalised, victim untouched, router score zero, quorum signed. Every number on this deck is reproducible from a clean clone.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laid out against the judging criteria so nothing has to be inferred. Original idea, unique execution, impact and functionality each get a line. Both halves of the theme are covered — MEV protection is the obvious one, sustainable liquidity because the escalated fee is an LP fee, so what the attacker extracts is redirected into yield for the liquidity providers it was preying on. Submission artifacts bottom row: repo, video, and test cases rather than a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922"/>
        </a:solidFill>
      </p:bgPr>
    </p:bg>
    <p:spTree>
      <p:nvGrpSpPr>
        <p:cNvPr id="1" name=""/>
        <p:cNvGrpSpPr/>
        <p:nvPr/>
      </p:nvGrpSpPr>
      <p:grpSpPr>
        <a:xfrm>
          <a:off x="0" y="0"/>
          <a:ext cx="0" cy="0"/>
          <a:chOff x="0" y="0"/>
          <a:chExt cx="0" cy="0"/>
        </a:xfrm>
      </p:grpSpPr>
      <p:sp>
        <p:nvSpPr>
          <p:cNvPr id="2" name="Text 0"/>
          <p:cNvSpPr txBox="1"/>
          <p:nvPr/>
        </p:nvSpPr>
        <p:spPr>
          <a:xfrm>
            <a:off x="640080" y="1965960"/>
            <a:ext cx="8686800" cy="1005840"/>
          </a:xfrm>
          <a:prstGeom prst="rect">
            <a:avLst/>
          </a:prstGeom>
          <a:noFill/>
          <a:ln/>
        </p:spPr>
        <p:txBody>
          <a:bodyPr wrap="square" lIns="0" tIns="0" rIns="0" bIns="0" rtlCol="0" anchor="ctr"/>
          <a:lstStyle/>
          <a:p>
            <a:pPr indent="0" marL="0">
              <a:buNone/>
            </a:pPr>
            <a:r>
              <a:rPr lang="en-US" sz="6000" b="1" dirty="0">
                <a:solidFill>
                  <a:srgbClr val="EAF2F6"/>
                </a:solidFill>
                <a:latin typeface="Arial" pitchFamily="34" charset="0"/>
                <a:ea typeface="Arial" pitchFamily="34" charset="-122"/>
                <a:cs typeface="Arial" pitchFamily="34" charset="-120"/>
              </a:rPr>
              <a:t>GradientShield</a:t>
            </a:r>
            <a:endParaRPr lang="en-US" sz="6000" dirty="0"/>
          </a:p>
        </p:txBody>
      </p:sp>
      <p:sp>
        <p:nvSpPr>
          <p:cNvPr id="3" name="Text 1"/>
          <p:cNvSpPr txBox="1"/>
          <p:nvPr/>
        </p:nvSpPr>
        <p:spPr>
          <a:xfrm>
            <a:off x="640080" y="3017520"/>
            <a:ext cx="9326880" cy="502920"/>
          </a:xfrm>
          <a:prstGeom prst="rect">
            <a:avLst/>
          </a:prstGeom>
          <a:noFill/>
          <a:ln/>
        </p:spPr>
        <p:txBody>
          <a:bodyPr wrap="square" lIns="0" tIns="0" rIns="0" bIns="0" rtlCol="0" anchor="ctr"/>
          <a:lstStyle/>
          <a:p>
            <a:pPr indent="0" marL="0">
              <a:buNone/>
            </a:pPr>
            <a:r>
              <a:rPr lang="en-US" sz="2200" dirty="0">
                <a:solidFill>
                  <a:srgbClr val="06D6A0"/>
                </a:solidFill>
                <a:latin typeface="Calibri" pitchFamily="34" charset="0"/>
                <a:ea typeface="Calibri" pitchFamily="34" charset="-122"/>
                <a:cs typeface="Calibri" pitchFamily="34" charset="-120"/>
              </a:rPr>
              <a:t>MEV protection that prices the attacker, not the trade</a:t>
            </a:r>
            <a:endParaRPr lang="en-US" sz="2200" dirty="0"/>
          </a:p>
        </p:txBody>
      </p:sp>
      <p:sp>
        <p:nvSpPr>
          <p:cNvPr id="4" name="Text 2"/>
          <p:cNvSpPr txBox="1"/>
          <p:nvPr/>
        </p:nvSpPr>
        <p:spPr>
          <a:xfrm>
            <a:off x="640080" y="3657600"/>
            <a:ext cx="7863840" cy="914400"/>
          </a:xfrm>
          <a:prstGeom prst="rect">
            <a:avLst/>
          </a:prstGeom>
          <a:noFill/>
          <a:ln/>
        </p:spPr>
        <p:txBody>
          <a:bodyPr wrap="square" lIns="0" tIns="0" rIns="0" bIns="0" rtlCol="0" anchor="ctr"/>
          <a:lstStyle/>
          <a:p>
            <a:pPr indent="0" marL="0">
              <a:lnSpc>
                <a:spcPts val="2200"/>
              </a:lnSpc>
              <a:buNone/>
            </a:pPr>
            <a:r>
              <a:rPr lang="en-US" sz="1500" dirty="0">
                <a:solidFill>
                  <a:srgbClr val="8FA3B0"/>
                </a:solidFill>
                <a:latin typeface="Calibri" pitchFamily="34" charset="0"/>
                <a:ea typeface="Calibri" pitchFamily="34" charset="-122"/>
                <a:cs typeface="Calibri" pitchFamily="34" charset="-120"/>
              </a:rPr>
              <a:t>A Uniswap v4 hook. Sandwich and JIT detection on the first trade, progressive fees instead of blocked trades, and an EigenLayer-style BLS operator quorum that turns observed attacks into on-chain reputation.</a:t>
            </a:r>
            <a:endParaRPr lang="en-US" sz="1500" dirty="0"/>
          </a:p>
        </p:txBody>
      </p:sp>
      <p:sp>
        <p:nvSpPr>
          <p:cNvPr id="5" name="Text 3"/>
          <p:cNvSpPr txBox="1"/>
          <p:nvPr/>
        </p:nvSpPr>
        <p:spPr>
          <a:xfrm>
            <a:off x="640080" y="4983480"/>
            <a:ext cx="2103120" cy="457200"/>
          </a:xfrm>
          <a:prstGeom prst="rect">
            <a:avLst/>
          </a:prstGeom>
          <a:noFill/>
          <a:ln/>
        </p:spPr>
        <p:txBody>
          <a:bodyPr wrap="square" lIns="0" tIns="0" rIns="0" bIns="0" rtlCol="0" anchor="ctr"/>
          <a:lstStyle/>
          <a:p>
            <a:pPr indent="0" marL="0">
              <a:buNone/>
            </a:pPr>
            <a:r>
              <a:rPr lang="en-US" sz="2600" b="1" dirty="0">
                <a:solidFill>
                  <a:srgbClr val="FFC15E"/>
                </a:solidFill>
                <a:latin typeface="Arial" pitchFamily="34" charset="0"/>
                <a:ea typeface="Arial" pitchFamily="34" charset="-122"/>
                <a:cs typeface="Arial" pitchFamily="34" charset="-120"/>
              </a:rPr>
              <a:t>247</a:t>
            </a:r>
            <a:endParaRPr lang="en-US" sz="2600" dirty="0"/>
          </a:p>
        </p:txBody>
      </p:sp>
      <p:sp>
        <p:nvSpPr>
          <p:cNvPr id="6" name="Text 4"/>
          <p:cNvSpPr txBox="1"/>
          <p:nvPr/>
        </p:nvSpPr>
        <p:spPr>
          <a:xfrm>
            <a:off x="640080" y="5440680"/>
            <a:ext cx="2103120" cy="274320"/>
          </a:xfrm>
          <a:prstGeom prst="rect">
            <a:avLst/>
          </a:prstGeom>
          <a:noFill/>
          <a:ln/>
        </p:spPr>
        <p:txBody>
          <a:bodyPr wrap="square" lIns="0" tIns="0" rIns="0" bIns="0" rtlCol="0" anchor="ctr"/>
          <a:lstStyle/>
          <a:p>
            <a:pPr indent="0" marL="0">
              <a:buNone/>
            </a:pPr>
            <a:r>
              <a:rPr lang="en-US" sz="1200" dirty="0">
                <a:solidFill>
                  <a:srgbClr val="5D717E"/>
                </a:solidFill>
                <a:latin typeface="Calibri" pitchFamily="34" charset="0"/>
                <a:ea typeface="Calibri" pitchFamily="34" charset="-122"/>
                <a:cs typeface="Calibri" pitchFamily="34" charset="-120"/>
              </a:rPr>
              <a:t>tests, 20 suites</a:t>
            </a:r>
            <a:endParaRPr lang="en-US" sz="1200" dirty="0"/>
          </a:p>
        </p:txBody>
      </p:sp>
      <p:sp>
        <p:nvSpPr>
          <p:cNvPr id="7" name="Text 5"/>
          <p:cNvSpPr txBox="1"/>
          <p:nvPr/>
        </p:nvSpPr>
        <p:spPr>
          <a:xfrm>
            <a:off x="2926080" y="4983480"/>
            <a:ext cx="2103120" cy="457200"/>
          </a:xfrm>
          <a:prstGeom prst="rect">
            <a:avLst/>
          </a:prstGeom>
          <a:noFill/>
          <a:ln/>
        </p:spPr>
        <p:txBody>
          <a:bodyPr wrap="square" lIns="0" tIns="0" rIns="0" bIns="0" rtlCol="0" anchor="ctr"/>
          <a:lstStyle/>
          <a:p>
            <a:pPr indent="0" marL="0">
              <a:buNone/>
            </a:pPr>
            <a:r>
              <a:rPr lang="en-US" sz="2600" b="1" dirty="0">
                <a:solidFill>
                  <a:srgbClr val="FFC15E"/>
                </a:solidFill>
                <a:latin typeface="Arial" pitchFamily="34" charset="0"/>
                <a:ea typeface="Arial" pitchFamily="34" charset="-122"/>
                <a:cs typeface="Arial" pitchFamily="34" charset="-120"/>
              </a:rPr>
              <a:t>12.8 KB</a:t>
            </a:r>
            <a:endParaRPr lang="en-US" sz="2600" dirty="0"/>
          </a:p>
        </p:txBody>
      </p:sp>
      <p:sp>
        <p:nvSpPr>
          <p:cNvPr id="8" name="Text 6"/>
          <p:cNvSpPr txBox="1"/>
          <p:nvPr/>
        </p:nvSpPr>
        <p:spPr>
          <a:xfrm>
            <a:off x="2926080" y="5440680"/>
            <a:ext cx="2103120" cy="274320"/>
          </a:xfrm>
          <a:prstGeom prst="rect">
            <a:avLst/>
          </a:prstGeom>
          <a:noFill/>
          <a:ln/>
        </p:spPr>
        <p:txBody>
          <a:bodyPr wrap="square" lIns="0" tIns="0" rIns="0" bIns="0" rtlCol="0" anchor="ctr"/>
          <a:lstStyle/>
          <a:p>
            <a:pPr indent="0" marL="0">
              <a:buNone/>
            </a:pPr>
            <a:r>
              <a:rPr lang="en-US" sz="1200" dirty="0">
                <a:solidFill>
                  <a:srgbClr val="5D717E"/>
                </a:solidFill>
                <a:latin typeface="Calibri" pitchFamily="34" charset="0"/>
                <a:ea typeface="Calibri" pitchFamily="34" charset="-122"/>
                <a:cs typeface="Calibri" pitchFamily="34" charset="-120"/>
              </a:rPr>
              <a:t>hook bytecode</a:t>
            </a:r>
            <a:endParaRPr lang="en-US" sz="1200" dirty="0"/>
          </a:p>
        </p:txBody>
      </p:sp>
      <p:sp>
        <p:nvSpPr>
          <p:cNvPr id="9" name="Text 7"/>
          <p:cNvSpPr txBox="1"/>
          <p:nvPr/>
        </p:nvSpPr>
        <p:spPr>
          <a:xfrm>
            <a:off x="5212080" y="4983480"/>
            <a:ext cx="2103120" cy="457200"/>
          </a:xfrm>
          <a:prstGeom prst="rect">
            <a:avLst/>
          </a:prstGeom>
          <a:noFill/>
          <a:ln/>
        </p:spPr>
        <p:txBody>
          <a:bodyPr wrap="square" lIns="0" tIns="0" rIns="0" bIns="0" rtlCol="0" anchor="ctr"/>
          <a:lstStyle/>
          <a:p>
            <a:pPr indent="0" marL="0">
              <a:buNone/>
            </a:pPr>
            <a:r>
              <a:rPr lang="en-US" sz="2600" b="1" dirty="0">
                <a:solidFill>
                  <a:srgbClr val="FFC15E"/>
                </a:solidFill>
                <a:latin typeface="Arial" pitchFamily="34" charset="0"/>
                <a:ea typeface="Arial" pitchFamily="34" charset="-122"/>
                <a:cs typeface="Arial" pitchFamily="34" charset="-120"/>
              </a:rPr>
              <a:t>5.3x</a:t>
            </a:r>
            <a:endParaRPr lang="en-US" sz="2600" dirty="0"/>
          </a:p>
        </p:txBody>
      </p:sp>
      <p:sp>
        <p:nvSpPr>
          <p:cNvPr id="10" name="Text 8"/>
          <p:cNvSpPr txBox="1"/>
          <p:nvPr/>
        </p:nvSpPr>
        <p:spPr>
          <a:xfrm>
            <a:off x="5212080" y="5440680"/>
            <a:ext cx="2103120" cy="274320"/>
          </a:xfrm>
          <a:prstGeom prst="rect">
            <a:avLst/>
          </a:prstGeom>
          <a:noFill/>
          <a:ln/>
        </p:spPr>
        <p:txBody>
          <a:bodyPr wrap="square" lIns="0" tIns="0" rIns="0" bIns="0" rtlCol="0" anchor="ctr"/>
          <a:lstStyle/>
          <a:p>
            <a:pPr indent="0" marL="0">
              <a:buNone/>
            </a:pPr>
            <a:r>
              <a:rPr lang="en-US" sz="1200" dirty="0">
                <a:solidFill>
                  <a:srgbClr val="5D717E"/>
                </a:solidFill>
                <a:latin typeface="Calibri" pitchFamily="34" charset="0"/>
                <a:ea typeface="Calibri" pitchFamily="34" charset="-122"/>
                <a:cs typeface="Calibri" pitchFamily="34" charset="-120"/>
              </a:rPr>
              <a:t>attacker cost</a:t>
            </a:r>
            <a:endParaRPr lang="en-US" sz="1200" dirty="0"/>
          </a:p>
        </p:txBody>
      </p:sp>
      <p:sp>
        <p:nvSpPr>
          <p:cNvPr id="11" name="Text 9"/>
          <p:cNvSpPr txBox="1"/>
          <p:nvPr/>
        </p:nvSpPr>
        <p:spPr>
          <a:xfrm>
            <a:off x="640080" y="5897880"/>
            <a:ext cx="1737360" cy="292608"/>
          </a:xfrm>
          <a:prstGeom prst="rect">
            <a:avLst/>
          </a:prstGeom>
          <a:noFill/>
          <a:ln/>
        </p:spPr>
        <p:txBody>
          <a:bodyPr wrap="square" lIns="0" tIns="0" rIns="0" bIns="0" rtlCol="0" anchor="ctr"/>
          <a:lstStyle/>
          <a:p>
            <a:pPr indent="0" marL="0">
              <a:buNone/>
            </a:pPr>
            <a:r>
              <a:rPr lang="en-US" sz="1500" b="1" dirty="0">
                <a:solidFill>
                  <a:srgbClr val="EAF2F6"/>
                </a:solidFill>
                <a:latin typeface="Arial" pitchFamily="34" charset="0"/>
                <a:ea typeface="Arial" pitchFamily="34" charset="-122"/>
                <a:cs typeface="Arial" pitchFamily="34" charset="-120"/>
              </a:rPr>
              <a:t>Sivaji Alla</a:t>
            </a:r>
            <a:endParaRPr lang="en-US" sz="1500" dirty="0"/>
          </a:p>
        </p:txBody>
      </p:sp>
      <p:sp>
        <p:nvSpPr>
          <p:cNvPr id="12" name="Text 10"/>
          <p:cNvSpPr txBox="1"/>
          <p:nvPr/>
        </p:nvSpPr>
        <p:spPr>
          <a:xfrm>
            <a:off x="2468880" y="5897880"/>
            <a:ext cx="4114800" cy="292608"/>
          </a:xfrm>
          <a:prstGeom prst="rect">
            <a:avLst/>
          </a:prstGeom>
          <a:noFill/>
          <a:ln/>
        </p:spPr>
        <p:txBody>
          <a:bodyPr wrap="square" lIns="0" tIns="0" rIns="0" bIns="0" rtlCol="0" anchor="ctr"/>
          <a:lstStyle/>
          <a:p>
            <a:pPr indent="0" marL="0">
              <a:buNone/>
            </a:pPr>
            <a:r>
              <a:rPr lang="en-US" sz="1200" dirty="0">
                <a:solidFill>
                  <a:srgbClr val="8FA3B0"/>
                </a:solidFill>
                <a:latin typeface="Calibri" pitchFamily="34" charset="0"/>
                <a:ea typeface="Calibri" pitchFamily="34" charset="-122"/>
                <a:cs typeface="Calibri" pitchFamily="34" charset="-120"/>
              </a:rPr>
              <a:t>sivajialla01@gmail.com</a:t>
            </a:r>
            <a:endParaRPr lang="en-US" sz="1200" dirty="0"/>
          </a:p>
        </p:txBody>
      </p:sp>
      <p:sp>
        <p:nvSpPr>
          <p:cNvPr id="13" name="Text 11"/>
          <p:cNvSpPr txBox="1"/>
          <p:nvPr/>
        </p:nvSpPr>
        <p:spPr>
          <a:xfrm>
            <a:off x="640080" y="6199632"/>
            <a:ext cx="5486400" cy="274320"/>
          </a:xfrm>
          <a:prstGeom prst="rect">
            <a:avLst/>
          </a:prstGeom>
          <a:noFill/>
          <a:ln/>
        </p:spPr>
        <p:txBody>
          <a:bodyPr wrap="square" lIns="0" tIns="0" rIns="0" bIns="0" rtlCol="0" anchor="ctr"/>
          <a:lstStyle/>
          <a:p>
            <a:pPr indent="0" marL="0">
              <a:buNone/>
            </a:pPr>
            <a:r>
              <a:rPr lang="en-US" sz="1100" dirty="0">
                <a:solidFill>
                  <a:srgbClr val="5D717E"/>
                </a:solidFill>
                <a:latin typeface="Calibri" pitchFamily="34" charset="0"/>
                <a:ea typeface="Calibri" pitchFamily="34" charset="-122"/>
                <a:cs typeface="Calibri" pitchFamily="34" charset="-120"/>
              </a:rPr>
              <a:t>Project HK-UHI10-1050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922"/>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300" spc="160" kern="0" dirty="0">
                <a:solidFill>
                  <a:srgbClr val="06D6A0"/>
                </a:solidFill>
                <a:latin typeface="Calibri" pitchFamily="34" charset="0"/>
                <a:ea typeface="Calibri" pitchFamily="34" charset="-122"/>
                <a:cs typeface="Calibri" pitchFamily="34" charset="-120"/>
              </a:rPr>
              <a:t>THE PROBLEM</a:t>
            </a:r>
            <a:endParaRPr lang="en-US" sz="1300" dirty="0"/>
          </a:p>
        </p:txBody>
      </p:sp>
      <p:sp>
        <p:nvSpPr>
          <p:cNvPr id="3" name="Text 1"/>
          <p:cNvSpPr txBox="1"/>
          <p:nvPr/>
        </p:nvSpPr>
        <p:spPr>
          <a:xfrm>
            <a:off x="640080" y="868680"/>
            <a:ext cx="10881360" cy="685800"/>
          </a:xfrm>
          <a:prstGeom prst="rect">
            <a:avLst/>
          </a:prstGeom>
          <a:noFill/>
          <a:ln/>
        </p:spPr>
        <p:txBody>
          <a:bodyPr wrap="square" lIns="0" tIns="0" rIns="0" bIns="0" rtlCol="0" anchor="ctr"/>
          <a:lstStyle/>
          <a:p>
            <a:pPr indent="0" marL="0">
              <a:buNone/>
            </a:pPr>
            <a:r>
              <a:rPr lang="en-US" sz="3400" b="1" dirty="0">
                <a:solidFill>
                  <a:srgbClr val="EAF2F6"/>
                </a:solidFill>
                <a:latin typeface="Arial" pitchFamily="34" charset="0"/>
                <a:ea typeface="Arial" pitchFamily="34" charset="-122"/>
                <a:cs typeface="Arial" pitchFamily="34" charset="-120"/>
              </a:rPr>
              <a:t>A sandwich is three transactions in one block</a:t>
            </a:r>
            <a:endParaRPr lang="en-US" sz="3400" dirty="0"/>
          </a:p>
        </p:txBody>
      </p:sp>
      <p:sp>
        <p:nvSpPr>
          <p:cNvPr id="4" name="Shape 2"/>
          <p:cNvSpPr/>
          <p:nvPr/>
        </p:nvSpPr>
        <p:spPr>
          <a:xfrm>
            <a:off x="640080" y="1965960"/>
            <a:ext cx="3429000" cy="1783080"/>
          </a:xfrm>
          <a:prstGeom prst="roundRect">
            <a:avLst>
              <a:gd name="adj" fmla="val 4103"/>
            </a:avLst>
          </a:prstGeom>
          <a:solidFill>
            <a:srgbClr val="1B2A36"/>
          </a:solidFill>
          <a:ln w="12700">
            <a:solidFill>
              <a:srgbClr val="1B2A36"/>
            </a:solidFill>
            <a:prstDash val="solid"/>
          </a:ln>
        </p:spPr>
      </p:sp>
      <p:sp>
        <p:nvSpPr>
          <p:cNvPr id="5" name="Shape 3"/>
          <p:cNvSpPr/>
          <p:nvPr/>
        </p:nvSpPr>
        <p:spPr>
          <a:xfrm>
            <a:off x="914400" y="2240280"/>
            <a:ext cx="384048" cy="384048"/>
          </a:xfrm>
          <a:prstGeom prst="ellipse">
            <a:avLst/>
          </a:prstGeom>
          <a:solidFill>
            <a:srgbClr val="FF6B5B"/>
          </a:solidFill>
          <a:ln w="12700">
            <a:solidFill>
              <a:srgbClr val="FF6B5B"/>
            </a:solidFill>
            <a:prstDash val="solid"/>
          </a:ln>
        </p:spPr>
      </p:sp>
      <p:sp>
        <p:nvSpPr>
          <p:cNvPr id="6" name="Text 4"/>
          <p:cNvSpPr txBox="1"/>
          <p:nvPr/>
        </p:nvSpPr>
        <p:spPr>
          <a:xfrm>
            <a:off x="914400" y="2240280"/>
            <a:ext cx="384048" cy="384048"/>
          </a:xfrm>
          <a:prstGeom prst="rect">
            <a:avLst/>
          </a:prstGeom>
          <a:noFill/>
          <a:ln/>
        </p:spPr>
        <p:txBody>
          <a:bodyPr wrap="square" lIns="0" tIns="0" rIns="0" bIns="0" rtlCol="0" anchor="ctr"/>
          <a:lstStyle/>
          <a:p>
            <a:pPr algn="ctr" indent="0" marL="0">
              <a:buNone/>
            </a:pPr>
            <a:r>
              <a:rPr lang="en-US" sz="1400" b="1" dirty="0">
                <a:solidFill>
                  <a:srgbClr val="0F1922"/>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914400" y="2743200"/>
            <a:ext cx="2880360" cy="320040"/>
          </a:xfrm>
          <a:prstGeom prst="rect">
            <a:avLst/>
          </a:prstGeom>
          <a:noFill/>
          <a:ln/>
        </p:spPr>
        <p:txBody>
          <a:bodyPr wrap="square" lIns="0" tIns="0" rIns="0" bIns="0" rtlCol="0" anchor="ctr"/>
          <a:lstStyle/>
          <a:p>
            <a:pPr indent="0" marL="0">
              <a:buNone/>
            </a:pPr>
            <a:r>
              <a:rPr lang="en-US" sz="1700" b="1" dirty="0">
                <a:solidFill>
                  <a:srgbClr val="EAF2F6"/>
                </a:solidFill>
                <a:latin typeface="Arial" pitchFamily="34" charset="0"/>
                <a:ea typeface="Arial" pitchFamily="34" charset="-122"/>
                <a:cs typeface="Arial" pitchFamily="34" charset="-120"/>
              </a:rPr>
              <a:t>Bot front-runs</a:t>
            </a:r>
            <a:endParaRPr lang="en-US" sz="1700" dirty="0"/>
          </a:p>
        </p:txBody>
      </p:sp>
      <p:sp>
        <p:nvSpPr>
          <p:cNvPr id="8" name="Text 6"/>
          <p:cNvSpPr txBox="1"/>
          <p:nvPr/>
        </p:nvSpPr>
        <p:spPr>
          <a:xfrm>
            <a:off x="914400" y="3090672"/>
            <a:ext cx="2880360" cy="566928"/>
          </a:xfrm>
          <a:prstGeom prst="rect">
            <a:avLst/>
          </a:prstGeom>
          <a:noFill/>
          <a:ln/>
        </p:spPr>
        <p:txBody>
          <a:bodyPr wrap="square" lIns="0" tIns="0" rIns="0" bIns="0" rtlCol="0" anchor="ctr"/>
          <a:lstStyle/>
          <a:p>
            <a:pPr indent="0" marL="0">
              <a:lnSpc>
                <a:spcPts val="1800"/>
              </a:lnSpc>
              <a:buNone/>
            </a:pPr>
            <a:r>
              <a:rPr lang="en-US" sz="1300" dirty="0">
                <a:solidFill>
                  <a:srgbClr val="8FA3B0"/>
                </a:solidFill>
                <a:latin typeface="Calibri" pitchFamily="34" charset="0"/>
                <a:ea typeface="Calibri" pitchFamily="34" charset="-122"/>
                <a:cs typeface="Calibri" pitchFamily="34" charset="-120"/>
              </a:rPr>
              <a:t>Buys ahead of the victim, pushing the price up.</a:t>
            </a:r>
            <a:endParaRPr lang="en-US" sz="1300" dirty="0"/>
          </a:p>
        </p:txBody>
      </p:sp>
      <p:sp>
        <p:nvSpPr>
          <p:cNvPr id="9" name="Shape 7"/>
          <p:cNvSpPr/>
          <p:nvPr/>
        </p:nvSpPr>
        <p:spPr>
          <a:xfrm>
            <a:off x="4343400" y="1965960"/>
            <a:ext cx="3429000" cy="1783080"/>
          </a:xfrm>
          <a:prstGeom prst="roundRect">
            <a:avLst>
              <a:gd name="adj" fmla="val 4103"/>
            </a:avLst>
          </a:prstGeom>
          <a:solidFill>
            <a:srgbClr val="1B2A36"/>
          </a:solidFill>
          <a:ln w="12700">
            <a:solidFill>
              <a:srgbClr val="1B2A36"/>
            </a:solidFill>
            <a:prstDash val="solid"/>
          </a:ln>
        </p:spPr>
      </p:sp>
      <p:sp>
        <p:nvSpPr>
          <p:cNvPr id="10" name="Shape 8"/>
          <p:cNvSpPr/>
          <p:nvPr/>
        </p:nvSpPr>
        <p:spPr>
          <a:xfrm>
            <a:off x="4617720" y="2240280"/>
            <a:ext cx="384048" cy="384048"/>
          </a:xfrm>
          <a:prstGeom prst="ellipse">
            <a:avLst/>
          </a:prstGeom>
          <a:solidFill>
            <a:srgbClr val="FFC15E"/>
          </a:solidFill>
          <a:ln w="12700">
            <a:solidFill>
              <a:srgbClr val="FFC15E"/>
            </a:solidFill>
            <a:prstDash val="solid"/>
          </a:ln>
        </p:spPr>
      </p:sp>
      <p:sp>
        <p:nvSpPr>
          <p:cNvPr id="11" name="Text 9"/>
          <p:cNvSpPr txBox="1"/>
          <p:nvPr/>
        </p:nvSpPr>
        <p:spPr>
          <a:xfrm>
            <a:off x="4617720" y="2240280"/>
            <a:ext cx="384048" cy="384048"/>
          </a:xfrm>
          <a:prstGeom prst="rect">
            <a:avLst/>
          </a:prstGeom>
          <a:noFill/>
          <a:ln/>
        </p:spPr>
        <p:txBody>
          <a:bodyPr wrap="square" lIns="0" tIns="0" rIns="0" bIns="0" rtlCol="0" anchor="ctr"/>
          <a:lstStyle/>
          <a:p>
            <a:pPr algn="ctr" indent="0" marL="0">
              <a:buNone/>
            </a:pPr>
            <a:r>
              <a:rPr lang="en-US" sz="1400" b="1" dirty="0">
                <a:solidFill>
                  <a:srgbClr val="0F1922"/>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4617720" y="2743200"/>
            <a:ext cx="2880360" cy="320040"/>
          </a:xfrm>
          <a:prstGeom prst="rect">
            <a:avLst/>
          </a:prstGeom>
          <a:noFill/>
          <a:ln/>
        </p:spPr>
        <p:txBody>
          <a:bodyPr wrap="square" lIns="0" tIns="0" rIns="0" bIns="0" rtlCol="0" anchor="ctr"/>
          <a:lstStyle/>
          <a:p>
            <a:pPr indent="0" marL="0">
              <a:buNone/>
            </a:pPr>
            <a:r>
              <a:rPr lang="en-US" sz="1700" b="1" dirty="0">
                <a:solidFill>
                  <a:srgbClr val="EAF2F6"/>
                </a:solidFill>
                <a:latin typeface="Arial" pitchFamily="34" charset="0"/>
                <a:ea typeface="Arial" pitchFamily="34" charset="-122"/>
                <a:cs typeface="Arial" pitchFamily="34" charset="-120"/>
              </a:rPr>
              <a:t>Victim swaps</a:t>
            </a:r>
            <a:endParaRPr lang="en-US" sz="1700" dirty="0"/>
          </a:p>
        </p:txBody>
      </p:sp>
      <p:sp>
        <p:nvSpPr>
          <p:cNvPr id="13" name="Text 11"/>
          <p:cNvSpPr txBox="1"/>
          <p:nvPr/>
        </p:nvSpPr>
        <p:spPr>
          <a:xfrm>
            <a:off x="4617720" y="3090672"/>
            <a:ext cx="2880360" cy="566928"/>
          </a:xfrm>
          <a:prstGeom prst="rect">
            <a:avLst/>
          </a:prstGeom>
          <a:noFill/>
          <a:ln/>
        </p:spPr>
        <p:txBody>
          <a:bodyPr wrap="square" lIns="0" tIns="0" rIns="0" bIns="0" rtlCol="0" anchor="ctr"/>
          <a:lstStyle/>
          <a:p>
            <a:pPr indent="0" marL="0">
              <a:lnSpc>
                <a:spcPts val="1800"/>
              </a:lnSpc>
              <a:buNone/>
            </a:pPr>
            <a:r>
              <a:rPr lang="en-US" sz="1300" dirty="0">
                <a:solidFill>
                  <a:srgbClr val="8FA3B0"/>
                </a:solidFill>
                <a:latin typeface="Calibri" pitchFamily="34" charset="0"/>
                <a:ea typeface="Calibri" pitchFamily="34" charset="-122"/>
                <a:cs typeface="Calibri" pitchFamily="34" charset="-120"/>
              </a:rPr>
              <a:t>Executes at the worse price the bot just created.</a:t>
            </a:r>
            <a:endParaRPr lang="en-US" sz="1300" dirty="0"/>
          </a:p>
        </p:txBody>
      </p:sp>
      <p:sp>
        <p:nvSpPr>
          <p:cNvPr id="14" name="Shape 12"/>
          <p:cNvSpPr/>
          <p:nvPr/>
        </p:nvSpPr>
        <p:spPr>
          <a:xfrm>
            <a:off x="8046720" y="1965960"/>
            <a:ext cx="3429000" cy="1783080"/>
          </a:xfrm>
          <a:prstGeom prst="roundRect">
            <a:avLst>
              <a:gd name="adj" fmla="val 4103"/>
            </a:avLst>
          </a:prstGeom>
          <a:solidFill>
            <a:srgbClr val="1B2A36"/>
          </a:solidFill>
          <a:ln w="12700">
            <a:solidFill>
              <a:srgbClr val="1B2A36"/>
            </a:solidFill>
            <a:prstDash val="solid"/>
          </a:ln>
        </p:spPr>
      </p:sp>
      <p:sp>
        <p:nvSpPr>
          <p:cNvPr id="15" name="Shape 13"/>
          <p:cNvSpPr/>
          <p:nvPr/>
        </p:nvSpPr>
        <p:spPr>
          <a:xfrm>
            <a:off x="8321040" y="2240280"/>
            <a:ext cx="384048" cy="384048"/>
          </a:xfrm>
          <a:prstGeom prst="ellipse">
            <a:avLst/>
          </a:prstGeom>
          <a:solidFill>
            <a:srgbClr val="FF6B5B"/>
          </a:solidFill>
          <a:ln w="12700">
            <a:solidFill>
              <a:srgbClr val="FF6B5B"/>
            </a:solidFill>
            <a:prstDash val="solid"/>
          </a:ln>
        </p:spPr>
      </p:sp>
      <p:sp>
        <p:nvSpPr>
          <p:cNvPr id="16" name="Text 14"/>
          <p:cNvSpPr txBox="1"/>
          <p:nvPr/>
        </p:nvSpPr>
        <p:spPr>
          <a:xfrm>
            <a:off x="8321040" y="2240280"/>
            <a:ext cx="384048" cy="384048"/>
          </a:xfrm>
          <a:prstGeom prst="rect">
            <a:avLst/>
          </a:prstGeom>
          <a:noFill/>
          <a:ln/>
        </p:spPr>
        <p:txBody>
          <a:bodyPr wrap="square" lIns="0" tIns="0" rIns="0" bIns="0" rtlCol="0" anchor="ctr"/>
          <a:lstStyle/>
          <a:p>
            <a:pPr algn="ctr" indent="0" marL="0">
              <a:buNone/>
            </a:pPr>
            <a:r>
              <a:rPr lang="en-US" sz="1400" b="1" dirty="0">
                <a:solidFill>
                  <a:srgbClr val="0F1922"/>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8321040" y="2743200"/>
            <a:ext cx="2880360" cy="320040"/>
          </a:xfrm>
          <a:prstGeom prst="rect">
            <a:avLst/>
          </a:prstGeom>
          <a:noFill/>
          <a:ln/>
        </p:spPr>
        <p:txBody>
          <a:bodyPr wrap="square" lIns="0" tIns="0" rIns="0" bIns="0" rtlCol="0" anchor="ctr"/>
          <a:lstStyle/>
          <a:p>
            <a:pPr indent="0" marL="0">
              <a:buNone/>
            </a:pPr>
            <a:r>
              <a:rPr lang="en-US" sz="1700" b="1" dirty="0">
                <a:solidFill>
                  <a:srgbClr val="EAF2F6"/>
                </a:solidFill>
                <a:latin typeface="Arial" pitchFamily="34" charset="0"/>
                <a:ea typeface="Arial" pitchFamily="34" charset="-122"/>
                <a:cs typeface="Arial" pitchFamily="34" charset="-120"/>
              </a:rPr>
              <a:t>Bot back-runs</a:t>
            </a:r>
            <a:endParaRPr lang="en-US" sz="1700" dirty="0"/>
          </a:p>
        </p:txBody>
      </p:sp>
      <p:sp>
        <p:nvSpPr>
          <p:cNvPr id="18" name="Text 16"/>
          <p:cNvSpPr txBox="1"/>
          <p:nvPr/>
        </p:nvSpPr>
        <p:spPr>
          <a:xfrm>
            <a:off x="8321040" y="3090672"/>
            <a:ext cx="2880360" cy="566928"/>
          </a:xfrm>
          <a:prstGeom prst="rect">
            <a:avLst/>
          </a:prstGeom>
          <a:noFill/>
          <a:ln/>
        </p:spPr>
        <p:txBody>
          <a:bodyPr wrap="square" lIns="0" tIns="0" rIns="0" bIns="0" rtlCol="0" anchor="ctr"/>
          <a:lstStyle/>
          <a:p>
            <a:pPr indent="0" marL="0">
              <a:lnSpc>
                <a:spcPts val="1800"/>
              </a:lnSpc>
              <a:buNone/>
            </a:pPr>
            <a:r>
              <a:rPr lang="en-US" sz="1300" dirty="0">
                <a:solidFill>
                  <a:srgbClr val="8FA3B0"/>
                </a:solidFill>
                <a:latin typeface="Calibri" pitchFamily="34" charset="0"/>
                <a:ea typeface="Calibri" pitchFamily="34" charset="-122"/>
                <a:cs typeface="Calibri" pitchFamily="34" charset="-120"/>
              </a:rPr>
              <a:t>Sells into the move and books the spread.</a:t>
            </a:r>
            <a:endParaRPr lang="en-US" sz="1300" dirty="0"/>
          </a:p>
        </p:txBody>
      </p:sp>
      <p:sp>
        <p:nvSpPr>
          <p:cNvPr id="19" name="Shape 17"/>
          <p:cNvSpPr/>
          <p:nvPr/>
        </p:nvSpPr>
        <p:spPr>
          <a:xfrm>
            <a:off x="640080" y="4069080"/>
            <a:ext cx="10881360" cy="1508760"/>
          </a:xfrm>
          <a:prstGeom prst="roundRect">
            <a:avLst>
              <a:gd name="adj" fmla="val 4848"/>
            </a:avLst>
          </a:prstGeom>
          <a:solidFill>
            <a:srgbClr val="213341"/>
          </a:solidFill>
          <a:ln w="12700">
            <a:solidFill>
              <a:srgbClr val="213341"/>
            </a:solidFill>
            <a:prstDash val="solid"/>
          </a:ln>
        </p:spPr>
      </p:sp>
      <p:sp>
        <p:nvSpPr>
          <p:cNvPr id="20" name="Text 18"/>
          <p:cNvSpPr txBox="1"/>
          <p:nvPr/>
        </p:nvSpPr>
        <p:spPr>
          <a:xfrm>
            <a:off x="960120" y="4279392"/>
            <a:ext cx="5029200" cy="320040"/>
          </a:xfrm>
          <a:prstGeom prst="rect">
            <a:avLst/>
          </a:prstGeom>
          <a:noFill/>
          <a:ln/>
        </p:spPr>
        <p:txBody>
          <a:bodyPr wrap="square" lIns="0" tIns="0" rIns="0" bIns="0" rtlCol="0" anchor="ctr"/>
          <a:lstStyle/>
          <a:p>
            <a:pPr indent="0" marL="0">
              <a:buNone/>
            </a:pPr>
            <a:r>
              <a:rPr lang="en-US" sz="1600" b="1" dirty="0">
                <a:solidFill>
                  <a:srgbClr val="06D6A0"/>
                </a:solidFill>
                <a:latin typeface="Arial" pitchFamily="34" charset="0"/>
                <a:ea typeface="Arial" pitchFamily="34" charset="-122"/>
                <a:cs typeface="Arial" pitchFamily="34" charset="-120"/>
              </a:rPr>
              <a:t>Why existing defences miss it</a:t>
            </a:r>
            <a:endParaRPr lang="en-US" sz="1600" dirty="0"/>
          </a:p>
        </p:txBody>
      </p:sp>
      <p:sp>
        <p:nvSpPr>
          <p:cNvPr id="21" name="Text 19"/>
          <p:cNvSpPr txBox="1"/>
          <p:nvPr/>
        </p:nvSpPr>
        <p:spPr>
          <a:xfrm>
            <a:off x="960120" y="4617720"/>
            <a:ext cx="10241280" cy="868680"/>
          </a:xfrm>
          <a:prstGeom prst="rect">
            <a:avLst/>
          </a:prstGeom>
          <a:noFill/>
          <a:ln/>
        </p:spPr>
        <p:txBody>
          <a:bodyPr wrap="square" lIns="0" tIns="0" rIns="0" bIns="0" rtlCol="0" anchor="ctr"/>
          <a:lstStyle/>
          <a:p>
            <a:pPr marL="342900" indent="-342900">
              <a:spcAft>
                <a:spcPts val="500"/>
              </a:spcAft>
              <a:buSzPct val="100000"/>
              <a:buChar char="•"/>
            </a:pPr>
            <a:r>
              <a:rPr lang="en-US" sz="1300" dirty="0">
                <a:solidFill>
                  <a:srgbClr val="8FA3B0"/>
                </a:solidFill>
                <a:latin typeface="Calibri" pitchFamily="34" charset="0"/>
                <a:ea typeface="Calibri" pitchFamily="34" charset="-122"/>
                <a:cs typeface="Calibri" pitchFamily="34" charset="-120"/>
              </a:rPr>
              <a:t>Reputation systems are reactive — the first attack from a fresh address always lands.</a:t>
            </a:r>
            <a:endParaRPr lang="en-US" sz="1300" dirty="0"/>
          </a:p>
          <a:p>
            <a:pPr marL="342900" indent="-342900">
              <a:spcAft>
                <a:spcPts val="500"/>
              </a:spcAft>
              <a:buSzPct val="100000"/>
              <a:buChar char="•"/>
            </a:pPr>
            <a:r>
              <a:rPr lang="en-US" sz="1300" dirty="0">
                <a:solidFill>
                  <a:srgbClr val="8FA3B0"/>
                </a:solidFill>
                <a:latin typeface="Calibri" pitchFamily="34" charset="0"/>
                <a:ea typeface="Calibri" pitchFamily="34" charset="-122"/>
                <a:cs typeface="Calibri" pitchFamily="34" charset="-120"/>
              </a:rPr>
              <a:t>Hard caps that revert oversized trades break permissionlessness for everyone else.</a:t>
            </a:r>
            <a:endParaRPr lang="en-US" sz="1300" dirty="0"/>
          </a:p>
          <a:p>
            <a:pPr marL="342900" indent="-342900">
              <a:spcAft>
                <a:spcPts val="500"/>
              </a:spcAft>
              <a:buSzPct val="100000"/>
              <a:buChar char="•"/>
            </a:pPr>
            <a:r>
              <a:rPr lang="en-US" sz="1300" dirty="0">
                <a:solidFill>
                  <a:srgbClr val="8FA3B0"/>
                </a:solidFill>
                <a:latin typeface="Calibri" pitchFamily="34" charset="0"/>
                <a:ea typeface="Calibri" pitchFamily="34" charset="-122"/>
                <a:cs typeface="Calibri" pitchFamily="34" charset="-120"/>
              </a:rPr>
              <a:t>Uniswap v4 hands a hook the router address, not the trader — so everyone behind one router shares an identity.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922"/>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300" spc="160" kern="0" dirty="0">
                <a:solidFill>
                  <a:srgbClr val="06D6A0"/>
                </a:solidFill>
                <a:latin typeface="Calibri" pitchFamily="34" charset="0"/>
                <a:ea typeface="Calibri" pitchFamily="34" charset="-122"/>
                <a:cs typeface="Calibri" pitchFamily="34" charset="-120"/>
              </a:rPr>
              <a:t>ORIGINAL IDEA</a:t>
            </a:r>
            <a:endParaRPr lang="en-US" sz="1300" dirty="0"/>
          </a:p>
        </p:txBody>
      </p:sp>
      <p:sp>
        <p:nvSpPr>
          <p:cNvPr id="3" name="Text 1"/>
          <p:cNvSpPr txBox="1"/>
          <p:nvPr/>
        </p:nvSpPr>
        <p:spPr>
          <a:xfrm>
            <a:off x="640080" y="868680"/>
            <a:ext cx="10881360" cy="685800"/>
          </a:xfrm>
          <a:prstGeom prst="rect">
            <a:avLst/>
          </a:prstGeom>
          <a:noFill/>
          <a:ln/>
        </p:spPr>
        <p:txBody>
          <a:bodyPr wrap="square" lIns="0" tIns="0" rIns="0" bIns="0" rtlCol="0" anchor="ctr"/>
          <a:lstStyle/>
          <a:p>
            <a:pPr indent="0" marL="0">
              <a:buNone/>
            </a:pPr>
            <a:r>
              <a:rPr lang="en-US" sz="3400" b="1" dirty="0">
                <a:solidFill>
                  <a:srgbClr val="EAF2F6"/>
                </a:solidFill>
                <a:latin typeface="Arial" pitchFamily="34" charset="0"/>
                <a:ea typeface="Arial" pitchFamily="34" charset="-122"/>
                <a:cs typeface="Arial" pitchFamily="34" charset="-120"/>
              </a:rPr>
              <a:t>Three things no other MEV hook does together</a:t>
            </a:r>
            <a:endParaRPr lang="en-US" sz="3400" dirty="0"/>
          </a:p>
        </p:txBody>
      </p:sp>
      <p:sp>
        <p:nvSpPr>
          <p:cNvPr id="4" name="Shape 2"/>
          <p:cNvSpPr/>
          <p:nvPr/>
        </p:nvSpPr>
        <p:spPr>
          <a:xfrm>
            <a:off x="640080" y="1783080"/>
            <a:ext cx="10881360" cy="1298448"/>
          </a:xfrm>
          <a:prstGeom prst="roundRect">
            <a:avLst>
              <a:gd name="adj" fmla="val 5634"/>
            </a:avLst>
          </a:prstGeom>
          <a:solidFill>
            <a:srgbClr val="1B2A36"/>
          </a:solidFill>
          <a:ln w="12700">
            <a:solidFill>
              <a:srgbClr val="1B2A36"/>
            </a:solidFill>
            <a:prstDash val="solid"/>
          </a:ln>
        </p:spPr>
      </p:sp>
      <p:sp>
        <p:nvSpPr>
          <p:cNvPr id="5" name="Shape 3"/>
          <p:cNvSpPr/>
          <p:nvPr/>
        </p:nvSpPr>
        <p:spPr>
          <a:xfrm>
            <a:off x="896112" y="1965960"/>
            <a:ext cx="384048" cy="384048"/>
          </a:xfrm>
          <a:prstGeom prst="ellipse">
            <a:avLst/>
          </a:prstGeom>
          <a:solidFill>
            <a:srgbClr val="06D6A0"/>
          </a:solidFill>
          <a:ln w="12700">
            <a:solidFill>
              <a:srgbClr val="06D6A0"/>
            </a:solidFill>
            <a:prstDash val="solid"/>
          </a:ln>
        </p:spPr>
      </p:sp>
      <p:sp>
        <p:nvSpPr>
          <p:cNvPr id="6" name="Text 4"/>
          <p:cNvSpPr txBox="1"/>
          <p:nvPr/>
        </p:nvSpPr>
        <p:spPr>
          <a:xfrm>
            <a:off x="896112" y="1965960"/>
            <a:ext cx="384048" cy="384048"/>
          </a:xfrm>
          <a:prstGeom prst="rect">
            <a:avLst/>
          </a:prstGeom>
          <a:noFill/>
          <a:ln/>
        </p:spPr>
        <p:txBody>
          <a:bodyPr wrap="square" lIns="0" tIns="0" rIns="0" bIns="0" rtlCol="0" anchor="ctr"/>
          <a:lstStyle/>
          <a:p>
            <a:pPr algn="ctr" indent="0" marL="0">
              <a:buNone/>
            </a:pPr>
            <a:r>
              <a:rPr lang="en-US" sz="1400" b="1" dirty="0">
                <a:solidFill>
                  <a:srgbClr val="0F1922"/>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417320" y="1947672"/>
            <a:ext cx="9875520" cy="292608"/>
          </a:xfrm>
          <a:prstGeom prst="rect">
            <a:avLst/>
          </a:prstGeom>
          <a:noFill/>
          <a:ln/>
        </p:spPr>
        <p:txBody>
          <a:bodyPr wrap="square" lIns="0" tIns="0" rIns="0" bIns="0" rtlCol="0" anchor="ctr"/>
          <a:lstStyle/>
          <a:p>
            <a:pPr indent="0" marL="0">
              <a:buNone/>
            </a:pPr>
            <a:r>
              <a:rPr lang="en-US" sz="1700" b="1" dirty="0">
                <a:solidFill>
                  <a:srgbClr val="EAF2F6"/>
                </a:solidFill>
                <a:latin typeface="Arial" pitchFamily="34" charset="0"/>
                <a:ea typeface="Arial" pitchFamily="34" charset="-122"/>
                <a:cs typeface="Arial" pitchFamily="34" charset="-120"/>
              </a:rPr>
              <a:t>Protection before reputation exists</a:t>
            </a:r>
            <a:endParaRPr lang="en-US" sz="1700" dirty="0"/>
          </a:p>
        </p:txBody>
      </p:sp>
      <p:sp>
        <p:nvSpPr>
          <p:cNvPr id="8" name="Text 6"/>
          <p:cNvSpPr txBox="1"/>
          <p:nvPr/>
        </p:nvSpPr>
        <p:spPr>
          <a:xfrm>
            <a:off x="1417320" y="2313432"/>
            <a:ext cx="1371600" cy="237744"/>
          </a:xfrm>
          <a:prstGeom prst="rect">
            <a:avLst/>
          </a:prstGeom>
          <a:noFill/>
          <a:ln/>
        </p:spPr>
        <p:txBody>
          <a:bodyPr wrap="square" lIns="0" tIns="0" rIns="0" bIns="0" rtlCol="0" anchor="ctr"/>
          <a:lstStyle/>
          <a:p>
            <a:pPr indent="0" marL="0">
              <a:buNone/>
            </a:pPr>
            <a:r>
              <a:rPr lang="en-US" sz="1100" dirty="0">
                <a:solidFill>
                  <a:srgbClr val="5D717E"/>
                </a:solidFill>
                <a:latin typeface="Calibri" pitchFamily="34" charset="0"/>
                <a:ea typeface="Calibri" pitchFamily="34" charset="-122"/>
                <a:cs typeface="Calibri" pitchFamily="34" charset="-120"/>
              </a:rPr>
              <a:t>Typical hook</a:t>
            </a:r>
            <a:endParaRPr lang="en-US" sz="1100" dirty="0"/>
          </a:p>
        </p:txBody>
      </p:sp>
      <p:sp>
        <p:nvSpPr>
          <p:cNvPr id="9" name="Text 7"/>
          <p:cNvSpPr txBox="1"/>
          <p:nvPr/>
        </p:nvSpPr>
        <p:spPr>
          <a:xfrm>
            <a:off x="2834640" y="2295144"/>
            <a:ext cx="3657600" cy="640080"/>
          </a:xfrm>
          <a:prstGeom prst="rect">
            <a:avLst/>
          </a:prstGeom>
          <a:noFill/>
          <a:ln/>
        </p:spPr>
        <p:txBody>
          <a:bodyPr wrap="square" lIns="0" tIns="0" rIns="0" bIns="0" rtlCol="0" anchor="ctr"/>
          <a:lstStyle/>
          <a:p>
            <a:pPr indent="0" marL="0">
              <a:lnSpc>
                <a:spcPts val="1500"/>
              </a:lnSpc>
              <a:buNone/>
            </a:pPr>
            <a:r>
              <a:rPr lang="en-US" sz="1200" dirty="0">
                <a:solidFill>
                  <a:srgbClr val="8FA3B0"/>
                </a:solidFill>
                <a:latin typeface="Calibri" pitchFamily="34" charset="0"/>
                <a:ea typeface="Calibri" pitchFamily="34" charset="-122"/>
                <a:cs typeface="Calibri" pitchFamily="34" charset="-120"/>
              </a:rPr>
              <a:t>Score the address, then act — so the first attack from a fresh wallet always lands.</a:t>
            </a:r>
            <a:endParaRPr lang="en-US" sz="1200" dirty="0"/>
          </a:p>
        </p:txBody>
      </p:sp>
      <p:sp>
        <p:nvSpPr>
          <p:cNvPr id="10" name="Text 8"/>
          <p:cNvSpPr txBox="1"/>
          <p:nvPr/>
        </p:nvSpPr>
        <p:spPr>
          <a:xfrm>
            <a:off x="6766560" y="2313432"/>
            <a:ext cx="1554480" cy="237744"/>
          </a:xfrm>
          <a:prstGeom prst="rect">
            <a:avLst/>
          </a:prstGeom>
          <a:noFill/>
          <a:ln/>
        </p:spPr>
        <p:txBody>
          <a:bodyPr wrap="square" lIns="0" tIns="0" rIns="0" bIns="0" rtlCol="0" anchor="ctr"/>
          <a:lstStyle/>
          <a:p>
            <a:pPr indent="0" marL="0">
              <a:buNone/>
            </a:pPr>
            <a:r>
              <a:rPr lang="en-US" sz="1100" b="1" dirty="0">
                <a:solidFill>
                  <a:srgbClr val="06D6A0"/>
                </a:solidFill>
                <a:latin typeface="Calibri" pitchFamily="34" charset="0"/>
                <a:ea typeface="Calibri" pitchFamily="34" charset="-122"/>
                <a:cs typeface="Calibri" pitchFamily="34" charset="-120"/>
              </a:rPr>
              <a:t>GradientShield</a:t>
            </a:r>
            <a:endParaRPr lang="en-US" sz="1100" dirty="0"/>
          </a:p>
        </p:txBody>
      </p:sp>
      <p:sp>
        <p:nvSpPr>
          <p:cNvPr id="11" name="Text 9"/>
          <p:cNvSpPr txBox="1"/>
          <p:nvPr/>
        </p:nvSpPr>
        <p:spPr>
          <a:xfrm>
            <a:off x="8366760" y="2295144"/>
            <a:ext cx="2926080" cy="640080"/>
          </a:xfrm>
          <a:prstGeom prst="rect">
            <a:avLst/>
          </a:prstGeom>
          <a:noFill/>
          <a:ln/>
        </p:spPr>
        <p:txBody>
          <a:bodyPr wrap="square" lIns="0" tIns="0" rIns="0" bIns="0" rtlCol="0" anchor="ctr"/>
          <a:lstStyle/>
          <a:p>
            <a:pPr indent="0" marL="0">
              <a:lnSpc>
                <a:spcPts val="1500"/>
              </a:lnSpc>
              <a:buNone/>
            </a:pPr>
            <a:r>
              <a:rPr lang="en-US" sz="1200" dirty="0">
                <a:solidFill>
                  <a:srgbClr val="EAF2F6"/>
                </a:solidFill>
                <a:latin typeface="Calibri" pitchFamily="34" charset="0"/>
                <a:ea typeface="Calibri" pitchFamily="34" charset="-122"/>
                <a:cs typeface="Calibri" pitchFamily="34" charset="-120"/>
              </a:rPr>
              <a:t>The volume guard prices the very first sandwich. No history, no oracle, no waiting.</a:t>
            </a:r>
            <a:endParaRPr lang="en-US" sz="1200" dirty="0"/>
          </a:p>
        </p:txBody>
      </p:sp>
      <p:sp>
        <p:nvSpPr>
          <p:cNvPr id="12" name="Shape 10"/>
          <p:cNvSpPr/>
          <p:nvPr/>
        </p:nvSpPr>
        <p:spPr>
          <a:xfrm>
            <a:off x="640080" y="3264408"/>
            <a:ext cx="10881360" cy="1298448"/>
          </a:xfrm>
          <a:prstGeom prst="roundRect">
            <a:avLst>
              <a:gd name="adj" fmla="val 5634"/>
            </a:avLst>
          </a:prstGeom>
          <a:solidFill>
            <a:srgbClr val="1B2A36"/>
          </a:solidFill>
          <a:ln w="12700">
            <a:solidFill>
              <a:srgbClr val="1B2A36"/>
            </a:solidFill>
            <a:prstDash val="solid"/>
          </a:ln>
        </p:spPr>
      </p:sp>
      <p:sp>
        <p:nvSpPr>
          <p:cNvPr id="13" name="Shape 11"/>
          <p:cNvSpPr/>
          <p:nvPr/>
        </p:nvSpPr>
        <p:spPr>
          <a:xfrm>
            <a:off x="896112" y="3447288"/>
            <a:ext cx="384048" cy="384048"/>
          </a:xfrm>
          <a:prstGeom prst="ellipse">
            <a:avLst/>
          </a:prstGeom>
          <a:solidFill>
            <a:srgbClr val="06D6A0"/>
          </a:solidFill>
          <a:ln w="12700">
            <a:solidFill>
              <a:srgbClr val="06D6A0"/>
            </a:solidFill>
            <a:prstDash val="solid"/>
          </a:ln>
        </p:spPr>
      </p:sp>
      <p:sp>
        <p:nvSpPr>
          <p:cNvPr id="14" name="Text 12"/>
          <p:cNvSpPr txBox="1"/>
          <p:nvPr/>
        </p:nvSpPr>
        <p:spPr>
          <a:xfrm>
            <a:off x="896112" y="3447288"/>
            <a:ext cx="384048" cy="384048"/>
          </a:xfrm>
          <a:prstGeom prst="rect">
            <a:avLst/>
          </a:prstGeom>
          <a:noFill/>
          <a:ln/>
        </p:spPr>
        <p:txBody>
          <a:bodyPr wrap="square" lIns="0" tIns="0" rIns="0" bIns="0" rtlCol="0" anchor="ctr"/>
          <a:lstStyle/>
          <a:p>
            <a:pPr algn="ctr" indent="0" marL="0">
              <a:buNone/>
            </a:pPr>
            <a:r>
              <a:rPr lang="en-US" sz="1400" b="1" dirty="0">
                <a:solidFill>
                  <a:srgbClr val="0F1922"/>
                </a:solidFill>
                <a:latin typeface="Arial" pitchFamily="34" charset="0"/>
                <a:ea typeface="Arial" pitchFamily="34" charset="-122"/>
                <a:cs typeface="Arial" pitchFamily="34" charset="-120"/>
              </a:rPr>
              <a:t>2</a:t>
            </a:r>
            <a:endParaRPr lang="en-US" sz="1400" dirty="0"/>
          </a:p>
        </p:txBody>
      </p:sp>
      <p:sp>
        <p:nvSpPr>
          <p:cNvPr id="15" name="Text 13"/>
          <p:cNvSpPr txBox="1"/>
          <p:nvPr/>
        </p:nvSpPr>
        <p:spPr>
          <a:xfrm>
            <a:off x="1417320" y="3429000"/>
            <a:ext cx="9875520" cy="292608"/>
          </a:xfrm>
          <a:prstGeom prst="rect">
            <a:avLst/>
          </a:prstGeom>
          <a:noFill/>
          <a:ln/>
        </p:spPr>
        <p:txBody>
          <a:bodyPr wrap="square" lIns="0" tIns="0" rIns="0" bIns="0" rtlCol="0" anchor="ctr"/>
          <a:lstStyle/>
          <a:p>
            <a:pPr indent="0" marL="0">
              <a:buNone/>
            </a:pPr>
            <a:r>
              <a:rPr lang="en-US" sz="1700" b="1" dirty="0">
                <a:solidFill>
                  <a:srgbClr val="EAF2F6"/>
                </a:solidFill>
                <a:latin typeface="Arial" pitchFamily="34" charset="0"/>
                <a:ea typeface="Arial" pitchFamily="34" charset="-122"/>
                <a:cs typeface="Arial" pitchFamily="34" charset="-120"/>
              </a:rPr>
              <a:t>Penalise without excluding</a:t>
            </a:r>
            <a:endParaRPr lang="en-US" sz="1700" dirty="0"/>
          </a:p>
        </p:txBody>
      </p:sp>
      <p:sp>
        <p:nvSpPr>
          <p:cNvPr id="16" name="Text 14"/>
          <p:cNvSpPr txBox="1"/>
          <p:nvPr/>
        </p:nvSpPr>
        <p:spPr>
          <a:xfrm>
            <a:off x="1417320" y="3794760"/>
            <a:ext cx="1371600" cy="237744"/>
          </a:xfrm>
          <a:prstGeom prst="rect">
            <a:avLst/>
          </a:prstGeom>
          <a:noFill/>
          <a:ln/>
        </p:spPr>
        <p:txBody>
          <a:bodyPr wrap="square" lIns="0" tIns="0" rIns="0" bIns="0" rtlCol="0" anchor="ctr"/>
          <a:lstStyle/>
          <a:p>
            <a:pPr indent="0" marL="0">
              <a:buNone/>
            </a:pPr>
            <a:r>
              <a:rPr lang="en-US" sz="1100" dirty="0">
                <a:solidFill>
                  <a:srgbClr val="5D717E"/>
                </a:solidFill>
                <a:latin typeface="Calibri" pitchFamily="34" charset="0"/>
                <a:ea typeface="Calibri" pitchFamily="34" charset="-122"/>
                <a:cs typeface="Calibri" pitchFamily="34" charset="-120"/>
              </a:rPr>
              <a:t>Typical hook</a:t>
            </a:r>
            <a:endParaRPr lang="en-US" sz="1100" dirty="0"/>
          </a:p>
        </p:txBody>
      </p:sp>
      <p:sp>
        <p:nvSpPr>
          <p:cNvPr id="17" name="Text 15"/>
          <p:cNvSpPr txBox="1"/>
          <p:nvPr/>
        </p:nvSpPr>
        <p:spPr>
          <a:xfrm>
            <a:off x="2834640" y="3776472"/>
            <a:ext cx="3657600" cy="640080"/>
          </a:xfrm>
          <a:prstGeom prst="rect">
            <a:avLst/>
          </a:prstGeom>
          <a:noFill/>
          <a:ln/>
        </p:spPr>
        <p:txBody>
          <a:bodyPr wrap="square" lIns="0" tIns="0" rIns="0" bIns="0" rtlCol="0" anchor="ctr"/>
          <a:lstStyle/>
          <a:p>
            <a:pPr indent="0" marL="0">
              <a:lnSpc>
                <a:spcPts val="1500"/>
              </a:lnSpc>
              <a:buNone/>
            </a:pPr>
            <a:r>
              <a:rPr lang="en-US" sz="1200" dirty="0">
                <a:solidFill>
                  <a:srgbClr val="8FA3B0"/>
                </a:solidFill>
                <a:latin typeface="Calibri" pitchFamily="34" charset="0"/>
                <a:ea typeface="Calibri" pitchFamily="34" charset="-122"/>
                <a:cs typeface="Calibri" pitchFamily="34" charset="-120"/>
              </a:rPr>
              <a:t>Revert oversized trades, or gate the pool behind an allowlist.</a:t>
            </a:r>
            <a:endParaRPr lang="en-US" sz="1200" dirty="0"/>
          </a:p>
        </p:txBody>
      </p:sp>
      <p:sp>
        <p:nvSpPr>
          <p:cNvPr id="18" name="Text 16"/>
          <p:cNvSpPr txBox="1"/>
          <p:nvPr/>
        </p:nvSpPr>
        <p:spPr>
          <a:xfrm>
            <a:off x="6766560" y="3794760"/>
            <a:ext cx="1554480" cy="237744"/>
          </a:xfrm>
          <a:prstGeom prst="rect">
            <a:avLst/>
          </a:prstGeom>
          <a:noFill/>
          <a:ln/>
        </p:spPr>
        <p:txBody>
          <a:bodyPr wrap="square" lIns="0" tIns="0" rIns="0" bIns="0" rtlCol="0" anchor="ctr"/>
          <a:lstStyle/>
          <a:p>
            <a:pPr indent="0" marL="0">
              <a:buNone/>
            </a:pPr>
            <a:r>
              <a:rPr lang="en-US" sz="1100" b="1" dirty="0">
                <a:solidFill>
                  <a:srgbClr val="06D6A0"/>
                </a:solidFill>
                <a:latin typeface="Calibri" pitchFamily="34" charset="0"/>
                <a:ea typeface="Calibri" pitchFamily="34" charset="-122"/>
                <a:cs typeface="Calibri" pitchFamily="34" charset="-120"/>
              </a:rPr>
              <a:t>GradientShield</a:t>
            </a:r>
            <a:endParaRPr lang="en-US" sz="1100" dirty="0"/>
          </a:p>
        </p:txBody>
      </p:sp>
      <p:sp>
        <p:nvSpPr>
          <p:cNvPr id="19" name="Text 17"/>
          <p:cNvSpPr txBox="1"/>
          <p:nvPr/>
        </p:nvSpPr>
        <p:spPr>
          <a:xfrm>
            <a:off x="8366760" y="3776472"/>
            <a:ext cx="2926080" cy="640080"/>
          </a:xfrm>
          <a:prstGeom prst="rect">
            <a:avLst/>
          </a:prstGeom>
          <a:noFill/>
          <a:ln/>
        </p:spPr>
        <p:txBody>
          <a:bodyPr wrap="square" lIns="0" tIns="0" rIns="0" bIns="0" rtlCol="0" anchor="ctr"/>
          <a:lstStyle/>
          <a:p>
            <a:pPr indent="0" marL="0">
              <a:lnSpc>
                <a:spcPts val="1500"/>
              </a:lnSpc>
              <a:buNone/>
            </a:pPr>
            <a:r>
              <a:rPr lang="en-US" sz="1200" dirty="0">
                <a:solidFill>
                  <a:srgbClr val="EAF2F6"/>
                </a:solidFill>
                <a:latin typeface="Calibri" pitchFamily="34" charset="0"/>
                <a:ea typeface="Calibri" pitchFamily="34" charset="-122"/>
                <a:cs typeface="Calibri" pitchFamily="34" charset="-120"/>
              </a:rPr>
              <a:t>Fees escalate with the trader's own volume. Any address, any size, any time — priced.</a:t>
            </a:r>
            <a:endParaRPr lang="en-US" sz="1200" dirty="0"/>
          </a:p>
        </p:txBody>
      </p:sp>
      <p:sp>
        <p:nvSpPr>
          <p:cNvPr id="20" name="Shape 18"/>
          <p:cNvSpPr/>
          <p:nvPr/>
        </p:nvSpPr>
        <p:spPr>
          <a:xfrm>
            <a:off x="640080" y="4745736"/>
            <a:ext cx="10881360" cy="1298448"/>
          </a:xfrm>
          <a:prstGeom prst="roundRect">
            <a:avLst>
              <a:gd name="adj" fmla="val 5634"/>
            </a:avLst>
          </a:prstGeom>
          <a:solidFill>
            <a:srgbClr val="1B2A36"/>
          </a:solidFill>
          <a:ln w="12700">
            <a:solidFill>
              <a:srgbClr val="1B2A36"/>
            </a:solidFill>
            <a:prstDash val="solid"/>
          </a:ln>
        </p:spPr>
      </p:sp>
      <p:sp>
        <p:nvSpPr>
          <p:cNvPr id="21" name="Shape 19"/>
          <p:cNvSpPr/>
          <p:nvPr/>
        </p:nvSpPr>
        <p:spPr>
          <a:xfrm>
            <a:off x="896112" y="4928616"/>
            <a:ext cx="384048" cy="384048"/>
          </a:xfrm>
          <a:prstGeom prst="ellipse">
            <a:avLst/>
          </a:prstGeom>
          <a:solidFill>
            <a:srgbClr val="06D6A0"/>
          </a:solidFill>
          <a:ln w="12700">
            <a:solidFill>
              <a:srgbClr val="06D6A0"/>
            </a:solidFill>
            <a:prstDash val="solid"/>
          </a:ln>
        </p:spPr>
      </p:sp>
      <p:sp>
        <p:nvSpPr>
          <p:cNvPr id="22" name="Text 20"/>
          <p:cNvSpPr txBox="1"/>
          <p:nvPr/>
        </p:nvSpPr>
        <p:spPr>
          <a:xfrm>
            <a:off x="896112" y="4928616"/>
            <a:ext cx="384048" cy="384048"/>
          </a:xfrm>
          <a:prstGeom prst="rect">
            <a:avLst/>
          </a:prstGeom>
          <a:noFill/>
          <a:ln/>
        </p:spPr>
        <p:txBody>
          <a:bodyPr wrap="square" lIns="0" tIns="0" rIns="0" bIns="0" rtlCol="0" anchor="ctr"/>
          <a:lstStyle/>
          <a:p>
            <a:pPr algn="ctr" indent="0" marL="0">
              <a:buNone/>
            </a:pPr>
            <a:r>
              <a:rPr lang="en-US" sz="1400" b="1" dirty="0">
                <a:solidFill>
                  <a:srgbClr val="0F1922"/>
                </a:solidFill>
                <a:latin typeface="Arial" pitchFamily="34" charset="0"/>
                <a:ea typeface="Arial" pitchFamily="34" charset="-122"/>
                <a:cs typeface="Arial" pitchFamily="34" charset="-120"/>
              </a:rPr>
              <a:t>3</a:t>
            </a:r>
            <a:endParaRPr lang="en-US" sz="1400" dirty="0"/>
          </a:p>
        </p:txBody>
      </p:sp>
      <p:sp>
        <p:nvSpPr>
          <p:cNvPr id="23" name="Text 21"/>
          <p:cNvSpPr txBox="1"/>
          <p:nvPr/>
        </p:nvSpPr>
        <p:spPr>
          <a:xfrm>
            <a:off x="1417320" y="4910328"/>
            <a:ext cx="9875520" cy="292608"/>
          </a:xfrm>
          <a:prstGeom prst="rect">
            <a:avLst/>
          </a:prstGeom>
          <a:noFill/>
          <a:ln/>
        </p:spPr>
        <p:txBody>
          <a:bodyPr wrap="square" lIns="0" tIns="0" rIns="0" bIns="0" rtlCol="0" anchor="ctr"/>
          <a:lstStyle/>
          <a:p>
            <a:pPr indent="0" marL="0">
              <a:buNone/>
            </a:pPr>
            <a:r>
              <a:rPr lang="en-US" sz="1700" b="1" dirty="0">
                <a:solidFill>
                  <a:srgbClr val="EAF2F6"/>
                </a:solidFill>
                <a:latin typeface="Arial" pitchFamily="34" charset="0"/>
                <a:ea typeface="Arial" pitchFamily="34" charset="-122"/>
                <a:cs typeface="Arial" pitchFamily="34" charset="-120"/>
              </a:rPr>
              <a:t>Identity at the trader, not the router</a:t>
            </a:r>
            <a:endParaRPr lang="en-US" sz="1700" dirty="0"/>
          </a:p>
        </p:txBody>
      </p:sp>
      <p:sp>
        <p:nvSpPr>
          <p:cNvPr id="24" name="Text 22"/>
          <p:cNvSpPr txBox="1"/>
          <p:nvPr/>
        </p:nvSpPr>
        <p:spPr>
          <a:xfrm>
            <a:off x="1417320" y="5276088"/>
            <a:ext cx="1371600" cy="237744"/>
          </a:xfrm>
          <a:prstGeom prst="rect">
            <a:avLst/>
          </a:prstGeom>
          <a:noFill/>
          <a:ln/>
        </p:spPr>
        <p:txBody>
          <a:bodyPr wrap="square" lIns="0" tIns="0" rIns="0" bIns="0" rtlCol="0" anchor="ctr"/>
          <a:lstStyle/>
          <a:p>
            <a:pPr indent="0" marL="0">
              <a:buNone/>
            </a:pPr>
            <a:r>
              <a:rPr lang="en-US" sz="1100" dirty="0">
                <a:solidFill>
                  <a:srgbClr val="5D717E"/>
                </a:solidFill>
                <a:latin typeface="Calibri" pitchFamily="34" charset="0"/>
                <a:ea typeface="Calibri" pitchFamily="34" charset="-122"/>
                <a:cs typeface="Calibri" pitchFamily="34" charset="-120"/>
              </a:rPr>
              <a:t>Typical hook</a:t>
            </a:r>
            <a:endParaRPr lang="en-US" sz="1100" dirty="0"/>
          </a:p>
        </p:txBody>
      </p:sp>
      <p:sp>
        <p:nvSpPr>
          <p:cNvPr id="25" name="Text 23"/>
          <p:cNvSpPr txBox="1"/>
          <p:nvPr/>
        </p:nvSpPr>
        <p:spPr>
          <a:xfrm>
            <a:off x="2834640" y="5257800"/>
            <a:ext cx="3657600" cy="640080"/>
          </a:xfrm>
          <a:prstGeom prst="rect">
            <a:avLst/>
          </a:prstGeom>
          <a:noFill/>
          <a:ln/>
        </p:spPr>
        <p:txBody>
          <a:bodyPr wrap="square" lIns="0" tIns="0" rIns="0" bIns="0" rtlCol="0" anchor="ctr"/>
          <a:lstStyle/>
          <a:p>
            <a:pPr indent="0" marL="0">
              <a:lnSpc>
                <a:spcPts val="1500"/>
              </a:lnSpc>
              <a:buNone/>
            </a:pPr>
            <a:r>
              <a:rPr lang="en-US" sz="1200" dirty="0">
                <a:solidFill>
                  <a:srgbClr val="8FA3B0"/>
                </a:solidFill>
                <a:latin typeface="Calibri" pitchFamily="34" charset="0"/>
                <a:ea typeface="Calibri" pitchFamily="34" charset="-122"/>
                <a:cs typeface="Calibri" pitchFamily="34" charset="-120"/>
              </a:rPr>
              <a:t>Key on the address v4 hands the hook, which is a router shared by thousands.</a:t>
            </a:r>
            <a:endParaRPr lang="en-US" sz="1200" dirty="0"/>
          </a:p>
        </p:txBody>
      </p:sp>
      <p:sp>
        <p:nvSpPr>
          <p:cNvPr id="26" name="Text 24"/>
          <p:cNvSpPr txBox="1"/>
          <p:nvPr/>
        </p:nvSpPr>
        <p:spPr>
          <a:xfrm>
            <a:off x="6766560" y="5276088"/>
            <a:ext cx="1554480" cy="237744"/>
          </a:xfrm>
          <a:prstGeom prst="rect">
            <a:avLst/>
          </a:prstGeom>
          <a:noFill/>
          <a:ln/>
        </p:spPr>
        <p:txBody>
          <a:bodyPr wrap="square" lIns="0" tIns="0" rIns="0" bIns="0" rtlCol="0" anchor="ctr"/>
          <a:lstStyle/>
          <a:p>
            <a:pPr indent="0" marL="0">
              <a:buNone/>
            </a:pPr>
            <a:r>
              <a:rPr lang="en-US" sz="1100" b="1" dirty="0">
                <a:solidFill>
                  <a:srgbClr val="06D6A0"/>
                </a:solidFill>
                <a:latin typeface="Calibri" pitchFamily="34" charset="0"/>
                <a:ea typeface="Calibri" pitchFamily="34" charset="-122"/>
                <a:cs typeface="Calibri" pitchFamily="34" charset="-120"/>
              </a:rPr>
              <a:t>GradientShield</a:t>
            </a:r>
            <a:endParaRPr lang="en-US" sz="1100" dirty="0"/>
          </a:p>
        </p:txBody>
      </p:sp>
      <p:sp>
        <p:nvSpPr>
          <p:cNvPr id="27" name="Text 25"/>
          <p:cNvSpPr txBox="1"/>
          <p:nvPr/>
        </p:nvSpPr>
        <p:spPr>
          <a:xfrm>
            <a:off x="8366760" y="5257800"/>
            <a:ext cx="2926080" cy="640080"/>
          </a:xfrm>
          <a:prstGeom prst="rect">
            <a:avLst/>
          </a:prstGeom>
          <a:noFill/>
          <a:ln/>
        </p:spPr>
        <p:txBody>
          <a:bodyPr wrap="square" lIns="0" tIns="0" rIns="0" bIns="0" rtlCol="0" anchor="ctr"/>
          <a:lstStyle/>
          <a:p>
            <a:pPr indent="0" marL="0">
              <a:lnSpc>
                <a:spcPts val="1500"/>
              </a:lnSpc>
              <a:buNone/>
            </a:pPr>
            <a:r>
              <a:rPr lang="en-US" sz="1200" dirty="0">
                <a:solidFill>
                  <a:srgbClr val="EAF2F6"/>
                </a:solidFill>
                <a:latin typeface="Calibri" pitchFamily="34" charset="0"/>
                <a:ea typeface="Calibri" pitchFamily="34" charset="-122"/>
                <a:cs typeface="Calibri" pitchFamily="34" charset="-120"/>
              </a:rPr>
              <a:t>Resolve the real trader, so one bot cannot tax everyone behind its router.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922"/>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300" spc="160" kern="0" dirty="0">
                <a:solidFill>
                  <a:srgbClr val="06D6A0"/>
                </a:solidFill>
                <a:latin typeface="Calibri" pitchFamily="34" charset="0"/>
                <a:ea typeface="Calibri" pitchFamily="34" charset="-122"/>
                <a:cs typeface="Calibri" pitchFamily="34" charset="-120"/>
              </a:rPr>
              <a:t>ARCHITECTURE</a:t>
            </a:r>
            <a:endParaRPr lang="en-US" sz="1300" dirty="0"/>
          </a:p>
        </p:txBody>
      </p:sp>
      <p:sp>
        <p:nvSpPr>
          <p:cNvPr id="3" name="Text 1"/>
          <p:cNvSpPr txBox="1"/>
          <p:nvPr/>
        </p:nvSpPr>
        <p:spPr>
          <a:xfrm>
            <a:off x="640080" y="868680"/>
            <a:ext cx="10881360" cy="685800"/>
          </a:xfrm>
          <a:prstGeom prst="rect">
            <a:avLst/>
          </a:prstGeom>
          <a:noFill/>
          <a:ln/>
        </p:spPr>
        <p:txBody>
          <a:bodyPr wrap="square" lIns="0" tIns="0" rIns="0" bIns="0" rtlCol="0" anchor="ctr"/>
          <a:lstStyle/>
          <a:p>
            <a:pPr indent="0" marL="0">
              <a:buNone/>
            </a:pPr>
            <a:r>
              <a:rPr lang="en-US" sz="3400" b="1" dirty="0">
                <a:solidFill>
                  <a:srgbClr val="EAF2F6"/>
                </a:solidFill>
                <a:latin typeface="Arial" pitchFamily="34" charset="0"/>
                <a:ea typeface="Arial" pitchFamily="34" charset="-122"/>
                <a:cs typeface="Arial" pitchFamily="34" charset="-120"/>
              </a:rPr>
              <a:t>Five layers, three of them on the first trade</a:t>
            </a:r>
            <a:endParaRPr lang="en-US" sz="3400" dirty="0"/>
          </a:p>
        </p:txBody>
      </p:sp>
      <p:sp>
        <p:nvSpPr>
          <p:cNvPr id="4" name="Shape 2"/>
          <p:cNvSpPr/>
          <p:nvPr/>
        </p:nvSpPr>
        <p:spPr>
          <a:xfrm>
            <a:off x="640080" y="1874520"/>
            <a:ext cx="10881360" cy="731520"/>
          </a:xfrm>
          <a:prstGeom prst="roundRect">
            <a:avLst>
              <a:gd name="adj" fmla="val 10000"/>
            </a:avLst>
          </a:prstGeom>
          <a:solidFill>
            <a:srgbClr val="1B2A36"/>
          </a:solidFill>
          <a:ln w="12700">
            <a:solidFill>
              <a:srgbClr val="1B2A36"/>
            </a:solidFill>
            <a:prstDash val="solid"/>
          </a:ln>
        </p:spPr>
      </p:sp>
      <p:sp>
        <p:nvSpPr>
          <p:cNvPr id="5" name="Shape 3"/>
          <p:cNvSpPr/>
          <p:nvPr/>
        </p:nvSpPr>
        <p:spPr>
          <a:xfrm>
            <a:off x="868680" y="2048256"/>
            <a:ext cx="384048" cy="384048"/>
          </a:xfrm>
          <a:prstGeom prst="ellipse">
            <a:avLst/>
          </a:prstGeom>
          <a:solidFill>
            <a:srgbClr val="06D6A0"/>
          </a:solidFill>
          <a:ln w="12700">
            <a:solidFill>
              <a:srgbClr val="06D6A0"/>
            </a:solidFill>
            <a:prstDash val="solid"/>
          </a:ln>
        </p:spPr>
      </p:sp>
      <p:sp>
        <p:nvSpPr>
          <p:cNvPr id="6" name="Text 4"/>
          <p:cNvSpPr txBox="1"/>
          <p:nvPr/>
        </p:nvSpPr>
        <p:spPr>
          <a:xfrm>
            <a:off x="868680" y="2048256"/>
            <a:ext cx="384048" cy="384048"/>
          </a:xfrm>
          <a:prstGeom prst="rect">
            <a:avLst/>
          </a:prstGeom>
          <a:noFill/>
          <a:ln/>
        </p:spPr>
        <p:txBody>
          <a:bodyPr wrap="square" lIns="0" tIns="0" rIns="0" bIns="0" rtlCol="0" anchor="ctr"/>
          <a:lstStyle/>
          <a:p>
            <a:pPr algn="ctr" indent="0" marL="0">
              <a:buNone/>
            </a:pPr>
            <a:r>
              <a:rPr lang="en-US" sz="1400" b="1" dirty="0">
                <a:solidFill>
                  <a:srgbClr val="0F1922"/>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417320" y="1984248"/>
            <a:ext cx="2743200" cy="274320"/>
          </a:xfrm>
          <a:prstGeom prst="rect">
            <a:avLst/>
          </a:prstGeom>
          <a:noFill/>
          <a:ln/>
        </p:spPr>
        <p:txBody>
          <a:bodyPr wrap="square" lIns="0" tIns="0" rIns="0" bIns="0" rtlCol="0" anchor="ctr"/>
          <a:lstStyle/>
          <a:p>
            <a:pPr indent="0" marL="0">
              <a:buNone/>
            </a:pPr>
            <a:r>
              <a:rPr lang="en-US" sz="1500" b="1" dirty="0">
                <a:solidFill>
                  <a:srgbClr val="EAF2F6"/>
                </a:solidFill>
                <a:latin typeface="Arial" pitchFamily="34" charset="0"/>
                <a:ea typeface="Arial" pitchFamily="34" charset="-122"/>
                <a:cs typeface="Arial" pitchFamily="34" charset="-120"/>
              </a:rPr>
              <a:t>Trader volume fees</a:t>
            </a:r>
            <a:endParaRPr lang="en-US" sz="1500" dirty="0"/>
          </a:p>
        </p:txBody>
      </p:sp>
      <p:sp>
        <p:nvSpPr>
          <p:cNvPr id="8" name="Text 6"/>
          <p:cNvSpPr txBox="1"/>
          <p:nvPr/>
        </p:nvSpPr>
        <p:spPr>
          <a:xfrm>
            <a:off x="1417320" y="2276856"/>
            <a:ext cx="2743200" cy="228600"/>
          </a:xfrm>
          <a:prstGeom prst="rect">
            <a:avLst/>
          </a:prstGeom>
          <a:noFill/>
          <a:ln/>
        </p:spPr>
        <p:txBody>
          <a:bodyPr wrap="square" lIns="0" tIns="0" rIns="0" bIns="0" rtlCol="0" anchor="ctr"/>
          <a:lstStyle/>
          <a:p>
            <a:pPr indent="0" marL="0">
              <a:buNone/>
            </a:pPr>
            <a:r>
              <a:rPr lang="en-US" sz="1100" dirty="0">
                <a:solidFill>
                  <a:srgbClr val="06D6A0"/>
                </a:solidFill>
                <a:latin typeface="Calibri" pitchFamily="34" charset="0"/>
                <a:ea typeface="Calibri" pitchFamily="34" charset="-122"/>
                <a:cs typeface="Calibri" pitchFamily="34" charset="-120"/>
              </a:rPr>
              <a:t>First trade</a:t>
            </a:r>
            <a:endParaRPr lang="en-US" sz="1100" dirty="0"/>
          </a:p>
        </p:txBody>
      </p:sp>
      <p:sp>
        <p:nvSpPr>
          <p:cNvPr id="9" name="Text 7"/>
          <p:cNvSpPr txBox="1"/>
          <p:nvPr/>
        </p:nvSpPr>
        <p:spPr>
          <a:xfrm>
            <a:off x="4297680" y="2057400"/>
            <a:ext cx="6903720" cy="502920"/>
          </a:xfrm>
          <a:prstGeom prst="rect">
            <a:avLst/>
          </a:prstGeom>
          <a:noFill/>
          <a:ln/>
        </p:spPr>
        <p:txBody>
          <a:bodyPr wrap="square" lIns="0" tIns="0" rIns="0" bIns="0" rtlCol="0" anchor="ctr"/>
          <a:lstStyle/>
          <a:p>
            <a:pPr indent="0" marL="0">
              <a:buNone/>
            </a:pPr>
            <a:r>
              <a:rPr lang="en-US" sz="1300" dirty="0">
                <a:solidFill>
                  <a:srgbClr val="8FA3B0"/>
                </a:solidFill>
                <a:latin typeface="Calibri" pitchFamily="34" charset="0"/>
                <a:ea typeface="Calibri" pitchFamily="34" charset="-122"/>
                <a:cs typeface="Calibri" pitchFamily="34" charset="-120"/>
              </a:rPr>
              <a:t>Per-trader volume per block. Past 5 ETH the fee steps 1.50% → 3.00% → 5.00%. No reverts.</a:t>
            </a:r>
            <a:endParaRPr lang="en-US" sz="1300" dirty="0"/>
          </a:p>
        </p:txBody>
      </p:sp>
      <p:sp>
        <p:nvSpPr>
          <p:cNvPr id="10" name="Shape 8"/>
          <p:cNvSpPr/>
          <p:nvPr/>
        </p:nvSpPr>
        <p:spPr>
          <a:xfrm>
            <a:off x="640080" y="2715768"/>
            <a:ext cx="10881360" cy="731520"/>
          </a:xfrm>
          <a:prstGeom prst="roundRect">
            <a:avLst>
              <a:gd name="adj" fmla="val 10000"/>
            </a:avLst>
          </a:prstGeom>
          <a:solidFill>
            <a:srgbClr val="1B2A36"/>
          </a:solidFill>
          <a:ln w="12700">
            <a:solidFill>
              <a:srgbClr val="1B2A36"/>
            </a:solidFill>
            <a:prstDash val="solid"/>
          </a:ln>
        </p:spPr>
      </p:sp>
      <p:sp>
        <p:nvSpPr>
          <p:cNvPr id="11" name="Shape 9"/>
          <p:cNvSpPr/>
          <p:nvPr/>
        </p:nvSpPr>
        <p:spPr>
          <a:xfrm>
            <a:off x="868680" y="2889504"/>
            <a:ext cx="384048" cy="384048"/>
          </a:xfrm>
          <a:prstGeom prst="ellipse">
            <a:avLst/>
          </a:prstGeom>
          <a:solidFill>
            <a:srgbClr val="06D6A0"/>
          </a:solidFill>
          <a:ln w="12700">
            <a:solidFill>
              <a:srgbClr val="06D6A0"/>
            </a:solidFill>
            <a:prstDash val="solid"/>
          </a:ln>
        </p:spPr>
      </p:sp>
      <p:sp>
        <p:nvSpPr>
          <p:cNvPr id="12" name="Text 10"/>
          <p:cNvSpPr txBox="1"/>
          <p:nvPr/>
        </p:nvSpPr>
        <p:spPr>
          <a:xfrm>
            <a:off x="868680" y="2889504"/>
            <a:ext cx="384048" cy="384048"/>
          </a:xfrm>
          <a:prstGeom prst="rect">
            <a:avLst/>
          </a:prstGeom>
          <a:noFill/>
          <a:ln/>
        </p:spPr>
        <p:txBody>
          <a:bodyPr wrap="square" lIns="0" tIns="0" rIns="0" bIns="0" rtlCol="0" anchor="ctr"/>
          <a:lstStyle/>
          <a:p>
            <a:pPr algn="ctr" indent="0" marL="0">
              <a:buNone/>
            </a:pPr>
            <a:r>
              <a:rPr lang="en-US" sz="1400" b="1" dirty="0">
                <a:solidFill>
                  <a:srgbClr val="0F1922"/>
                </a:solidFill>
                <a:latin typeface="Arial" pitchFamily="34" charset="0"/>
                <a:ea typeface="Arial" pitchFamily="34" charset="-122"/>
                <a:cs typeface="Arial" pitchFamily="34" charset="-120"/>
              </a:rPr>
              <a:t>2</a:t>
            </a:r>
            <a:endParaRPr lang="en-US" sz="1400" dirty="0"/>
          </a:p>
        </p:txBody>
      </p:sp>
      <p:sp>
        <p:nvSpPr>
          <p:cNvPr id="13" name="Text 11"/>
          <p:cNvSpPr txBox="1"/>
          <p:nvPr/>
        </p:nvSpPr>
        <p:spPr>
          <a:xfrm>
            <a:off x="1417320" y="2825496"/>
            <a:ext cx="2743200" cy="274320"/>
          </a:xfrm>
          <a:prstGeom prst="rect">
            <a:avLst/>
          </a:prstGeom>
          <a:noFill/>
          <a:ln/>
        </p:spPr>
        <p:txBody>
          <a:bodyPr wrap="square" lIns="0" tIns="0" rIns="0" bIns="0" rtlCol="0" anchor="ctr"/>
          <a:lstStyle/>
          <a:p>
            <a:pPr indent="0" marL="0">
              <a:buNone/>
            </a:pPr>
            <a:r>
              <a:rPr lang="en-US" sz="1500" b="1" dirty="0">
                <a:solidFill>
                  <a:srgbClr val="EAF2F6"/>
                </a:solidFill>
                <a:latin typeface="Arial" pitchFamily="34" charset="0"/>
                <a:ea typeface="Arial" pitchFamily="34" charset="-122"/>
                <a:cs typeface="Arial" pitchFamily="34" charset="-120"/>
              </a:rPr>
              <a:t>Pool impact guard</a:t>
            </a:r>
            <a:endParaRPr lang="en-US" sz="1500" dirty="0"/>
          </a:p>
        </p:txBody>
      </p:sp>
      <p:sp>
        <p:nvSpPr>
          <p:cNvPr id="14" name="Text 12"/>
          <p:cNvSpPr txBox="1"/>
          <p:nvPr/>
        </p:nvSpPr>
        <p:spPr>
          <a:xfrm>
            <a:off x="1417320" y="3118104"/>
            <a:ext cx="2743200" cy="228600"/>
          </a:xfrm>
          <a:prstGeom prst="rect">
            <a:avLst/>
          </a:prstGeom>
          <a:noFill/>
          <a:ln/>
        </p:spPr>
        <p:txBody>
          <a:bodyPr wrap="square" lIns="0" tIns="0" rIns="0" bIns="0" rtlCol="0" anchor="ctr"/>
          <a:lstStyle/>
          <a:p>
            <a:pPr indent="0" marL="0">
              <a:buNone/>
            </a:pPr>
            <a:r>
              <a:rPr lang="en-US" sz="1100" dirty="0">
                <a:solidFill>
                  <a:srgbClr val="06D6A0"/>
                </a:solidFill>
                <a:latin typeface="Calibri" pitchFamily="34" charset="0"/>
                <a:ea typeface="Calibri" pitchFamily="34" charset="-122"/>
                <a:cs typeface="Calibri" pitchFamily="34" charset="-120"/>
              </a:rPr>
              <a:t>First trade</a:t>
            </a:r>
            <a:endParaRPr lang="en-US" sz="1100" dirty="0"/>
          </a:p>
        </p:txBody>
      </p:sp>
      <p:sp>
        <p:nvSpPr>
          <p:cNvPr id="15" name="Text 13"/>
          <p:cNvSpPr txBox="1"/>
          <p:nvPr/>
        </p:nvSpPr>
        <p:spPr>
          <a:xfrm>
            <a:off x="4297680" y="2898648"/>
            <a:ext cx="6903720" cy="502920"/>
          </a:xfrm>
          <a:prstGeom prst="rect">
            <a:avLst/>
          </a:prstGeom>
          <a:noFill/>
          <a:ln/>
        </p:spPr>
        <p:txBody>
          <a:bodyPr wrap="square" lIns="0" tIns="0" rIns="0" bIns="0" rtlCol="0" anchor="ctr"/>
          <a:lstStyle/>
          <a:p>
            <a:pPr indent="0" marL="0">
              <a:buNone/>
            </a:pPr>
            <a:r>
              <a:rPr lang="en-US" sz="1300" dirty="0">
                <a:solidFill>
                  <a:srgbClr val="8FA3B0"/>
                </a:solidFill>
                <a:latin typeface="Calibri" pitchFamily="34" charset="0"/>
                <a:ea typeface="Calibri" pitchFamily="34" charset="-122"/>
                <a:cs typeface="Calibri" pitchFamily="34" charset="-120"/>
              </a:rPr>
              <a:t>Pool-wide volume past 10 ETH in a block adds a 1.50% penalty.</a:t>
            </a:r>
            <a:endParaRPr lang="en-US" sz="1300" dirty="0"/>
          </a:p>
        </p:txBody>
      </p:sp>
      <p:sp>
        <p:nvSpPr>
          <p:cNvPr id="16" name="Shape 14"/>
          <p:cNvSpPr/>
          <p:nvPr/>
        </p:nvSpPr>
        <p:spPr>
          <a:xfrm>
            <a:off x="640080" y="3557016"/>
            <a:ext cx="10881360" cy="731520"/>
          </a:xfrm>
          <a:prstGeom prst="roundRect">
            <a:avLst>
              <a:gd name="adj" fmla="val 10000"/>
            </a:avLst>
          </a:prstGeom>
          <a:solidFill>
            <a:srgbClr val="1B2A36"/>
          </a:solidFill>
          <a:ln w="12700">
            <a:solidFill>
              <a:srgbClr val="1B2A36"/>
            </a:solidFill>
            <a:prstDash val="solid"/>
          </a:ln>
        </p:spPr>
      </p:sp>
      <p:sp>
        <p:nvSpPr>
          <p:cNvPr id="17" name="Shape 15"/>
          <p:cNvSpPr/>
          <p:nvPr/>
        </p:nvSpPr>
        <p:spPr>
          <a:xfrm>
            <a:off x="868680" y="3730752"/>
            <a:ext cx="384048" cy="384048"/>
          </a:xfrm>
          <a:prstGeom prst="ellipse">
            <a:avLst/>
          </a:prstGeom>
          <a:solidFill>
            <a:srgbClr val="06D6A0"/>
          </a:solidFill>
          <a:ln w="12700">
            <a:solidFill>
              <a:srgbClr val="06D6A0"/>
            </a:solidFill>
            <a:prstDash val="solid"/>
          </a:ln>
        </p:spPr>
      </p:sp>
      <p:sp>
        <p:nvSpPr>
          <p:cNvPr id="18" name="Text 16"/>
          <p:cNvSpPr txBox="1"/>
          <p:nvPr/>
        </p:nvSpPr>
        <p:spPr>
          <a:xfrm>
            <a:off x="868680" y="3730752"/>
            <a:ext cx="384048" cy="384048"/>
          </a:xfrm>
          <a:prstGeom prst="rect">
            <a:avLst/>
          </a:prstGeom>
          <a:noFill/>
          <a:ln/>
        </p:spPr>
        <p:txBody>
          <a:bodyPr wrap="square" lIns="0" tIns="0" rIns="0" bIns="0" rtlCol="0" anchor="ctr"/>
          <a:lstStyle/>
          <a:p>
            <a:pPr algn="ctr" indent="0" marL="0">
              <a:buNone/>
            </a:pPr>
            <a:r>
              <a:rPr lang="en-US" sz="1400" b="1" dirty="0">
                <a:solidFill>
                  <a:srgbClr val="0F1922"/>
                </a:solidFill>
                <a:latin typeface="Arial" pitchFamily="34" charset="0"/>
                <a:ea typeface="Arial" pitchFamily="34" charset="-122"/>
                <a:cs typeface="Arial" pitchFamily="34" charset="-120"/>
              </a:rPr>
              <a:t>3</a:t>
            </a:r>
            <a:endParaRPr lang="en-US" sz="1400" dirty="0"/>
          </a:p>
        </p:txBody>
      </p:sp>
      <p:sp>
        <p:nvSpPr>
          <p:cNvPr id="19" name="Text 17"/>
          <p:cNvSpPr txBox="1"/>
          <p:nvPr/>
        </p:nvSpPr>
        <p:spPr>
          <a:xfrm>
            <a:off x="1417320" y="3666744"/>
            <a:ext cx="2743200" cy="274320"/>
          </a:xfrm>
          <a:prstGeom prst="rect">
            <a:avLst/>
          </a:prstGeom>
          <a:noFill/>
          <a:ln/>
        </p:spPr>
        <p:txBody>
          <a:bodyPr wrap="square" lIns="0" tIns="0" rIns="0" bIns="0" rtlCol="0" anchor="ctr"/>
          <a:lstStyle/>
          <a:p>
            <a:pPr indent="0" marL="0">
              <a:buNone/>
            </a:pPr>
            <a:r>
              <a:rPr lang="en-US" sz="1500" b="1" dirty="0">
                <a:solidFill>
                  <a:srgbClr val="EAF2F6"/>
                </a:solidFill>
                <a:latin typeface="Arial" pitchFamily="34" charset="0"/>
                <a:ea typeface="Arial" pitchFamily="34" charset="-122"/>
                <a:cs typeface="Arial" pitchFamily="34" charset="-120"/>
              </a:rPr>
              <a:t>Sandwich / JIT detection</a:t>
            </a:r>
            <a:endParaRPr lang="en-US" sz="1500" dirty="0"/>
          </a:p>
        </p:txBody>
      </p:sp>
      <p:sp>
        <p:nvSpPr>
          <p:cNvPr id="20" name="Text 18"/>
          <p:cNvSpPr txBox="1"/>
          <p:nvPr/>
        </p:nvSpPr>
        <p:spPr>
          <a:xfrm>
            <a:off x="1417320" y="3959352"/>
            <a:ext cx="2743200" cy="228600"/>
          </a:xfrm>
          <a:prstGeom prst="rect">
            <a:avLst/>
          </a:prstGeom>
          <a:noFill/>
          <a:ln/>
        </p:spPr>
        <p:txBody>
          <a:bodyPr wrap="square" lIns="0" tIns="0" rIns="0" bIns="0" rtlCol="0" anchor="ctr"/>
          <a:lstStyle/>
          <a:p>
            <a:pPr indent="0" marL="0">
              <a:buNone/>
            </a:pPr>
            <a:r>
              <a:rPr lang="en-US" sz="1100" dirty="0">
                <a:solidFill>
                  <a:srgbClr val="06D6A0"/>
                </a:solidFill>
                <a:latin typeface="Calibri" pitchFamily="34" charset="0"/>
                <a:ea typeface="Calibri" pitchFamily="34" charset="-122"/>
                <a:cs typeface="Calibri" pitchFamily="34" charset="-120"/>
              </a:rPr>
              <a:t>Same block</a:t>
            </a:r>
            <a:endParaRPr lang="en-US" sz="1100" dirty="0"/>
          </a:p>
        </p:txBody>
      </p:sp>
      <p:sp>
        <p:nvSpPr>
          <p:cNvPr id="21" name="Text 19"/>
          <p:cNvSpPr txBox="1"/>
          <p:nvPr/>
        </p:nvSpPr>
        <p:spPr>
          <a:xfrm>
            <a:off x="4297680" y="3739896"/>
            <a:ext cx="6903720" cy="502920"/>
          </a:xfrm>
          <a:prstGeom prst="rect">
            <a:avLst/>
          </a:prstGeom>
          <a:noFill/>
          <a:ln/>
        </p:spPr>
        <p:txBody>
          <a:bodyPr wrap="square" lIns="0" tIns="0" rIns="0" bIns="0" rtlCol="0" anchor="ctr"/>
          <a:lstStyle/>
          <a:p>
            <a:pPr indent="0" marL="0">
              <a:buNone/>
            </a:pPr>
            <a:r>
              <a:rPr lang="en-US" sz="1300" dirty="0">
                <a:solidFill>
                  <a:srgbClr val="8FA3B0"/>
                </a:solidFill>
                <a:latin typeface="Calibri" pitchFamily="34" charset="0"/>
                <a:ea typeface="Calibri" pitchFamily="34" charset="-122"/>
                <a:cs typeface="Calibri" pitchFamily="34" charset="-120"/>
              </a:rPr>
              <a:t>Block-scoped on-chain state spots buy→victim→sell and add→swap→remove.</a:t>
            </a:r>
            <a:endParaRPr lang="en-US" sz="1300" dirty="0"/>
          </a:p>
        </p:txBody>
      </p:sp>
      <p:sp>
        <p:nvSpPr>
          <p:cNvPr id="22" name="Shape 20"/>
          <p:cNvSpPr/>
          <p:nvPr/>
        </p:nvSpPr>
        <p:spPr>
          <a:xfrm>
            <a:off x="640080" y="4398264"/>
            <a:ext cx="10881360" cy="731520"/>
          </a:xfrm>
          <a:prstGeom prst="roundRect">
            <a:avLst>
              <a:gd name="adj" fmla="val 10000"/>
            </a:avLst>
          </a:prstGeom>
          <a:solidFill>
            <a:srgbClr val="1B2A36"/>
          </a:solidFill>
          <a:ln w="12700">
            <a:solidFill>
              <a:srgbClr val="1B2A36"/>
            </a:solidFill>
            <a:prstDash val="solid"/>
          </a:ln>
        </p:spPr>
      </p:sp>
      <p:sp>
        <p:nvSpPr>
          <p:cNvPr id="23" name="Shape 21"/>
          <p:cNvSpPr/>
          <p:nvPr/>
        </p:nvSpPr>
        <p:spPr>
          <a:xfrm>
            <a:off x="868680" y="4572000"/>
            <a:ext cx="384048" cy="384048"/>
          </a:xfrm>
          <a:prstGeom prst="ellipse">
            <a:avLst/>
          </a:prstGeom>
          <a:solidFill>
            <a:srgbClr val="FFC15E"/>
          </a:solidFill>
          <a:ln w="12700">
            <a:solidFill>
              <a:srgbClr val="FFC15E"/>
            </a:solidFill>
            <a:prstDash val="solid"/>
          </a:ln>
        </p:spPr>
      </p:sp>
      <p:sp>
        <p:nvSpPr>
          <p:cNvPr id="24" name="Text 22"/>
          <p:cNvSpPr txBox="1"/>
          <p:nvPr/>
        </p:nvSpPr>
        <p:spPr>
          <a:xfrm>
            <a:off x="868680" y="4572000"/>
            <a:ext cx="384048" cy="384048"/>
          </a:xfrm>
          <a:prstGeom prst="rect">
            <a:avLst/>
          </a:prstGeom>
          <a:noFill/>
          <a:ln/>
        </p:spPr>
        <p:txBody>
          <a:bodyPr wrap="square" lIns="0" tIns="0" rIns="0" bIns="0" rtlCol="0" anchor="ctr"/>
          <a:lstStyle/>
          <a:p>
            <a:pPr algn="ctr" indent="0" marL="0">
              <a:buNone/>
            </a:pPr>
            <a:r>
              <a:rPr lang="en-US" sz="1400" b="1" dirty="0">
                <a:solidFill>
                  <a:srgbClr val="0F1922"/>
                </a:solidFill>
                <a:latin typeface="Arial" pitchFamily="34" charset="0"/>
                <a:ea typeface="Arial" pitchFamily="34" charset="-122"/>
                <a:cs typeface="Arial" pitchFamily="34" charset="-120"/>
              </a:rPr>
              <a:t>4</a:t>
            </a:r>
            <a:endParaRPr lang="en-US" sz="1400" dirty="0"/>
          </a:p>
        </p:txBody>
      </p:sp>
      <p:sp>
        <p:nvSpPr>
          <p:cNvPr id="25" name="Text 23"/>
          <p:cNvSpPr txBox="1"/>
          <p:nvPr/>
        </p:nvSpPr>
        <p:spPr>
          <a:xfrm>
            <a:off x="1417320" y="4507992"/>
            <a:ext cx="2743200" cy="274320"/>
          </a:xfrm>
          <a:prstGeom prst="rect">
            <a:avLst/>
          </a:prstGeom>
          <a:noFill/>
          <a:ln/>
        </p:spPr>
        <p:txBody>
          <a:bodyPr wrap="square" lIns="0" tIns="0" rIns="0" bIns="0" rtlCol="0" anchor="ctr"/>
          <a:lstStyle/>
          <a:p>
            <a:pPr indent="0" marL="0">
              <a:buNone/>
            </a:pPr>
            <a:r>
              <a:rPr lang="en-US" sz="1500" b="1" dirty="0">
                <a:solidFill>
                  <a:srgbClr val="EAF2F6"/>
                </a:solidFill>
                <a:latin typeface="Arial" pitchFamily="34" charset="0"/>
                <a:ea typeface="Arial" pitchFamily="34" charset="-122"/>
                <a:cs typeface="Arial" pitchFamily="34" charset="-120"/>
              </a:rPr>
              <a:t>Continuous fee curve</a:t>
            </a:r>
            <a:endParaRPr lang="en-US" sz="1500" dirty="0"/>
          </a:p>
        </p:txBody>
      </p:sp>
      <p:sp>
        <p:nvSpPr>
          <p:cNvPr id="26" name="Text 24"/>
          <p:cNvSpPr txBox="1"/>
          <p:nvPr/>
        </p:nvSpPr>
        <p:spPr>
          <a:xfrm>
            <a:off x="1417320" y="4800600"/>
            <a:ext cx="2743200" cy="228600"/>
          </a:xfrm>
          <a:prstGeom prst="rect">
            <a:avLst/>
          </a:prstGeom>
          <a:noFill/>
          <a:ln/>
        </p:spPr>
        <p:txBody>
          <a:bodyPr wrap="square" lIns="0" tIns="0" rIns="0" bIns="0" rtlCol="0" anchor="ctr"/>
          <a:lstStyle/>
          <a:p>
            <a:pPr indent="0" marL="0">
              <a:buNone/>
            </a:pPr>
            <a:r>
              <a:rPr lang="en-US" sz="1100" dirty="0">
                <a:solidFill>
                  <a:srgbClr val="FFC15E"/>
                </a:solidFill>
                <a:latin typeface="Calibri" pitchFamily="34" charset="0"/>
                <a:ea typeface="Calibri" pitchFamily="34" charset="-122"/>
                <a:cs typeface="Calibri" pitchFamily="34" charset="-120"/>
              </a:rPr>
              <a:t>Every swap</a:t>
            </a:r>
            <a:endParaRPr lang="en-US" sz="1100" dirty="0"/>
          </a:p>
        </p:txBody>
      </p:sp>
      <p:sp>
        <p:nvSpPr>
          <p:cNvPr id="27" name="Text 25"/>
          <p:cNvSpPr txBox="1"/>
          <p:nvPr/>
        </p:nvSpPr>
        <p:spPr>
          <a:xfrm>
            <a:off x="4297680" y="4581144"/>
            <a:ext cx="6903720" cy="502920"/>
          </a:xfrm>
          <a:prstGeom prst="rect">
            <a:avLst/>
          </a:prstGeom>
          <a:noFill/>
          <a:ln/>
        </p:spPr>
        <p:txBody>
          <a:bodyPr wrap="square" lIns="0" tIns="0" rIns="0" bIns="0" rtlCol="0" anchor="ctr"/>
          <a:lstStyle/>
          <a:p>
            <a:pPr indent="0" marL="0">
              <a:buNone/>
            </a:pPr>
            <a:r>
              <a:rPr lang="en-US" sz="1300" dirty="0">
                <a:solidFill>
                  <a:srgbClr val="8FA3B0"/>
                </a:solidFill>
                <a:latin typeface="Calibri" pitchFamily="34" charset="0"/>
                <a:ea typeface="Calibri" pitchFamily="34" charset="-122"/>
                <a:cs typeface="Calibri" pitchFamily="34" charset="-120"/>
              </a:rPr>
              <a:t>Score 0-100 maps onto 0.30% → 1.50%. Score 80+ is rejected outright.</a:t>
            </a:r>
            <a:endParaRPr lang="en-US" sz="1300" dirty="0"/>
          </a:p>
        </p:txBody>
      </p:sp>
      <p:sp>
        <p:nvSpPr>
          <p:cNvPr id="28" name="Shape 26"/>
          <p:cNvSpPr/>
          <p:nvPr/>
        </p:nvSpPr>
        <p:spPr>
          <a:xfrm>
            <a:off x="640080" y="5239512"/>
            <a:ext cx="10881360" cy="731520"/>
          </a:xfrm>
          <a:prstGeom prst="roundRect">
            <a:avLst>
              <a:gd name="adj" fmla="val 10000"/>
            </a:avLst>
          </a:prstGeom>
          <a:solidFill>
            <a:srgbClr val="1B2A36"/>
          </a:solidFill>
          <a:ln w="12700">
            <a:solidFill>
              <a:srgbClr val="1B2A36"/>
            </a:solidFill>
            <a:prstDash val="solid"/>
          </a:ln>
        </p:spPr>
      </p:sp>
      <p:sp>
        <p:nvSpPr>
          <p:cNvPr id="29" name="Shape 27"/>
          <p:cNvSpPr/>
          <p:nvPr/>
        </p:nvSpPr>
        <p:spPr>
          <a:xfrm>
            <a:off x="868680" y="5413248"/>
            <a:ext cx="384048" cy="384048"/>
          </a:xfrm>
          <a:prstGeom prst="ellipse">
            <a:avLst/>
          </a:prstGeom>
          <a:solidFill>
            <a:srgbClr val="FFC15E"/>
          </a:solidFill>
          <a:ln w="12700">
            <a:solidFill>
              <a:srgbClr val="FFC15E"/>
            </a:solidFill>
            <a:prstDash val="solid"/>
          </a:ln>
        </p:spPr>
      </p:sp>
      <p:sp>
        <p:nvSpPr>
          <p:cNvPr id="30" name="Text 28"/>
          <p:cNvSpPr txBox="1"/>
          <p:nvPr/>
        </p:nvSpPr>
        <p:spPr>
          <a:xfrm>
            <a:off x="868680" y="5413248"/>
            <a:ext cx="384048" cy="384048"/>
          </a:xfrm>
          <a:prstGeom prst="rect">
            <a:avLst/>
          </a:prstGeom>
          <a:noFill/>
          <a:ln/>
        </p:spPr>
        <p:txBody>
          <a:bodyPr wrap="square" lIns="0" tIns="0" rIns="0" bIns="0" rtlCol="0" anchor="ctr"/>
          <a:lstStyle/>
          <a:p>
            <a:pPr algn="ctr" indent="0" marL="0">
              <a:buNone/>
            </a:pPr>
            <a:r>
              <a:rPr lang="en-US" sz="1400" b="1" dirty="0">
                <a:solidFill>
                  <a:srgbClr val="0F1922"/>
                </a:solidFill>
                <a:latin typeface="Arial" pitchFamily="34" charset="0"/>
                <a:ea typeface="Arial" pitchFamily="34" charset="-122"/>
                <a:cs typeface="Arial" pitchFamily="34" charset="-120"/>
              </a:rPr>
              <a:t>5</a:t>
            </a:r>
            <a:endParaRPr lang="en-US" sz="1400" dirty="0"/>
          </a:p>
        </p:txBody>
      </p:sp>
      <p:sp>
        <p:nvSpPr>
          <p:cNvPr id="31" name="Text 29"/>
          <p:cNvSpPr txBox="1"/>
          <p:nvPr/>
        </p:nvSpPr>
        <p:spPr>
          <a:xfrm>
            <a:off x="1417320" y="5349240"/>
            <a:ext cx="2743200" cy="274320"/>
          </a:xfrm>
          <a:prstGeom prst="rect">
            <a:avLst/>
          </a:prstGeom>
          <a:noFill/>
          <a:ln/>
        </p:spPr>
        <p:txBody>
          <a:bodyPr wrap="square" lIns="0" tIns="0" rIns="0" bIns="0" rtlCol="0" anchor="ctr"/>
          <a:lstStyle/>
          <a:p>
            <a:pPr indent="0" marL="0">
              <a:buNone/>
            </a:pPr>
            <a:r>
              <a:rPr lang="en-US" sz="1500" b="1" dirty="0">
                <a:solidFill>
                  <a:srgbClr val="EAF2F6"/>
                </a:solidFill>
                <a:latin typeface="Arial" pitchFamily="34" charset="0"/>
                <a:ea typeface="Arial" pitchFamily="34" charset="-122"/>
                <a:cs typeface="Arial" pitchFamily="34" charset="-120"/>
              </a:rPr>
              <a:t>AVS scoring quorum</a:t>
            </a:r>
            <a:endParaRPr lang="en-US" sz="1500" dirty="0"/>
          </a:p>
        </p:txBody>
      </p:sp>
      <p:sp>
        <p:nvSpPr>
          <p:cNvPr id="32" name="Text 30"/>
          <p:cNvSpPr txBox="1"/>
          <p:nvPr/>
        </p:nvSpPr>
        <p:spPr>
          <a:xfrm>
            <a:off x="1417320" y="5641848"/>
            <a:ext cx="2743200" cy="228600"/>
          </a:xfrm>
          <a:prstGeom prst="rect">
            <a:avLst/>
          </a:prstGeom>
          <a:noFill/>
          <a:ln/>
        </p:spPr>
        <p:txBody>
          <a:bodyPr wrap="square" lIns="0" tIns="0" rIns="0" bIns="0" rtlCol="0" anchor="ctr"/>
          <a:lstStyle/>
          <a:p>
            <a:pPr indent="0" marL="0">
              <a:buNone/>
            </a:pPr>
            <a:r>
              <a:rPr lang="en-US" sz="1100" dirty="0">
                <a:solidFill>
                  <a:srgbClr val="FFC15E"/>
                </a:solidFill>
                <a:latin typeface="Calibri" pitchFamily="34" charset="0"/>
                <a:ea typeface="Calibri" pitchFamily="34" charset="-122"/>
                <a:cs typeface="Calibri" pitchFamily="34" charset="-120"/>
              </a:rPr>
              <a:t>Async</a:t>
            </a:r>
            <a:endParaRPr lang="en-US" sz="1100" dirty="0"/>
          </a:p>
        </p:txBody>
      </p:sp>
      <p:sp>
        <p:nvSpPr>
          <p:cNvPr id="33" name="Text 31"/>
          <p:cNvSpPr txBox="1"/>
          <p:nvPr/>
        </p:nvSpPr>
        <p:spPr>
          <a:xfrm>
            <a:off x="4297680" y="5422392"/>
            <a:ext cx="6903720" cy="502920"/>
          </a:xfrm>
          <a:prstGeom prst="rect">
            <a:avLst/>
          </a:prstGeom>
          <a:noFill/>
          <a:ln/>
        </p:spPr>
        <p:txBody>
          <a:bodyPr wrap="square" lIns="0" tIns="0" rIns="0" bIns="0" rtlCol="0" anchor="ctr"/>
          <a:lstStyle/>
          <a:p>
            <a:pPr indent="0" marL="0">
              <a:buNone/>
            </a:pPr>
            <a:r>
              <a:rPr lang="en-US" sz="1300" dirty="0">
                <a:solidFill>
                  <a:srgbClr val="8FA3B0"/>
                </a:solidFill>
                <a:latin typeface="Calibri" pitchFamily="34" charset="0"/>
                <a:ea typeface="Calibri" pitchFamily="34" charset="-122"/>
                <a:cs typeface="Calibri" pitchFamily="34" charset="-120"/>
              </a:rPr>
              <a:t>BLS operators read the hook's events and write a verified score on-chain.</a:t>
            </a:r>
            <a:endParaRPr lang="en-US" sz="1300" dirty="0"/>
          </a:p>
        </p:txBody>
      </p:sp>
      <p:sp>
        <p:nvSpPr>
          <p:cNvPr id="34" name="Text 32"/>
          <p:cNvSpPr txBox="1"/>
          <p:nvPr/>
        </p:nvSpPr>
        <p:spPr>
          <a:xfrm>
            <a:off x="640080" y="6144768"/>
            <a:ext cx="10881360" cy="274320"/>
          </a:xfrm>
          <a:prstGeom prst="rect">
            <a:avLst/>
          </a:prstGeom>
          <a:noFill/>
          <a:ln/>
        </p:spPr>
        <p:txBody>
          <a:bodyPr wrap="square" lIns="0" tIns="0" rIns="0" bIns="0" rtlCol="0" anchor="ctr"/>
          <a:lstStyle/>
          <a:p>
            <a:pPr indent="0" marL="0">
              <a:buNone/>
            </a:pPr>
            <a:r>
              <a:rPr lang="en-US" sz="1300" i="1" dirty="0">
                <a:solidFill>
                  <a:srgbClr val="06D6A0"/>
                </a:solidFill>
                <a:latin typeface="Calibri" pitchFamily="34" charset="0"/>
                <a:ea typeface="Calibri" pitchFamily="34" charset="-122"/>
                <a:cs typeface="Calibri" pitchFamily="34" charset="-120"/>
              </a:rPr>
              <a:t>Layers 1-3 need no history — they act on an address's very first trade.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922"/>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300" spc="160" kern="0" dirty="0">
                <a:solidFill>
                  <a:srgbClr val="06D6A0"/>
                </a:solidFill>
                <a:latin typeface="Calibri" pitchFamily="34" charset="0"/>
                <a:ea typeface="Calibri" pitchFamily="34" charset="-122"/>
                <a:cs typeface="Calibri" pitchFamily="34" charset="-120"/>
              </a:rPr>
              <a:t>DESIGN DECISION</a:t>
            </a:r>
            <a:endParaRPr lang="en-US" sz="1300" dirty="0"/>
          </a:p>
        </p:txBody>
      </p:sp>
      <p:sp>
        <p:nvSpPr>
          <p:cNvPr id="3" name="Text 1"/>
          <p:cNvSpPr txBox="1"/>
          <p:nvPr/>
        </p:nvSpPr>
        <p:spPr>
          <a:xfrm>
            <a:off x="640080" y="868680"/>
            <a:ext cx="10881360" cy="685800"/>
          </a:xfrm>
          <a:prstGeom prst="rect">
            <a:avLst/>
          </a:prstGeom>
          <a:noFill/>
          <a:ln/>
        </p:spPr>
        <p:txBody>
          <a:bodyPr wrap="square" lIns="0" tIns="0" rIns="0" bIns="0" rtlCol="0" anchor="ctr"/>
          <a:lstStyle/>
          <a:p>
            <a:pPr indent="0" marL="0">
              <a:buNone/>
            </a:pPr>
            <a:r>
              <a:rPr lang="en-US" sz="3400" b="1" dirty="0">
                <a:solidFill>
                  <a:srgbClr val="EAF2F6"/>
                </a:solidFill>
                <a:latin typeface="Arial" pitchFamily="34" charset="0"/>
                <a:ea typeface="Arial" pitchFamily="34" charset="-122"/>
                <a:cs typeface="Arial" pitchFamily="34" charset="-120"/>
              </a:rPr>
              <a:t>Progressive fees, never a blocked trade</a:t>
            </a:r>
            <a:endParaRPr lang="en-US" sz="3400" dirty="0"/>
          </a:p>
        </p:txBody>
      </p:sp>
      <p:sp>
        <p:nvSpPr>
          <p:cNvPr id="4" name="Shape 2"/>
          <p:cNvSpPr/>
          <p:nvPr/>
        </p:nvSpPr>
        <p:spPr>
          <a:xfrm>
            <a:off x="640080" y="1828800"/>
            <a:ext cx="5120640" cy="1828800"/>
          </a:xfrm>
          <a:prstGeom prst="roundRect">
            <a:avLst>
              <a:gd name="adj" fmla="val 4000"/>
            </a:avLst>
          </a:prstGeom>
          <a:solidFill>
            <a:srgbClr val="213341"/>
          </a:solidFill>
          <a:ln w="12700">
            <a:solidFill>
              <a:srgbClr val="213341"/>
            </a:solidFill>
            <a:prstDash val="solid"/>
          </a:ln>
        </p:spPr>
      </p:sp>
      <p:sp>
        <p:nvSpPr>
          <p:cNvPr id="5" name="Text 3"/>
          <p:cNvSpPr txBox="1"/>
          <p:nvPr/>
        </p:nvSpPr>
        <p:spPr>
          <a:xfrm>
            <a:off x="960120" y="2057400"/>
            <a:ext cx="4480560" cy="320040"/>
          </a:xfrm>
          <a:prstGeom prst="rect">
            <a:avLst/>
          </a:prstGeom>
          <a:noFill/>
          <a:ln/>
        </p:spPr>
        <p:txBody>
          <a:bodyPr wrap="square" lIns="0" tIns="0" rIns="0" bIns="0" rtlCol="0" anchor="ctr"/>
          <a:lstStyle/>
          <a:p>
            <a:pPr indent="0" marL="0">
              <a:buNone/>
            </a:pPr>
            <a:r>
              <a:rPr lang="en-US" sz="1700" b="1" dirty="0">
                <a:solidFill>
                  <a:srgbClr val="FF6B5B"/>
                </a:solidFill>
                <a:latin typeface="Arial" pitchFamily="34" charset="0"/>
                <a:ea typeface="Arial" pitchFamily="34" charset="-122"/>
                <a:cs typeface="Arial" pitchFamily="34" charset="-120"/>
              </a:rPr>
              <a:t>Rejected: a hard cap</a:t>
            </a:r>
            <a:endParaRPr lang="en-US" sz="1700" dirty="0"/>
          </a:p>
        </p:txBody>
      </p:sp>
      <p:sp>
        <p:nvSpPr>
          <p:cNvPr id="6" name="Text 4"/>
          <p:cNvSpPr txBox="1"/>
          <p:nvPr/>
        </p:nvSpPr>
        <p:spPr>
          <a:xfrm>
            <a:off x="960120" y="2423160"/>
            <a:ext cx="4480560" cy="1005840"/>
          </a:xfrm>
          <a:prstGeom prst="rect">
            <a:avLst/>
          </a:prstGeom>
          <a:noFill/>
          <a:ln/>
        </p:spPr>
        <p:txBody>
          <a:bodyPr wrap="square" lIns="0" tIns="0" rIns="0" bIns="0" rtlCol="0" anchor="ctr"/>
          <a:lstStyle/>
          <a:p>
            <a:pPr indent="0" marL="0">
              <a:lnSpc>
                <a:spcPts val="1900"/>
              </a:lnSpc>
              <a:buNone/>
            </a:pPr>
            <a:r>
              <a:rPr lang="en-US" sz="1300" dirty="0">
                <a:solidFill>
                  <a:srgbClr val="8FA3B0"/>
                </a:solidFill>
                <a:latin typeface="Calibri" pitchFamily="34" charset="0"/>
                <a:ea typeface="Calibri" pitchFamily="34" charset="-122"/>
                <a:cs typeface="Calibri" pitchFamily="34" charset="-120"/>
              </a:rPr>
              <a:t>Reverting any swap above 5 ETH stops the sandwich — and also stops every legitimate large trade. A pool anyone can be refused from is not permissionless.</a:t>
            </a:r>
            <a:endParaRPr lang="en-US" sz="1300" dirty="0"/>
          </a:p>
        </p:txBody>
      </p:sp>
      <p:sp>
        <p:nvSpPr>
          <p:cNvPr id="7" name="Shape 5"/>
          <p:cNvSpPr/>
          <p:nvPr/>
        </p:nvSpPr>
        <p:spPr>
          <a:xfrm>
            <a:off x="6126480" y="1828800"/>
            <a:ext cx="5120640" cy="1828800"/>
          </a:xfrm>
          <a:prstGeom prst="roundRect">
            <a:avLst>
              <a:gd name="adj" fmla="val 4000"/>
            </a:avLst>
          </a:prstGeom>
          <a:solidFill>
            <a:srgbClr val="1B2A36"/>
          </a:solidFill>
          <a:ln w="12700">
            <a:solidFill>
              <a:srgbClr val="1B2A36"/>
            </a:solidFill>
            <a:prstDash val="solid"/>
          </a:ln>
        </p:spPr>
      </p:sp>
      <p:sp>
        <p:nvSpPr>
          <p:cNvPr id="8" name="Text 6"/>
          <p:cNvSpPr txBox="1"/>
          <p:nvPr/>
        </p:nvSpPr>
        <p:spPr>
          <a:xfrm>
            <a:off x="6446520" y="2057400"/>
            <a:ext cx="4480560" cy="320040"/>
          </a:xfrm>
          <a:prstGeom prst="rect">
            <a:avLst/>
          </a:prstGeom>
          <a:noFill/>
          <a:ln/>
        </p:spPr>
        <p:txBody>
          <a:bodyPr wrap="square" lIns="0" tIns="0" rIns="0" bIns="0" rtlCol="0" anchor="ctr"/>
          <a:lstStyle/>
          <a:p>
            <a:pPr indent="0" marL="0">
              <a:buNone/>
            </a:pPr>
            <a:r>
              <a:rPr lang="en-US" sz="1700" b="1" dirty="0">
                <a:solidFill>
                  <a:srgbClr val="06D6A0"/>
                </a:solidFill>
                <a:latin typeface="Arial" pitchFamily="34" charset="0"/>
                <a:ea typeface="Arial" pitchFamily="34" charset="-122"/>
                <a:cs typeface="Arial" pitchFamily="34" charset="-120"/>
              </a:rPr>
              <a:t>Shipped: escalating fees</a:t>
            </a:r>
            <a:endParaRPr lang="en-US" sz="1700" dirty="0"/>
          </a:p>
        </p:txBody>
      </p:sp>
      <p:sp>
        <p:nvSpPr>
          <p:cNvPr id="9" name="Text 7"/>
          <p:cNvSpPr txBox="1"/>
          <p:nvPr/>
        </p:nvSpPr>
        <p:spPr>
          <a:xfrm>
            <a:off x="6446520" y="2423160"/>
            <a:ext cx="4480560" cy="1005840"/>
          </a:xfrm>
          <a:prstGeom prst="rect">
            <a:avLst/>
          </a:prstGeom>
          <a:noFill/>
          <a:ln/>
        </p:spPr>
        <p:txBody>
          <a:bodyPr wrap="square" lIns="0" tIns="0" rIns="0" bIns="0" rtlCol="0" anchor="ctr"/>
          <a:lstStyle/>
          <a:p>
            <a:pPr indent="0" marL="0">
              <a:lnSpc>
                <a:spcPts val="1900"/>
              </a:lnSpc>
              <a:buNone/>
            </a:pPr>
            <a:r>
              <a:rPr lang="en-US" sz="1300" dirty="0">
                <a:solidFill>
                  <a:srgbClr val="8FA3B0"/>
                </a:solidFill>
                <a:latin typeface="Calibri" pitchFamily="34" charset="0"/>
                <a:ea typeface="Calibri" pitchFamily="34" charset="-122"/>
                <a:cs typeface="Calibri" pitchFamily="34" charset="-120"/>
              </a:rPr>
              <a:t>Any address can trade any size at any time. The fee climbs with how much volume that trader pushes through one pool in one block.</a:t>
            </a:r>
            <a:endParaRPr lang="en-US" sz="1300" dirty="0"/>
          </a:p>
        </p:txBody>
      </p:sp>
      <p:sp>
        <p:nvSpPr>
          <p:cNvPr id="10" name="Shape 8"/>
          <p:cNvSpPr/>
          <p:nvPr/>
        </p:nvSpPr>
        <p:spPr>
          <a:xfrm>
            <a:off x="640080" y="3931920"/>
            <a:ext cx="2468880" cy="1417320"/>
          </a:xfrm>
          <a:prstGeom prst="roundRect">
            <a:avLst>
              <a:gd name="adj" fmla="val 5161"/>
            </a:avLst>
          </a:prstGeom>
          <a:solidFill>
            <a:srgbClr val="1B2A36"/>
          </a:solidFill>
          <a:ln w="12700">
            <a:solidFill>
              <a:srgbClr val="1B2A36"/>
            </a:solidFill>
            <a:prstDash val="solid"/>
          </a:ln>
        </p:spPr>
      </p:sp>
      <p:sp>
        <p:nvSpPr>
          <p:cNvPr id="11" name="Text 9"/>
          <p:cNvSpPr txBox="1"/>
          <p:nvPr/>
        </p:nvSpPr>
        <p:spPr>
          <a:xfrm>
            <a:off x="868680" y="4114800"/>
            <a:ext cx="2011680" cy="457200"/>
          </a:xfrm>
          <a:prstGeom prst="rect">
            <a:avLst/>
          </a:prstGeom>
          <a:noFill/>
          <a:ln/>
        </p:spPr>
        <p:txBody>
          <a:bodyPr wrap="square" lIns="0" tIns="0" rIns="0" bIns="0" rtlCol="0" anchor="ctr"/>
          <a:lstStyle/>
          <a:p>
            <a:pPr indent="0" marL="0">
              <a:buNone/>
            </a:pPr>
            <a:r>
              <a:rPr lang="en-US" sz="2700" b="1" dirty="0">
                <a:solidFill>
                  <a:srgbClr val="5D717E"/>
                </a:solidFill>
                <a:latin typeface="Arial" pitchFamily="34" charset="0"/>
                <a:ea typeface="Arial" pitchFamily="34" charset="-122"/>
                <a:cs typeface="Arial" pitchFamily="34" charset="-120"/>
              </a:rPr>
              <a:t>0.30%</a:t>
            </a:r>
            <a:endParaRPr lang="en-US" sz="2700" dirty="0"/>
          </a:p>
        </p:txBody>
      </p:sp>
      <p:sp>
        <p:nvSpPr>
          <p:cNvPr id="12" name="Text 10"/>
          <p:cNvSpPr txBox="1"/>
          <p:nvPr/>
        </p:nvSpPr>
        <p:spPr>
          <a:xfrm>
            <a:off x="868680" y="4590288"/>
            <a:ext cx="2011680" cy="274320"/>
          </a:xfrm>
          <a:prstGeom prst="rect">
            <a:avLst/>
          </a:prstGeom>
          <a:noFill/>
          <a:ln/>
        </p:spPr>
        <p:txBody>
          <a:bodyPr wrap="square" lIns="0" tIns="0" rIns="0" bIns="0" rtlCol="0" anchor="ctr"/>
          <a:lstStyle/>
          <a:p>
            <a:pPr indent="0" marL="0">
              <a:buNone/>
            </a:pPr>
            <a:r>
              <a:rPr lang="en-US" sz="1300" dirty="0">
                <a:solidFill>
                  <a:srgbClr val="EAF2F6"/>
                </a:solidFill>
                <a:latin typeface="Calibri" pitchFamily="34" charset="0"/>
                <a:ea typeface="Calibri" pitchFamily="34" charset="-122"/>
                <a:cs typeface="Calibri" pitchFamily="34" charset="-120"/>
              </a:rPr>
              <a:t>0 - 5 ETH</a:t>
            </a:r>
            <a:endParaRPr lang="en-US" sz="1300" dirty="0"/>
          </a:p>
        </p:txBody>
      </p:sp>
      <p:sp>
        <p:nvSpPr>
          <p:cNvPr id="13" name="Text 11"/>
          <p:cNvSpPr txBox="1"/>
          <p:nvPr/>
        </p:nvSpPr>
        <p:spPr>
          <a:xfrm>
            <a:off x="868680" y="4864608"/>
            <a:ext cx="2011680" cy="256032"/>
          </a:xfrm>
          <a:prstGeom prst="rect">
            <a:avLst/>
          </a:prstGeom>
          <a:noFill/>
          <a:ln/>
        </p:spPr>
        <p:txBody>
          <a:bodyPr wrap="square" lIns="0" tIns="0" rIns="0" bIns="0" rtlCol="0" anchor="ctr"/>
          <a:lstStyle/>
          <a:p>
            <a:pPr indent="0" marL="0">
              <a:buNone/>
            </a:pPr>
            <a:r>
              <a:rPr lang="en-US" sz="1100" dirty="0">
                <a:solidFill>
                  <a:srgbClr val="5D717E"/>
                </a:solidFill>
                <a:latin typeface="Calibri" pitchFamily="34" charset="0"/>
                <a:ea typeface="Calibri" pitchFamily="34" charset="-122"/>
                <a:cs typeface="Calibri" pitchFamily="34" charset="-120"/>
              </a:rPr>
              <a:t>base</a:t>
            </a:r>
            <a:endParaRPr lang="en-US" sz="1100" dirty="0"/>
          </a:p>
        </p:txBody>
      </p:sp>
      <p:sp>
        <p:nvSpPr>
          <p:cNvPr id="14" name="Shape 12"/>
          <p:cNvSpPr/>
          <p:nvPr/>
        </p:nvSpPr>
        <p:spPr>
          <a:xfrm>
            <a:off x="3364992" y="3931920"/>
            <a:ext cx="2468880" cy="1417320"/>
          </a:xfrm>
          <a:prstGeom prst="roundRect">
            <a:avLst>
              <a:gd name="adj" fmla="val 5161"/>
            </a:avLst>
          </a:prstGeom>
          <a:solidFill>
            <a:srgbClr val="1B2A36"/>
          </a:solidFill>
          <a:ln w="12700">
            <a:solidFill>
              <a:srgbClr val="1B2A36"/>
            </a:solidFill>
            <a:prstDash val="solid"/>
          </a:ln>
        </p:spPr>
      </p:sp>
      <p:sp>
        <p:nvSpPr>
          <p:cNvPr id="15" name="Text 13"/>
          <p:cNvSpPr txBox="1"/>
          <p:nvPr/>
        </p:nvSpPr>
        <p:spPr>
          <a:xfrm>
            <a:off x="3593592" y="4114800"/>
            <a:ext cx="2011680" cy="457200"/>
          </a:xfrm>
          <a:prstGeom prst="rect">
            <a:avLst/>
          </a:prstGeom>
          <a:noFill/>
          <a:ln/>
        </p:spPr>
        <p:txBody>
          <a:bodyPr wrap="square" lIns="0" tIns="0" rIns="0" bIns="0" rtlCol="0" anchor="ctr"/>
          <a:lstStyle/>
          <a:p>
            <a:pPr indent="0" marL="0">
              <a:buNone/>
            </a:pPr>
            <a:r>
              <a:rPr lang="en-US" sz="2700" b="1" dirty="0">
                <a:solidFill>
                  <a:srgbClr val="FFC15E"/>
                </a:solidFill>
                <a:latin typeface="Arial" pitchFamily="34" charset="0"/>
                <a:ea typeface="Arial" pitchFamily="34" charset="-122"/>
                <a:cs typeface="Arial" pitchFamily="34" charset="-120"/>
              </a:rPr>
              <a:t>1.50%</a:t>
            </a:r>
            <a:endParaRPr lang="en-US" sz="2700" dirty="0"/>
          </a:p>
        </p:txBody>
      </p:sp>
      <p:sp>
        <p:nvSpPr>
          <p:cNvPr id="16" name="Text 14"/>
          <p:cNvSpPr txBox="1"/>
          <p:nvPr/>
        </p:nvSpPr>
        <p:spPr>
          <a:xfrm>
            <a:off x="3593592" y="4590288"/>
            <a:ext cx="2011680" cy="274320"/>
          </a:xfrm>
          <a:prstGeom prst="rect">
            <a:avLst/>
          </a:prstGeom>
          <a:noFill/>
          <a:ln/>
        </p:spPr>
        <p:txBody>
          <a:bodyPr wrap="square" lIns="0" tIns="0" rIns="0" bIns="0" rtlCol="0" anchor="ctr"/>
          <a:lstStyle/>
          <a:p>
            <a:pPr indent="0" marL="0">
              <a:buNone/>
            </a:pPr>
            <a:r>
              <a:rPr lang="en-US" sz="1300" dirty="0">
                <a:solidFill>
                  <a:srgbClr val="EAF2F6"/>
                </a:solidFill>
                <a:latin typeface="Calibri" pitchFamily="34" charset="0"/>
                <a:ea typeface="Calibri" pitchFamily="34" charset="-122"/>
                <a:cs typeface="Calibri" pitchFamily="34" charset="-120"/>
              </a:rPr>
              <a:t>5 - 10 ETH</a:t>
            </a:r>
            <a:endParaRPr lang="en-US" sz="1300" dirty="0"/>
          </a:p>
        </p:txBody>
      </p:sp>
      <p:sp>
        <p:nvSpPr>
          <p:cNvPr id="17" name="Text 15"/>
          <p:cNvSpPr txBox="1"/>
          <p:nvPr/>
        </p:nvSpPr>
        <p:spPr>
          <a:xfrm>
            <a:off x="3593592" y="4864608"/>
            <a:ext cx="2011680" cy="256032"/>
          </a:xfrm>
          <a:prstGeom prst="rect">
            <a:avLst/>
          </a:prstGeom>
          <a:noFill/>
          <a:ln/>
        </p:spPr>
        <p:txBody>
          <a:bodyPr wrap="square" lIns="0" tIns="0" rIns="0" bIns="0" rtlCol="0" anchor="ctr"/>
          <a:lstStyle/>
          <a:p>
            <a:pPr indent="0" marL="0">
              <a:buNone/>
            </a:pPr>
            <a:r>
              <a:rPr lang="en-US" sz="1100" dirty="0">
                <a:solidFill>
                  <a:srgbClr val="5D717E"/>
                </a:solidFill>
                <a:latin typeface="Calibri" pitchFamily="34" charset="0"/>
                <a:ea typeface="Calibri" pitchFamily="34" charset="-122"/>
                <a:cs typeface="Calibri" pitchFamily="34" charset="-120"/>
              </a:rPr>
              <a:t>tier 1</a:t>
            </a:r>
            <a:endParaRPr lang="en-US" sz="1100" dirty="0"/>
          </a:p>
        </p:txBody>
      </p:sp>
      <p:sp>
        <p:nvSpPr>
          <p:cNvPr id="18" name="Shape 16"/>
          <p:cNvSpPr/>
          <p:nvPr/>
        </p:nvSpPr>
        <p:spPr>
          <a:xfrm>
            <a:off x="6089904" y="3931920"/>
            <a:ext cx="2468880" cy="1417320"/>
          </a:xfrm>
          <a:prstGeom prst="roundRect">
            <a:avLst>
              <a:gd name="adj" fmla="val 5161"/>
            </a:avLst>
          </a:prstGeom>
          <a:solidFill>
            <a:srgbClr val="1B2A36"/>
          </a:solidFill>
          <a:ln w="12700">
            <a:solidFill>
              <a:srgbClr val="1B2A36"/>
            </a:solidFill>
            <a:prstDash val="solid"/>
          </a:ln>
        </p:spPr>
      </p:sp>
      <p:sp>
        <p:nvSpPr>
          <p:cNvPr id="19" name="Text 17"/>
          <p:cNvSpPr txBox="1"/>
          <p:nvPr/>
        </p:nvSpPr>
        <p:spPr>
          <a:xfrm>
            <a:off x="6318504" y="4114800"/>
            <a:ext cx="2011680" cy="457200"/>
          </a:xfrm>
          <a:prstGeom prst="rect">
            <a:avLst/>
          </a:prstGeom>
          <a:noFill/>
          <a:ln/>
        </p:spPr>
        <p:txBody>
          <a:bodyPr wrap="square" lIns="0" tIns="0" rIns="0" bIns="0" rtlCol="0" anchor="ctr"/>
          <a:lstStyle/>
          <a:p>
            <a:pPr indent="0" marL="0">
              <a:buNone/>
            </a:pPr>
            <a:r>
              <a:rPr lang="en-US" sz="2700" b="1" dirty="0">
                <a:solidFill>
                  <a:srgbClr val="FFC15E"/>
                </a:solidFill>
                <a:latin typeface="Arial" pitchFamily="34" charset="0"/>
                <a:ea typeface="Arial" pitchFamily="34" charset="-122"/>
                <a:cs typeface="Arial" pitchFamily="34" charset="-120"/>
              </a:rPr>
              <a:t>3.00%</a:t>
            </a:r>
            <a:endParaRPr lang="en-US" sz="2700" dirty="0"/>
          </a:p>
        </p:txBody>
      </p:sp>
      <p:sp>
        <p:nvSpPr>
          <p:cNvPr id="20" name="Text 18"/>
          <p:cNvSpPr txBox="1"/>
          <p:nvPr/>
        </p:nvSpPr>
        <p:spPr>
          <a:xfrm>
            <a:off x="6318504" y="4590288"/>
            <a:ext cx="2011680" cy="274320"/>
          </a:xfrm>
          <a:prstGeom prst="rect">
            <a:avLst/>
          </a:prstGeom>
          <a:noFill/>
          <a:ln/>
        </p:spPr>
        <p:txBody>
          <a:bodyPr wrap="square" lIns="0" tIns="0" rIns="0" bIns="0" rtlCol="0" anchor="ctr"/>
          <a:lstStyle/>
          <a:p>
            <a:pPr indent="0" marL="0">
              <a:buNone/>
            </a:pPr>
            <a:r>
              <a:rPr lang="en-US" sz="1300" dirty="0">
                <a:solidFill>
                  <a:srgbClr val="EAF2F6"/>
                </a:solidFill>
                <a:latin typeface="Calibri" pitchFamily="34" charset="0"/>
                <a:ea typeface="Calibri" pitchFamily="34" charset="-122"/>
                <a:cs typeface="Calibri" pitchFamily="34" charset="-120"/>
              </a:rPr>
              <a:t>10 - 20 ETH</a:t>
            </a:r>
            <a:endParaRPr lang="en-US" sz="1300" dirty="0"/>
          </a:p>
        </p:txBody>
      </p:sp>
      <p:sp>
        <p:nvSpPr>
          <p:cNvPr id="21" name="Text 19"/>
          <p:cNvSpPr txBox="1"/>
          <p:nvPr/>
        </p:nvSpPr>
        <p:spPr>
          <a:xfrm>
            <a:off x="6318504" y="4864608"/>
            <a:ext cx="2011680" cy="256032"/>
          </a:xfrm>
          <a:prstGeom prst="rect">
            <a:avLst/>
          </a:prstGeom>
          <a:noFill/>
          <a:ln/>
        </p:spPr>
        <p:txBody>
          <a:bodyPr wrap="square" lIns="0" tIns="0" rIns="0" bIns="0" rtlCol="0" anchor="ctr"/>
          <a:lstStyle/>
          <a:p>
            <a:pPr indent="0" marL="0">
              <a:buNone/>
            </a:pPr>
            <a:r>
              <a:rPr lang="en-US" sz="1100" dirty="0">
                <a:solidFill>
                  <a:srgbClr val="5D717E"/>
                </a:solidFill>
                <a:latin typeface="Calibri" pitchFamily="34" charset="0"/>
                <a:ea typeface="Calibri" pitchFamily="34" charset="-122"/>
                <a:cs typeface="Calibri" pitchFamily="34" charset="-120"/>
              </a:rPr>
              <a:t>tier 2</a:t>
            </a:r>
            <a:endParaRPr lang="en-US" sz="1100" dirty="0"/>
          </a:p>
        </p:txBody>
      </p:sp>
      <p:sp>
        <p:nvSpPr>
          <p:cNvPr id="22" name="Shape 20"/>
          <p:cNvSpPr/>
          <p:nvPr/>
        </p:nvSpPr>
        <p:spPr>
          <a:xfrm>
            <a:off x="8814816" y="3931920"/>
            <a:ext cx="2468880" cy="1417320"/>
          </a:xfrm>
          <a:prstGeom prst="roundRect">
            <a:avLst>
              <a:gd name="adj" fmla="val 5161"/>
            </a:avLst>
          </a:prstGeom>
          <a:solidFill>
            <a:srgbClr val="1B2A36"/>
          </a:solidFill>
          <a:ln w="12700">
            <a:solidFill>
              <a:srgbClr val="1B2A36"/>
            </a:solidFill>
            <a:prstDash val="solid"/>
          </a:ln>
        </p:spPr>
      </p:sp>
      <p:sp>
        <p:nvSpPr>
          <p:cNvPr id="23" name="Text 21"/>
          <p:cNvSpPr txBox="1"/>
          <p:nvPr/>
        </p:nvSpPr>
        <p:spPr>
          <a:xfrm>
            <a:off x="9043416" y="4114800"/>
            <a:ext cx="2011680" cy="457200"/>
          </a:xfrm>
          <a:prstGeom prst="rect">
            <a:avLst/>
          </a:prstGeom>
          <a:noFill/>
          <a:ln/>
        </p:spPr>
        <p:txBody>
          <a:bodyPr wrap="square" lIns="0" tIns="0" rIns="0" bIns="0" rtlCol="0" anchor="ctr"/>
          <a:lstStyle/>
          <a:p>
            <a:pPr indent="0" marL="0">
              <a:buNone/>
            </a:pPr>
            <a:r>
              <a:rPr lang="en-US" sz="2700" b="1" dirty="0">
                <a:solidFill>
                  <a:srgbClr val="FF6B5B"/>
                </a:solidFill>
                <a:latin typeface="Arial" pitchFamily="34" charset="0"/>
                <a:ea typeface="Arial" pitchFamily="34" charset="-122"/>
                <a:cs typeface="Arial" pitchFamily="34" charset="-120"/>
              </a:rPr>
              <a:t>5.00%</a:t>
            </a:r>
            <a:endParaRPr lang="en-US" sz="2700" dirty="0"/>
          </a:p>
        </p:txBody>
      </p:sp>
      <p:sp>
        <p:nvSpPr>
          <p:cNvPr id="24" name="Text 22"/>
          <p:cNvSpPr txBox="1"/>
          <p:nvPr/>
        </p:nvSpPr>
        <p:spPr>
          <a:xfrm>
            <a:off x="9043416" y="4590288"/>
            <a:ext cx="2011680" cy="274320"/>
          </a:xfrm>
          <a:prstGeom prst="rect">
            <a:avLst/>
          </a:prstGeom>
          <a:noFill/>
          <a:ln/>
        </p:spPr>
        <p:txBody>
          <a:bodyPr wrap="square" lIns="0" tIns="0" rIns="0" bIns="0" rtlCol="0" anchor="ctr"/>
          <a:lstStyle/>
          <a:p>
            <a:pPr indent="0" marL="0">
              <a:buNone/>
            </a:pPr>
            <a:r>
              <a:rPr lang="en-US" sz="1300" dirty="0">
                <a:solidFill>
                  <a:srgbClr val="EAF2F6"/>
                </a:solidFill>
                <a:latin typeface="Calibri" pitchFamily="34" charset="0"/>
                <a:ea typeface="Calibri" pitchFamily="34" charset="-122"/>
                <a:cs typeface="Calibri" pitchFamily="34" charset="-120"/>
              </a:rPr>
              <a:t>20+ ETH</a:t>
            </a:r>
            <a:endParaRPr lang="en-US" sz="1300" dirty="0"/>
          </a:p>
        </p:txBody>
      </p:sp>
      <p:sp>
        <p:nvSpPr>
          <p:cNvPr id="25" name="Text 23"/>
          <p:cNvSpPr txBox="1"/>
          <p:nvPr/>
        </p:nvSpPr>
        <p:spPr>
          <a:xfrm>
            <a:off x="9043416" y="4864608"/>
            <a:ext cx="2011680" cy="256032"/>
          </a:xfrm>
          <a:prstGeom prst="rect">
            <a:avLst/>
          </a:prstGeom>
          <a:noFill/>
          <a:ln/>
        </p:spPr>
        <p:txBody>
          <a:bodyPr wrap="square" lIns="0" tIns="0" rIns="0" bIns="0" rtlCol="0" anchor="ctr"/>
          <a:lstStyle/>
          <a:p>
            <a:pPr indent="0" marL="0">
              <a:buNone/>
            </a:pPr>
            <a:r>
              <a:rPr lang="en-US" sz="1100" dirty="0">
                <a:solidFill>
                  <a:srgbClr val="5D717E"/>
                </a:solidFill>
                <a:latin typeface="Calibri" pitchFamily="34" charset="0"/>
                <a:ea typeface="Calibri" pitchFamily="34" charset="-122"/>
                <a:cs typeface="Calibri" pitchFamily="34" charset="-120"/>
              </a:rPr>
              <a:t>tier 3</a:t>
            </a:r>
            <a:endParaRPr lang="en-US" sz="1100" dirty="0"/>
          </a:p>
        </p:txBody>
      </p:sp>
      <p:sp>
        <p:nvSpPr>
          <p:cNvPr id="26" name="Text 24"/>
          <p:cNvSpPr txBox="1"/>
          <p:nvPr/>
        </p:nvSpPr>
        <p:spPr>
          <a:xfrm>
            <a:off x="640080" y="5669280"/>
            <a:ext cx="10881360" cy="274320"/>
          </a:xfrm>
          <a:prstGeom prst="rect">
            <a:avLst/>
          </a:prstGeom>
          <a:noFill/>
          <a:ln/>
        </p:spPr>
        <p:txBody>
          <a:bodyPr wrap="square" lIns="0" tIns="0" rIns="0" bIns="0" rtlCol="0" anchor="ctr"/>
          <a:lstStyle/>
          <a:p>
            <a:pPr indent="0" marL="0">
              <a:buNone/>
            </a:pPr>
            <a:r>
              <a:rPr lang="en-US" sz="1300" i="1" dirty="0">
                <a:solidFill>
                  <a:srgbClr val="06D6A0"/>
                </a:solidFill>
                <a:latin typeface="Calibri" pitchFamily="34" charset="0"/>
                <a:ea typeface="Calibri" pitchFamily="34" charset="-122"/>
                <a:cs typeface="Calibri" pitchFamily="34" charset="-120"/>
              </a:rPr>
              <a:t>Volume is counted per trader, per pool, per block — and it resets every block.</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922"/>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300" spc="160" kern="0" dirty="0">
                <a:solidFill>
                  <a:srgbClr val="06D6A0"/>
                </a:solidFill>
                <a:latin typeface="Calibri" pitchFamily="34" charset="0"/>
                <a:ea typeface="Calibri" pitchFamily="34" charset="-122"/>
                <a:cs typeface="Calibri" pitchFamily="34" charset="-120"/>
              </a:rPr>
              <a:t>THE HARD PART</a:t>
            </a:r>
            <a:endParaRPr lang="en-US" sz="1300" dirty="0"/>
          </a:p>
        </p:txBody>
      </p:sp>
      <p:sp>
        <p:nvSpPr>
          <p:cNvPr id="3" name="Text 1"/>
          <p:cNvSpPr txBox="1"/>
          <p:nvPr/>
        </p:nvSpPr>
        <p:spPr>
          <a:xfrm>
            <a:off x="640080" y="868680"/>
            <a:ext cx="10881360" cy="685800"/>
          </a:xfrm>
          <a:prstGeom prst="rect">
            <a:avLst/>
          </a:prstGeom>
          <a:noFill/>
          <a:ln/>
        </p:spPr>
        <p:txBody>
          <a:bodyPr wrap="square" lIns="0" tIns="0" rIns="0" bIns="0" rtlCol="0" anchor="ctr"/>
          <a:lstStyle/>
          <a:p>
            <a:pPr indent="0" marL="0">
              <a:buNone/>
            </a:pPr>
            <a:r>
              <a:rPr lang="en-US" sz="3400" b="1" dirty="0">
                <a:solidFill>
                  <a:srgbClr val="EAF2F6"/>
                </a:solidFill>
                <a:latin typeface="Arial" pitchFamily="34" charset="0"/>
                <a:ea typeface="Arial" pitchFamily="34" charset="-122"/>
                <a:cs typeface="Arial" pitchFamily="34" charset="-120"/>
              </a:rPr>
              <a:t>v4 gives the hook a router, not a person</a:t>
            </a:r>
            <a:endParaRPr lang="en-US" sz="3400" dirty="0"/>
          </a:p>
        </p:txBody>
      </p:sp>
      <p:sp>
        <p:nvSpPr>
          <p:cNvPr id="4" name="Text 2"/>
          <p:cNvSpPr txBox="1"/>
          <p:nvPr/>
        </p:nvSpPr>
        <p:spPr>
          <a:xfrm>
            <a:off x="640080" y="1783080"/>
            <a:ext cx="10881360" cy="384048"/>
          </a:xfrm>
          <a:prstGeom prst="rect">
            <a:avLst/>
          </a:prstGeom>
          <a:noFill/>
          <a:ln/>
        </p:spPr>
        <p:txBody>
          <a:bodyPr wrap="square" lIns="0" tIns="0" rIns="0" bIns="0" rtlCol="0" anchor="ctr"/>
          <a:lstStyle/>
          <a:p>
            <a:pPr indent="0" marL="0">
              <a:buNone/>
            </a:pPr>
            <a:r>
              <a:rPr lang="en-US" sz="1400" dirty="0">
                <a:solidFill>
                  <a:srgbClr val="FFC15E"/>
                </a:solidFill>
                <a:latin typeface="Courier New" pitchFamily="34" charset="0"/>
                <a:ea typeface="Courier New" pitchFamily="34" charset="-122"/>
                <a:cs typeface="Courier New" pitchFamily="34" charset="-120"/>
              </a:rPr>
              <a:t>beforeSwap(address sender, ...)  // sender is whoever called poolManager.swap()</a:t>
            </a:r>
            <a:endParaRPr lang="en-US" sz="1400" dirty="0"/>
          </a:p>
        </p:txBody>
      </p:sp>
      <p:sp>
        <p:nvSpPr>
          <p:cNvPr id="5" name="Shape 3"/>
          <p:cNvSpPr/>
          <p:nvPr/>
        </p:nvSpPr>
        <p:spPr>
          <a:xfrm>
            <a:off x="640080" y="2331720"/>
            <a:ext cx="5120640" cy="1737360"/>
          </a:xfrm>
          <a:prstGeom prst="roundRect">
            <a:avLst>
              <a:gd name="adj" fmla="val 4211"/>
            </a:avLst>
          </a:prstGeom>
          <a:solidFill>
            <a:srgbClr val="213341"/>
          </a:solidFill>
          <a:ln w="12700">
            <a:solidFill>
              <a:srgbClr val="213341"/>
            </a:solidFill>
            <a:prstDash val="solid"/>
          </a:ln>
        </p:spPr>
      </p:sp>
      <p:sp>
        <p:nvSpPr>
          <p:cNvPr id="6" name="Text 4"/>
          <p:cNvSpPr txBox="1"/>
          <p:nvPr/>
        </p:nvSpPr>
        <p:spPr>
          <a:xfrm>
            <a:off x="960120" y="2542032"/>
            <a:ext cx="4480560" cy="320040"/>
          </a:xfrm>
          <a:prstGeom prst="rect">
            <a:avLst/>
          </a:prstGeom>
          <a:noFill/>
          <a:ln/>
        </p:spPr>
        <p:txBody>
          <a:bodyPr wrap="square" lIns="0" tIns="0" rIns="0" bIns="0" rtlCol="0" anchor="ctr"/>
          <a:lstStyle/>
          <a:p>
            <a:pPr indent="0" marL="0">
              <a:buNone/>
            </a:pPr>
            <a:r>
              <a:rPr lang="en-US" sz="1600" b="1" dirty="0">
                <a:solidFill>
                  <a:srgbClr val="FF6B5B"/>
                </a:solidFill>
                <a:latin typeface="Arial" pitchFamily="34" charset="0"/>
                <a:ea typeface="Arial" pitchFamily="34" charset="-122"/>
                <a:cs typeface="Arial" pitchFamily="34" charset="-120"/>
              </a:rPr>
              <a:t>Scoring the router breaks two ways</a:t>
            </a:r>
            <a:endParaRPr lang="en-US" sz="1600" dirty="0"/>
          </a:p>
        </p:txBody>
      </p:sp>
      <p:sp>
        <p:nvSpPr>
          <p:cNvPr id="7" name="Text 5"/>
          <p:cNvSpPr txBox="1"/>
          <p:nvPr/>
        </p:nvSpPr>
        <p:spPr>
          <a:xfrm>
            <a:off x="960120" y="2907792"/>
            <a:ext cx="4480560" cy="960120"/>
          </a:xfrm>
          <a:prstGeom prst="rect">
            <a:avLst/>
          </a:prstGeom>
          <a:noFill/>
          <a:ln/>
        </p:spPr>
        <p:txBody>
          <a:bodyPr wrap="square" lIns="0" tIns="0" rIns="0" bIns="0" rtlCol="0" anchor="ctr"/>
          <a:lstStyle/>
          <a:p>
            <a:pPr marL="342900" indent="-342900">
              <a:spcAft>
                <a:spcPts val="500"/>
              </a:spcAft>
              <a:buSzPct val="100000"/>
              <a:buChar char="•"/>
            </a:pPr>
            <a:r>
              <a:rPr lang="en-US" sz="1300" dirty="0">
                <a:solidFill>
                  <a:srgbClr val="8FA3B0"/>
                </a:solidFill>
                <a:latin typeface="Calibri" pitchFamily="34" charset="0"/>
                <a:ea typeface="Calibri" pitchFamily="34" charset="-122"/>
                <a:cs typeface="Calibri" pitchFamily="34" charset="-120"/>
              </a:rPr>
              <a:t>An honest user inherits a bot's volume and pays its penalty.</a:t>
            </a:r>
            <a:endParaRPr lang="en-US" sz="1300" dirty="0"/>
          </a:p>
          <a:p>
            <a:pPr marL="342900" indent="-342900">
              <a:spcAft>
                <a:spcPts val="500"/>
              </a:spcAft>
              <a:buSzPct val="100000"/>
              <a:buChar char="•"/>
            </a:pPr>
            <a:r>
              <a:rPr lang="en-US" sz="1300" dirty="0">
                <a:solidFill>
                  <a:srgbClr val="8FA3B0"/>
                </a:solidFill>
                <a:latin typeface="Calibri" pitchFamily="34" charset="0"/>
                <a:ea typeface="Calibri" pitchFamily="34" charset="-122"/>
                <a:cs typeface="Calibri" pitchFamily="34" charset="-120"/>
              </a:rPr>
              <a:t>The router itself accrues score until it crosses 80 — bricking the pool for everyone behind it.</a:t>
            </a:r>
            <a:endParaRPr lang="en-US" sz="1300" dirty="0"/>
          </a:p>
        </p:txBody>
      </p:sp>
      <p:sp>
        <p:nvSpPr>
          <p:cNvPr id="8" name="Shape 6"/>
          <p:cNvSpPr/>
          <p:nvPr/>
        </p:nvSpPr>
        <p:spPr>
          <a:xfrm>
            <a:off x="6126480" y="2331720"/>
            <a:ext cx="5120640" cy="1737360"/>
          </a:xfrm>
          <a:prstGeom prst="roundRect">
            <a:avLst>
              <a:gd name="adj" fmla="val 4211"/>
            </a:avLst>
          </a:prstGeom>
          <a:solidFill>
            <a:srgbClr val="1B2A36"/>
          </a:solidFill>
          <a:ln w="12700">
            <a:solidFill>
              <a:srgbClr val="1B2A36"/>
            </a:solidFill>
            <a:prstDash val="solid"/>
          </a:ln>
        </p:spPr>
      </p:sp>
      <p:sp>
        <p:nvSpPr>
          <p:cNvPr id="9" name="Text 7"/>
          <p:cNvSpPr txBox="1"/>
          <p:nvPr/>
        </p:nvSpPr>
        <p:spPr>
          <a:xfrm>
            <a:off x="6446520" y="2542032"/>
            <a:ext cx="4480560" cy="320040"/>
          </a:xfrm>
          <a:prstGeom prst="rect">
            <a:avLst/>
          </a:prstGeom>
          <a:noFill/>
          <a:ln/>
        </p:spPr>
        <p:txBody>
          <a:bodyPr wrap="square" lIns="0" tIns="0" rIns="0" bIns="0" rtlCol="0" anchor="ctr"/>
          <a:lstStyle/>
          <a:p>
            <a:pPr indent="0" marL="0">
              <a:buNone/>
            </a:pPr>
            <a:r>
              <a:rPr lang="en-US" sz="1600" b="1" dirty="0">
                <a:solidFill>
                  <a:srgbClr val="06D6A0"/>
                </a:solidFill>
                <a:latin typeface="Arial" pitchFamily="34" charset="0"/>
                <a:ea typeface="Arial" pitchFamily="34" charset="-122"/>
                <a:cs typeface="Arial" pitchFamily="34" charset="-120"/>
              </a:rPr>
              <a:t>How the hook resolves it</a:t>
            </a:r>
            <a:endParaRPr lang="en-US" sz="1600" dirty="0"/>
          </a:p>
        </p:txBody>
      </p:sp>
      <p:sp>
        <p:nvSpPr>
          <p:cNvPr id="10" name="Text 8"/>
          <p:cNvSpPr txBox="1"/>
          <p:nvPr/>
        </p:nvSpPr>
        <p:spPr>
          <a:xfrm>
            <a:off x="6446520" y="2907792"/>
            <a:ext cx="4480560" cy="96012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8FA3B0"/>
                </a:solidFill>
                <a:latin typeface="Calibri" pitchFamily="34" charset="0"/>
                <a:ea typeface="Calibri" pitchFamily="34" charset="-122"/>
                <a:cs typeface="Calibri" pitchFamily="34" charset="-120"/>
              </a:rPr>
              <a:t>getMsgSender() on an allow-listed router</a:t>
            </a:r>
            <a:endParaRPr lang="en-US" sz="1300" dirty="0"/>
          </a:p>
          <a:p>
            <a:pPr marL="342900" indent="-342900">
              <a:spcAft>
                <a:spcPts val="400"/>
              </a:spcAft>
              <a:buSzPct val="100000"/>
              <a:buChar char="•"/>
            </a:pPr>
            <a:r>
              <a:rPr lang="en-US" sz="1300" dirty="0">
                <a:solidFill>
                  <a:srgbClr val="8FA3B0"/>
                </a:solidFill>
                <a:latin typeface="Calibri" pitchFamily="34" charset="0"/>
                <a:ea typeface="Calibri" pitchFamily="34" charset="-122"/>
                <a:cs typeface="Calibri" pitchFamily="34" charset="-120"/>
              </a:rPr>
              <a:t>originator the same router declared in hookData</a:t>
            </a:r>
            <a:endParaRPr lang="en-US" sz="1300" dirty="0"/>
          </a:p>
          <a:p>
            <a:pPr marL="342900" indent="-342900">
              <a:spcAft>
                <a:spcPts val="400"/>
              </a:spcAft>
              <a:buSzPct val="100000"/>
              <a:buChar char="•"/>
            </a:pPr>
            <a:r>
              <a:rPr lang="en-US" sz="1300" dirty="0">
                <a:solidFill>
                  <a:srgbClr val="8FA3B0"/>
                </a:solidFill>
                <a:latin typeface="Calibri" pitchFamily="34" charset="0"/>
                <a:ea typeface="Calibri" pitchFamily="34" charset="-122"/>
                <a:cs typeface="Calibri" pitchFamily="34" charset="-120"/>
              </a:rPr>
              <a:t>tx.origin — the EOA that signed</a:t>
            </a:r>
            <a:endParaRPr lang="en-US" sz="1300" dirty="0"/>
          </a:p>
        </p:txBody>
      </p:sp>
      <p:sp>
        <p:nvSpPr>
          <p:cNvPr id="11" name="Shape 9"/>
          <p:cNvSpPr/>
          <p:nvPr/>
        </p:nvSpPr>
        <p:spPr>
          <a:xfrm>
            <a:off x="640080" y="4343400"/>
            <a:ext cx="10881360" cy="1463040"/>
          </a:xfrm>
          <a:prstGeom prst="roundRect">
            <a:avLst>
              <a:gd name="adj" fmla="val 5000"/>
            </a:avLst>
          </a:prstGeom>
          <a:solidFill>
            <a:srgbClr val="213341"/>
          </a:solidFill>
          <a:ln w="12700">
            <a:solidFill>
              <a:srgbClr val="213341"/>
            </a:solidFill>
            <a:prstDash val="solid"/>
          </a:ln>
        </p:spPr>
      </p:sp>
      <p:sp>
        <p:nvSpPr>
          <p:cNvPr id="12" name="Text 10"/>
          <p:cNvSpPr txBox="1"/>
          <p:nvPr/>
        </p:nvSpPr>
        <p:spPr>
          <a:xfrm>
            <a:off x="960120" y="4544568"/>
            <a:ext cx="5486400" cy="292608"/>
          </a:xfrm>
          <a:prstGeom prst="rect">
            <a:avLst/>
          </a:prstGeom>
          <a:noFill/>
          <a:ln/>
        </p:spPr>
        <p:txBody>
          <a:bodyPr wrap="square" lIns="0" tIns="0" rIns="0" bIns="0" rtlCol="0" anchor="ctr"/>
          <a:lstStyle/>
          <a:p>
            <a:pPr indent="0" marL="0">
              <a:buNone/>
            </a:pPr>
            <a:r>
              <a:rPr lang="en-US" sz="1500" b="1" dirty="0">
                <a:solidFill>
                  <a:srgbClr val="FFC15E"/>
                </a:solidFill>
                <a:latin typeface="Arial" pitchFamily="34" charset="0"/>
                <a:ea typeface="Arial" pitchFamily="34" charset="-122"/>
                <a:cs typeface="Arial" pitchFamily="34" charset="-120"/>
              </a:rPr>
              <a:t>The allow-list is load-bearing</a:t>
            </a:r>
            <a:endParaRPr lang="en-US" sz="1500" dirty="0"/>
          </a:p>
        </p:txBody>
      </p:sp>
      <p:sp>
        <p:nvSpPr>
          <p:cNvPr id="13" name="Text 11"/>
          <p:cNvSpPr txBox="1"/>
          <p:nvPr/>
        </p:nvSpPr>
        <p:spPr>
          <a:xfrm>
            <a:off x="960120" y="4864608"/>
            <a:ext cx="10241280" cy="822960"/>
          </a:xfrm>
          <a:prstGeom prst="rect">
            <a:avLst/>
          </a:prstGeom>
          <a:noFill/>
          <a:ln/>
        </p:spPr>
        <p:txBody>
          <a:bodyPr wrap="square" lIns="0" tIns="0" rIns="0" bIns="0" rtlCol="0" anchor="ctr"/>
          <a:lstStyle/>
          <a:p>
            <a:pPr indent="0" marL="0">
              <a:lnSpc>
                <a:spcPts val="1800"/>
              </a:lnSpc>
              <a:buNone/>
            </a:pPr>
            <a:r>
              <a:rPr lang="en-US" sz="1300" dirty="0">
                <a:solidFill>
                  <a:srgbClr val="8FA3B0"/>
                </a:solidFill>
                <a:latin typeface="Calibri" pitchFamily="34" charset="0"/>
                <a:ea typeface="Calibri" pitchFamily="34" charset="-122"/>
                <a:cs typeface="Calibri" pitchFamily="34" charset="-120"/>
              </a:rPr>
              <a:t>Anyone can call the PoolManager directly, which makes their contract the sender. Asking an unvetted contract who it represents lets it name any address — laundering its own reputation or framing an innocent one. So the getter is only ever called on a router the owner has vetted, over STATICCALL, wrapped in try/catch.</a:t>
            </a:r>
            <a:endParaRPr lang="en-US" sz="1300" dirty="0"/>
          </a:p>
        </p:txBody>
      </p:sp>
      <p:sp>
        <p:nvSpPr>
          <p:cNvPr id="14" name="Text 12"/>
          <p:cNvSpPr txBox="1"/>
          <p:nvPr/>
        </p:nvSpPr>
        <p:spPr>
          <a:xfrm>
            <a:off x="640080" y="5989320"/>
            <a:ext cx="10881360" cy="274320"/>
          </a:xfrm>
          <a:prstGeom prst="rect">
            <a:avLst/>
          </a:prstGeom>
          <a:noFill/>
          <a:ln/>
        </p:spPr>
        <p:txBody>
          <a:bodyPr wrap="square" lIns="0" tIns="0" rIns="0" bIns="0" rtlCol="0" anchor="ctr"/>
          <a:lstStyle/>
          <a:p>
            <a:pPr indent="0" marL="0">
              <a:buNone/>
            </a:pPr>
            <a:r>
              <a:rPr lang="en-US" sz="1200" i="1" dirty="0">
                <a:solidFill>
                  <a:srgbClr val="5D717E"/>
                </a:solidFill>
                <a:latin typeface="Calibri" pitchFamily="34" charset="0"/>
                <a:ea typeface="Calibri" pitchFamily="34" charset="-122"/>
                <a:cs typeface="Calibri" pitchFamily="34" charset="-120"/>
              </a:rPr>
              <a:t>21 tests in TraderIdentity.t.sol, including the spoofing attack itself.</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922"/>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300" spc="160" kern="0" dirty="0">
                <a:solidFill>
                  <a:srgbClr val="06D6A0"/>
                </a:solidFill>
                <a:latin typeface="Calibri" pitchFamily="34" charset="0"/>
                <a:ea typeface="Calibri" pitchFamily="34" charset="-122"/>
                <a:cs typeface="Calibri" pitchFamily="34" charset="-120"/>
              </a:rPr>
              <a:t>MEASURED, NOT CLAIMED</a:t>
            </a:r>
            <a:endParaRPr lang="en-US" sz="1300" dirty="0"/>
          </a:p>
        </p:txBody>
      </p:sp>
      <p:sp>
        <p:nvSpPr>
          <p:cNvPr id="3" name="Text 1"/>
          <p:cNvSpPr txBox="1"/>
          <p:nvPr/>
        </p:nvSpPr>
        <p:spPr>
          <a:xfrm>
            <a:off x="640080" y="868680"/>
            <a:ext cx="10881360" cy="685800"/>
          </a:xfrm>
          <a:prstGeom prst="rect">
            <a:avLst/>
          </a:prstGeom>
          <a:noFill/>
          <a:ln/>
        </p:spPr>
        <p:txBody>
          <a:bodyPr wrap="square" lIns="0" tIns="0" rIns="0" bIns="0" rtlCol="0" anchor="ctr"/>
          <a:lstStyle/>
          <a:p>
            <a:pPr indent="0" marL="0">
              <a:buNone/>
            </a:pPr>
            <a:r>
              <a:rPr lang="en-US" sz="3400" b="1" dirty="0">
                <a:solidFill>
                  <a:srgbClr val="EAF2F6"/>
                </a:solidFill>
                <a:latin typeface="Arial" pitchFamily="34" charset="0"/>
                <a:ea typeface="Arial" pitchFamily="34" charset="-122"/>
                <a:cs typeface="Arial" pitchFamily="34" charset="-120"/>
              </a:rPr>
              <a:t>Attacker pays 5.3x. Victim pays nothing extra.</a:t>
            </a:r>
            <a:endParaRPr lang="en-US" sz="3400" dirty="0"/>
          </a:p>
        </p:txBody>
      </p:sp>
      <p:sp>
        <p:nvSpPr>
          <p:cNvPr id="4" name="Text 2"/>
          <p:cNvSpPr txBox="1"/>
          <p:nvPr/>
        </p:nvSpPr>
        <p:spPr>
          <a:xfrm>
            <a:off x="640080" y="1691640"/>
            <a:ext cx="10881360" cy="320040"/>
          </a:xfrm>
          <a:prstGeom prst="rect">
            <a:avLst/>
          </a:prstGeom>
          <a:noFill/>
          <a:ln/>
        </p:spPr>
        <p:txBody>
          <a:bodyPr wrap="square" lIns="0" tIns="0" rIns="0" bIns="0" rtlCol="0" anchor="ctr"/>
          <a:lstStyle/>
          <a:p>
            <a:pPr indent="0" marL="0">
              <a:buNone/>
            </a:pPr>
            <a:r>
              <a:rPr lang="en-US" sz="1400" dirty="0">
                <a:solidFill>
                  <a:srgbClr val="8FA3B0"/>
                </a:solidFill>
                <a:latin typeface="Calibri" pitchFamily="34" charset="0"/>
                <a:ea typeface="Calibri" pitchFamily="34" charset="-122"/>
                <a:cs typeface="Calibri" pitchFamily="34" charset="-120"/>
              </a:rPr>
              <a:t>Identical sandwich, two identical pools — one plain, one guarded. Front-run 4 ETH, victim 3 ETH, back-run 4 ETH.</a:t>
            </a:r>
            <a:endParaRPr lang="en-US" sz="1400" dirty="0"/>
          </a:p>
        </p:txBody>
      </p:sp>
      <p:graphicFrame>
        <p:nvGraphicFramePr>
          <p:cNvPr id="5" name="Chart 0" descr=""/>
          <p:cNvGraphicFramePr/>
          <p:nvPr/>
        </p:nvGraphicFramePr>
        <p:xfrm>
          <a:off x="640080" y="2194560"/>
          <a:ext cx="5486400" cy="28346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492240" y="2194560"/>
            <a:ext cx="4754880" cy="2834640"/>
          </a:xfrm>
          <a:prstGeom prst="roundRect">
            <a:avLst>
              <a:gd name="adj" fmla="val 2581"/>
            </a:avLst>
          </a:prstGeom>
          <a:solidFill>
            <a:srgbClr val="1B2A36"/>
          </a:solidFill>
          <a:ln w="12700">
            <a:solidFill>
              <a:srgbClr val="1B2A36"/>
            </a:solidFill>
            <a:prstDash val="solid"/>
          </a:ln>
        </p:spPr>
      </p:sp>
      <p:sp>
        <p:nvSpPr>
          <p:cNvPr id="7" name="Text 4"/>
          <p:cNvSpPr txBox="1"/>
          <p:nvPr/>
        </p:nvSpPr>
        <p:spPr>
          <a:xfrm>
            <a:off x="8915400" y="2377440"/>
            <a:ext cx="1051560" cy="256032"/>
          </a:xfrm>
          <a:prstGeom prst="rect">
            <a:avLst/>
          </a:prstGeom>
          <a:noFill/>
          <a:ln/>
        </p:spPr>
        <p:txBody>
          <a:bodyPr wrap="square" lIns="0" tIns="0" rIns="0" bIns="0" rtlCol="0" anchor="ctr"/>
          <a:lstStyle/>
          <a:p>
            <a:pPr algn="r" indent="0" marL="0">
              <a:buNone/>
            </a:pPr>
            <a:r>
              <a:rPr lang="en-US" sz="1100" b="1" dirty="0">
                <a:solidFill>
                  <a:srgbClr val="5D717E"/>
                </a:solidFill>
                <a:latin typeface="Arial" pitchFamily="34" charset="0"/>
                <a:ea typeface="Arial" pitchFamily="34" charset="-122"/>
                <a:cs typeface="Arial" pitchFamily="34" charset="-120"/>
              </a:rPr>
              <a:t>Plain</a:t>
            </a:r>
            <a:endParaRPr lang="en-US" sz="1100" dirty="0"/>
          </a:p>
        </p:txBody>
      </p:sp>
      <p:sp>
        <p:nvSpPr>
          <p:cNvPr id="8" name="Text 5"/>
          <p:cNvSpPr txBox="1"/>
          <p:nvPr/>
        </p:nvSpPr>
        <p:spPr>
          <a:xfrm>
            <a:off x="9966960" y="2377440"/>
            <a:ext cx="1097280" cy="256032"/>
          </a:xfrm>
          <a:prstGeom prst="rect">
            <a:avLst/>
          </a:prstGeom>
          <a:noFill/>
          <a:ln/>
        </p:spPr>
        <p:txBody>
          <a:bodyPr wrap="square" lIns="0" tIns="0" rIns="0" bIns="0" rtlCol="0" anchor="ctr"/>
          <a:lstStyle/>
          <a:p>
            <a:pPr algn="r" indent="0" marL="0">
              <a:buNone/>
            </a:pPr>
            <a:r>
              <a:rPr lang="en-US" sz="1100" b="1" dirty="0">
                <a:solidFill>
                  <a:srgbClr val="06D6A0"/>
                </a:solidFill>
                <a:latin typeface="Arial" pitchFamily="34" charset="0"/>
                <a:ea typeface="Arial" pitchFamily="34" charset="-122"/>
                <a:cs typeface="Arial" pitchFamily="34" charset="-120"/>
              </a:rPr>
              <a:t>Shielded</a:t>
            </a:r>
            <a:endParaRPr lang="en-US" sz="1100" dirty="0"/>
          </a:p>
        </p:txBody>
      </p:sp>
      <p:sp>
        <p:nvSpPr>
          <p:cNvPr id="9" name="Text 6"/>
          <p:cNvSpPr txBox="1"/>
          <p:nvPr/>
        </p:nvSpPr>
        <p:spPr>
          <a:xfrm>
            <a:off x="6720840" y="2724912"/>
            <a:ext cx="2286000" cy="365760"/>
          </a:xfrm>
          <a:prstGeom prst="rect">
            <a:avLst/>
          </a:prstGeom>
          <a:noFill/>
          <a:ln/>
        </p:spPr>
        <p:txBody>
          <a:bodyPr wrap="square" lIns="0" tIns="0" rIns="0" bIns="0" rtlCol="0" anchor="ctr"/>
          <a:lstStyle/>
          <a:p>
            <a:pPr indent="0" marL="0">
              <a:buNone/>
            </a:pPr>
            <a:r>
              <a:rPr lang="en-US" sz="1200" dirty="0">
                <a:solidFill>
                  <a:srgbClr val="EAF2F6"/>
                </a:solidFill>
                <a:latin typeface="Calibri" pitchFamily="34" charset="0"/>
                <a:ea typeface="Calibri" pitchFamily="34" charset="-122"/>
                <a:cs typeface="Calibri" pitchFamily="34" charset="-120"/>
              </a:rPr>
              <a:t>Victim receives</a:t>
            </a:r>
            <a:endParaRPr lang="en-US" sz="1200" dirty="0"/>
          </a:p>
        </p:txBody>
      </p:sp>
      <p:sp>
        <p:nvSpPr>
          <p:cNvPr id="10" name="Text 7"/>
          <p:cNvSpPr txBox="1"/>
          <p:nvPr/>
        </p:nvSpPr>
        <p:spPr>
          <a:xfrm>
            <a:off x="8915400" y="2724912"/>
            <a:ext cx="1051560" cy="365760"/>
          </a:xfrm>
          <a:prstGeom prst="rect">
            <a:avLst/>
          </a:prstGeom>
          <a:noFill/>
          <a:ln/>
        </p:spPr>
        <p:txBody>
          <a:bodyPr wrap="square" lIns="0" tIns="0" rIns="0" bIns="0" rtlCol="0" anchor="ctr"/>
          <a:lstStyle/>
          <a:p>
            <a:pPr algn="r" indent="0" marL="0">
              <a:buNone/>
            </a:pPr>
            <a:r>
              <a:rPr lang="en-US" sz="1200" dirty="0">
                <a:solidFill>
                  <a:srgbClr val="8FA3B0"/>
                </a:solidFill>
                <a:latin typeface="Courier New" pitchFamily="34" charset="0"/>
                <a:ea typeface="Courier New" pitchFamily="34" charset="-122"/>
                <a:cs typeface="Courier New" pitchFamily="34" charset="-120"/>
              </a:rPr>
              <a:t>2.990344077</a:t>
            </a:r>
            <a:endParaRPr lang="en-US" sz="1200" dirty="0"/>
          </a:p>
        </p:txBody>
      </p:sp>
      <p:sp>
        <p:nvSpPr>
          <p:cNvPr id="11" name="Text 8"/>
          <p:cNvSpPr txBox="1"/>
          <p:nvPr/>
        </p:nvSpPr>
        <p:spPr>
          <a:xfrm>
            <a:off x="9966960" y="2724912"/>
            <a:ext cx="1097280" cy="365760"/>
          </a:xfrm>
          <a:prstGeom prst="rect">
            <a:avLst/>
          </a:prstGeom>
          <a:noFill/>
          <a:ln/>
        </p:spPr>
        <p:txBody>
          <a:bodyPr wrap="square" lIns="0" tIns="0" rIns="0" bIns="0" rtlCol="0" anchor="ctr"/>
          <a:lstStyle/>
          <a:p>
            <a:pPr algn="r" indent="0" marL="0">
              <a:buNone/>
            </a:pPr>
            <a:r>
              <a:rPr lang="en-US" sz="1200" b="1" dirty="0">
                <a:solidFill>
                  <a:srgbClr val="06D6A0"/>
                </a:solidFill>
                <a:latin typeface="Courier New" pitchFamily="34" charset="0"/>
                <a:ea typeface="Courier New" pitchFamily="34" charset="-122"/>
                <a:cs typeface="Courier New" pitchFamily="34" charset="-120"/>
              </a:rPr>
              <a:t>2.990344077</a:t>
            </a:r>
            <a:endParaRPr lang="en-US" sz="1200" dirty="0"/>
          </a:p>
        </p:txBody>
      </p:sp>
      <p:sp>
        <p:nvSpPr>
          <p:cNvPr id="12" name="Text 9"/>
          <p:cNvSpPr txBox="1"/>
          <p:nvPr/>
        </p:nvSpPr>
        <p:spPr>
          <a:xfrm>
            <a:off x="6720840" y="3255264"/>
            <a:ext cx="2286000" cy="365760"/>
          </a:xfrm>
          <a:prstGeom prst="rect">
            <a:avLst/>
          </a:prstGeom>
          <a:noFill/>
          <a:ln/>
        </p:spPr>
        <p:txBody>
          <a:bodyPr wrap="square" lIns="0" tIns="0" rIns="0" bIns="0" rtlCol="0" anchor="ctr"/>
          <a:lstStyle/>
          <a:p>
            <a:pPr indent="0" marL="0">
              <a:buNone/>
            </a:pPr>
            <a:r>
              <a:rPr lang="en-US" sz="1200" dirty="0">
                <a:solidFill>
                  <a:srgbClr val="EAF2F6"/>
                </a:solidFill>
                <a:latin typeface="Calibri" pitchFamily="34" charset="0"/>
                <a:ea typeface="Calibri" pitchFamily="34" charset="-122"/>
                <a:cs typeface="Calibri" pitchFamily="34" charset="-120"/>
              </a:rPr>
              <a:t>Victim's fee</a:t>
            </a:r>
            <a:endParaRPr lang="en-US" sz="1200" dirty="0"/>
          </a:p>
        </p:txBody>
      </p:sp>
      <p:sp>
        <p:nvSpPr>
          <p:cNvPr id="13" name="Text 10"/>
          <p:cNvSpPr txBox="1"/>
          <p:nvPr/>
        </p:nvSpPr>
        <p:spPr>
          <a:xfrm>
            <a:off x="8915400" y="3255264"/>
            <a:ext cx="1051560" cy="365760"/>
          </a:xfrm>
          <a:prstGeom prst="rect">
            <a:avLst/>
          </a:prstGeom>
          <a:noFill/>
          <a:ln/>
        </p:spPr>
        <p:txBody>
          <a:bodyPr wrap="square" lIns="0" tIns="0" rIns="0" bIns="0" rtlCol="0" anchor="ctr"/>
          <a:lstStyle/>
          <a:p>
            <a:pPr algn="r" indent="0" marL="0">
              <a:buNone/>
            </a:pPr>
            <a:r>
              <a:rPr lang="en-US" sz="1200" dirty="0">
                <a:solidFill>
                  <a:srgbClr val="8FA3B0"/>
                </a:solidFill>
                <a:latin typeface="Courier New" pitchFamily="34" charset="0"/>
                <a:ea typeface="Courier New" pitchFamily="34" charset="-122"/>
                <a:cs typeface="Courier New" pitchFamily="34" charset="-120"/>
              </a:rPr>
              <a:t>0.30%</a:t>
            </a:r>
            <a:endParaRPr lang="en-US" sz="1200" dirty="0"/>
          </a:p>
        </p:txBody>
      </p:sp>
      <p:sp>
        <p:nvSpPr>
          <p:cNvPr id="14" name="Text 11"/>
          <p:cNvSpPr txBox="1"/>
          <p:nvPr/>
        </p:nvSpPr>
        <p:spPr>
          <a:xfrm>
            <a:off x="9966960" y="3255264"/>
            <a:ext cx="1097280" cy="365760"/>
          </a:xfrm>
          <a:prstGeom prst="rect">
            <a:avLst/>
          </a:prstGeom>
          <a:noFill/>
          <a:ln/>
        </p:spPr>
        <p:txBody>
          <a:bodyPr wrap="square" lIns="0" tIns="0" rIns="0" bIns="0" rtlCol="0" anchor="ctr"/>
          <a:lstStyle/>
          <a:p>
            <a:pPr algn="r" indent="0" marL="0">
              <a:buNone/>
            </a:pPr>
            <a:r>
              <a:rPr lang="en-US" sz="1200" b="1" dirty="0">
                <a:solidFill>
                  <a:srgbClr val="06D6A0"/>
                </a:solidFill>
                <a:latin typeface="Courier New" pitchFamily="34" charset="0"/>
                <a:ea typeface="Courier New" pitchFamily="34" charset="-122"/>
                <a:cs typeface="Courier New" pitchFamily="34" charset="-120"/>
              </a:rPr>
              <a:t>0.30%</a:t>
            </a:r>
            <a:endParaRPr lang="en-US" sz="1200" dirty="0"/>
          </a:p>
        </p:txBody>
      </p:sp>
      <p:sp>
        <p:nvSpPr>
          <p:cNvPr id="15" name="Text 12"/>
          <p:cNvSpPr txBox="1"/>
          <p:nvPr/>
        </p:nvSpPr>
        <p:spPr>
          <a:xfrm>
            <a:off x="6720840" y="3785616"/>
            <a:ext cx="2286000" cy="365760"/>
          </a:xfrm>
          <a:prstGeom prst="rect">
            <a:avLst/>
          </a:prstGeom>
          <a:noFill/>
          <a:ln/>
        </p:spPr>
        <p:txBody>
          <a:bodyPr wrap="square" lIns="0" tIns="0" rIns="0" bIns="0" rtlCol="0" anchor="ctr"/>
          <a:lstStyle/>
          <a:p>
            <a:pPr indent="0" marL="0">
              <a:buNone/>
            </a:pPr>
            <a:r>
              <a:rPr lang="en-US" sz="1200" dirty="0">
                <a:solidFill>
                  <a:srgbClr val="EAF2F6"/>
                </a:solidFill>
                <a:latin typeface="Calibri" pitchFamily="34" charset="0"/>
                <a:ea typeface="Calibri" pitchFamily="34" charset="-122"/>
                <a:cs typeface="Calibri" pitchFamily="34" charset="-120"/>
              </a:rPr>
              <a:t>Victim's loss to the attack</a:t>
            </a:r>
            <a:endParaRPr lang="en-US" sz="1200" dirty="0"/>
          </a:p>
        </p:txBody>
      </p:sp>
      <p:sp>
        <p:nvSpPr>
          <p:cNvPr id="16" name="Text 13"/>
          <p:cNvSpPr txBox="1"/>
          <p:nvPr/>
        </p:nvSpPr>
        <p:spPr>
          <a:xfrm>
            <a:off x="8915400" y="3785616"/>
            <a:ext cx="1051560" cy="365760"/>
          </a:xfrm>
          <a:prstGeom prst="rect">
            <a:avLst/>
          </a:prstGeom>
          <a:noFill/>
          <a:ln/>
        </p:spPr>
        <p:txBody>
          <a:bodyPr wrap="square" lIns="0" tIns="0" rIns="0" bIns="0" rtlCol="0" anchor="ctr"/>
          <a:lstStyle/>
          <a:p>
            <a:pPr algn="r" indent="0" marL="0">
              <a:buNone/>
            </a:pPr>
            <a:r>
              <a:rPr lang="en-US" sz="1200" dirty="0">
                <a:solidFill>
                  <a:srgbClr val="8FA3B0"/>
                </a:solidFill>
                <a:latin typeface="Courier New" pitchFamily="34" charset="0"/>
                <a:ea typeface="Courier New" pitchFamily="34" charset="-122"/>
                <a:cs typeface="Courier New" pitchFamily="34" charset="-120"/>
              </a:rPr>
              <a:t>0.000477</a:t>
            </a:r>
            <a:endParaRPr lang="en-US" sz="1200" dirty="0"/>
          </a:p>
        </p:txBody>
      </p:sp>
      <p:sp>
        <p:nvSpPr>
          <p:cNvPr id="17" name="Text 14"/>
          <p:cNvSpPr txBox="1"/>
          <p:nvPr/>
        </p:nvSpPr>
        <p:spPr>
          <a:xfrm>
            <a:off x="9966960" y="3785616"/>
            <a:ext cx="1097280" cy="365760"/>
          </a:xfrm>
          <a:prstGeom prst="rect">
            <a:avLst/>
          </a:prstGeom>
          <a:noFill/>
          <a:ln/>
        </p:spPr>
        <p:txBody>
          <a:bodyPr wrap="square" lIns="0" tIns="0" rIns="0" bIns="0" rtlCol="0" anchor="ctr"/>
          <a:lstStyle/>
          <a:p>
            <a:pPr algn="r" indent="0" marL="0">
              <a:buNone/>
            </a:pPr>
            <a:r>
              <a:rPr lang="en-US" sz="1200" b="1" dirty="0">
                <a:solidFill>
                  <a:srgbClr val="8FA3B0"/>
                </a:solidFill>
                <a:latin typeface="Courier New" pitchFamily="34" charset="0"/>
                <a:ea typeface="Courier New" pitchFamily="34" charset="-122"/>
                <a:cs typeface="Courier New" pitchFamily="34" charset="-120"/>
              </a:rPr>
              <a:t>0.000477</a:t>
            </a:r>
            <a:endParaRPr lang="en-US" sz="1200" dirty="0"/>
          </a:p>
        </p:txBody>
      </p:sp>
      <p:sp>
        <p:nvSpPr>
          <p:cNvPr id="18" name="Text 15"/>
          <p:cNvSpPr txBox="1"/>
          <p:nvPr/>
        </p:nvSpPr>
        <p:spPr>
          <a:xfrm>
            <a:off x="6720840" y="4315968"/>
            <a:ext cx="2286000" cy="365760"/>
          </a:xfrm>
          <a:prstGeom prst="rect">
            <a:avLst/>
          </a:prstGeom>
          <a:noFill/>
          <a:ln/>
        </p:spPr>
        <p:txBody>
          <a:bodyPr wrap="square" lIns="0" tIns="0" rIns="0" bIns="0" rtlCol="0" anchor="ctr"/>
          <a:lstStyle/>
          <a:p>
            <a:pPr indent="0" marL="0">
              <a:buNone/>
            </a:pPr>
            <a:r>
              <a:rPr lang="en-US" sz="1200" dirty="0">
                <a:solidFill>
                  <a:srgbClr val="EAF2F6"/>
                </a:solidFill>
                <a:latin typeface="Calibri" pitchFamily="34" charset="0"/>
                <a:ea typeface="Calibri" pitchFamily="34" charset="-122"/>
                <a:cs typeface="Calibri" pitchFamily="34" charset="-120"/>
              </a:rPr>
              <a:t>Attacker's net P&amp;L</a:t>
            </a:r>
            <a:endParaRPr lang="en-US" sz="1200" dirty="0"/>
          </a:p>
        </p:txBody>
      </p:sp>
      <p:sp>
        <p:nvSpPr>
          <p:cNvPr id="19" name="Text 16"/>
          <p:cNvSpPr txBox="1"/>
          <p:nvPr/>
        </p:nvSpPr>
        <p:spPr>
          <a:xfrm>
            <a:off x="8915400" y="4315968"/>
            <a:ext cx="1051560" cy="365760"/>
          </a:xfrm>
          <a:prstGeom prst="rect">
            <a:avLst/>
          </a:prstGeom>
          <a:noFill/>
          <a:ln/>
        </p:spPr>
        <p:txBody>
          <a:bodyPr wrap="square" lIns="0" tIns="0" rIns="0" bIns="0" rtlCol="0" anchor="ctr"/>
          <a:lstStyle/>
          <a:p>
            <a:pPr algn="r" indent="0" marL="0">
              <a:buNone/>
            </a:pPr>
            <a:r>
              <a:rPr lang="en-US" sz="1200" dirty="0">
                <a:solidFill>
                  <a:srgbClr val="8FA3B0"/>
                </a:solidFill>
                <a:latin typeface="Courier New" pitchFamily="34" charset="0"/>
                <a:ea typeface="Courier New" pitchFamily="34" charset="-122"/>
                <a:cs typeface="Courier New" pitchFamily="34" charset="-120"/>
              </a:rPr>
              <a:t>-0.011205</a:t>
            </a:r>
            <a:endParaRPr lang="en-US" sz="1200" dirty="0"/>
          </a:p>
        </p:txBody>
      </p:sp>
      <p:sp>
        <p:nvSpPr>
          <p:cNvPr id="20" name="Text 17"/>
          <p:cNvSpPr txBox="1"/>
          <p:nvPr/>
        </p:nvSpPr>
        <p:spPr>
          <a:xfrm>
            <a:off x="9966960" y="4315968"/>
            <a:ext cx="1097280" cy="365760"/>
          </a:xfrm>
          <a:prstGeom prst="rect">
            <a:avLst/>
          </a:prstGeom>
          <a:noFill/>
          <a:ln/>
        </p:spPr>
        <p:txBody>
          <a:bodyPr wrap="square" lIns="0" tIns="0" rIns="0" bIns="0" rtlCol="0" anchor="ctr"/>
          <a:lstStyle/>
          <a:p>
            <a:pPr algn="r" indent="0" marL="0">
              <a:buNone/>
            </a:pPr>
            <a:r>
              <a:rPr lang="en-US" sz="1200" b="1" dirty="0">
                <a:solidFill>
                  <a:srgbClr val="FF6B5B"/>
                </a:solidFill>
                <a:latin typeface="Courier New" pitchFamily="34" charset="0"/>
                <a:ea typeface="Courier New" pitchFamily="34" charset="-122"/>
                <a:cs typeface="Courier New" pitchFamily="34" charset="-120"/>
              </a:rPr>
              <a:t>-0.059211</a:t>
            </a:r>
            <a:endParaRPr lang="en-US" sz="1200" dirty="0"/>
          </a:p>
        </p:txBody>
      </p:sp>
      <p:sp>
        <p:nvSpPr>
          <p:cNvPr id="21" name="Text 18"/>
          <p:cNvSpPr txBox="1"/>
          <p:nvPr/>
        </p:nvSpPr>
        <p:spPr>
          <a:xfrm>
            <a:off x="640080" y="5257800"/>
            <a:ext cx="10881360" cy="548640"/>
          </a:xfrm>
          <a:prstGeom prst="rect">
            <a:avLst/>
          </a:prstGeom>
          <a:noFill/>
          <a:ln/>
        </p:spPr>
        <p:txBody>
          <a:bodyPr wrap="square" lIns="0" tIns="0" rIns="0" bIns="0" rtlCol="0" anchor="ctr"/>
          <a:lstStyle/>
          <a:p>
            <a:pPr indent="0" marL="0">
              <a:lnSpc>
                <a:spcPts val="2000"/>
              </a:lnSpc>
              <a:buNone/>
            </a:pPr>
            <a:r>
              <a:rPr lang="en-US" sz="1400" dirty="0">
                <a:solidFill>
                  <a:srgbClr val="06D6A0"/>
                </a:solidFill>
                <a:latin typeface="Calibri" pitchFamily="34" charset="0"/>
                <a:ea typeface="Calibri" pitchFamily="34" charset="-122"/>
                <a:cs typeface="Calibri" pitchFamily="34" charset="-120"/>
              </a:rPr>
              <a:t>Extra cost imposed on the attacker: 0.048 ETH — exactly the fee delta on its back-run. Change in what the victim received: zero.</a:t>
            </a:r>
            <a:endParaRPr lang="en-US" sz="1400" dirty="0"/>
          </a:p>
        </p:txBody>
      </p:sp>
      <p:sp>
        <p:nvSpPr>
          <p:cNvPr id="22" name="Text 19"/>
          <p:cNvSpPr txBox="1"/>
          <p:nvPr/>
        </p:nvSpPr>
        <p:spPr>
          <a:xfrm>
            <a:off x="640080" y="5943600"/>
            <a:ext cx="4572000" cy="292608"/>
          </a:xfrm>
          <a:prstGeom prst="rect">
            <a:avLst/>
          </a:prstGeom>
          <a:noFill/>
          <a:ln/>
        </p:spPr>
        <p:txBody>
          <a:bodyPr wrap="square" lIns="0" tIns="0" rIns="0" bIns="0" rtlCol="0" anchor="ctr"/>
          <a:lstStyle/>
          <a:p>
            <a:pPr indent="0" marL="0">
              <a:buNone/>
            </a:pPr>
            <a:r>
              <a:rPr lang="en-US" sz="1300" dirty="0">
                <a:solidFill>
                  <a:srgbClr val="FFC15E"/>
                </a:solidFill>
                <a:latin typeface="Courier New" pitchFamily="34" charset="0"/>
                <a:ea typeface="Courier New" pitchFamily="34" charset="-122"/>
                <a:cs typeface="Courier New" pitchFamily="34" charset="-120"/>
              </a:rPr>
              <a:t>make demo-economics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922"/>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300" spc="160" kern="0" dirty="0">
                <a:solidFill>
                  <a:srgbClr val="06D6A0"/>
                </a:solidFill>
                <a:latin typeface="Calibri" pitchFamily="34" charset="0"/>
                <a:ea typeface="Calibri" pitchFamily="34" charset="-122"/>
                <a:cs typeface="Calibri" pitchFamily="34" charset="-120"/>
              </a:rPr>
              <a:t>WHAT IT DOES NOT DO</a:t>
            </a:r>
            <a:endParaRPr lang="en-US" sz="1300" dirty="0"/>
          </a:p>
        </p:txBody>
      </p:sp>
      <p:sp>
        <p:nvSpPr>
          <p:cNvPr id="3" name="Text 1"/>
          <p:cNvSpPr txBox="1"/>
          <p:nvPr/>
        </p:nvSpPr>
        <p:spPr>
          <a:xfrm>
            <a:off x="640080" y="868680"/>
            <a:ext cx="10881360" cy="685800"/>
          </a:xfrm>
          <a:prstGeom prst="rect">
            <a:avLst/>
          </a:prstGeom>
          <a:noFill/>
          <a:ln/>
        </p:spPr>
        <p:txBody>
          <a:bodyPr wrap="square" lIns="0" tIns="0" rIns="0" bIns="0" rtlCol="0" anchor="ctr"/>
          <a:lstStyle/>
          <a:p>
            <a:pPr indent="0" marL="0">
              <a:buNone/>
            </a:pPr>
            <a:r>
              <a:rPr lang="en-US" sz="3400" b="1" dirty="0">
                <a:solidFill>
                  <a:srgbClr val="EAF2F6"/>
                </a:solidFill>
                <a:latin typeface="Arial" pitchFamily="34" charset="0"/>
                <a:ea typeface="Arial" pitchFamily="34" charset="-122"/>
                <a:cs typeface="Arial" pitchFamily="34" charset="-120"/>
              </a:rPr>
              <a:t>A deterrent, not a shield</a:t>
            </a:r>
            <a:endParaRPr lang="en-US" sz="3400" dirty="0"/>
          </a:p>
        </p:txBody>
      </p:sp>
      <p:sp>
        <p:nvSpPr>
          <p:cNvPr id="4" name="Shape 2"/>
          <p:cNvSpPr/>
          <p:nvPr/>
        </p:nvSpPr>
        <p:spPr>
          <a:xfrm>
            <a:off x="640080" y="1783080"/>
            <a:ext cx="10881360" cy="1371600"/>
          </a:xfrm>
          <a:prstGeom prst="roundRect">
            <a:avLst>
              <a:gd name="adj" fmla="val 5333"/>
            </a:avLst>
          </a:prstGeom>
          <a:solidFill>
            <a:srgbClr val="213341"/>
          </a:solidFill>
          <a:ln w="12700">
            <a:solidFill>
              <a:srgbClr val="213341"/>
            </a:solidFill>
            <a:prstDash val="solid"/>
          </a:ln>
        </p:spPr>
      </p:sp>
      <p:sp>
        <p:nvSpPr>
          <p:cNvPr id="5" name="Text 3"/>
          <p:cNvSpPr txBox="1"/>
          <p:nvPr/>
        </p:nvSpPr>
        <p:spPr>
          <a:xfrm>
            <a:off x="960120" y="1993392"/>
            <a:ext cx="5486400" cy="320040"/>
          </a:xfrm>
          <a:prstGeom prst="rect">
            <a:avLst/>
          </a:prstGeom>
          <a:noFill/>
          <a:ln/>
        </p:spPr>
        <p:txBody>
          <a:bodyPr wrap="square" lIns="0" tIns="0" rIns="0" bIns="0" rtlCol="0" anchor="ctr"/>
          <a:lstStyle/>
          <a:p>
            <a:pPr indent="0" marL="0">
              <a:buNone/>
            </a:pPr>
            <a:r>
              <a:rPr lang="en-US" sz="1700" b="1" dirty="0">
                <a:solidFill>
                  <a:srgbClr val="FF6B5B"/>
                </a:solidFill>
                <a:latin typeface="Arial" pitchFamily="34" charset="0"/>
                <a:ea typeface="Arial" pitchFamily="34" charset="-122"/>
                <a:cs typeface="Arial" pitchFamily="34" charset="-120"/>
              </a:rPr>
              <a:t>The victim is still sandwiched</a:t>
            </a:r>
            <a:endParaRPr lang="en-US" sz="1700" dirty="0"/>
          </a:p>
        </p:txBody>
      </p:sp>
      <p:sp>
        <p:nvSpPr>
          <p:cNvPr id="6" name="Text 4"/>
          <p:cNvSpPr txBox="1"/>
          <p:nvPr/>
        </p:nvSpPr>
        <p:spPr>
          <a:xfrm>
            <a:off x="960120" y="2340864"/>
            <a:ext cx="10241280" cy="731520"/>
          </a:xfrm>
          <a:prstGeom prst="rect">
            <a:avLst/>
          </a:prstGeom>
          <a:noFill/>
          <a:ln/>
        </p:spPr>
        <p:txBody>
          <a:bodyPr wrap="square" lIns="0" tIns="0" rIns="0" bIns="0" rtlCol="0" anchor="ctr"/>
          <a:lstStyle/>
          <a:p>
            <a:pPr indent="0" marL="0">
              <a:lnSpc>
                <a:spcPts val="1800"/>
              </a:lnSpc>
              <a:buNone/>
            </a:pPr>
            <a:r>
              <a:rPr lang="en-US" sz="1300" dirty="0">
                <a:solidFill>
                  <a:srgbClr val="8FA3B0"/>
                </a:solidFill>
                <a:latin typeface="Calibri" pitchFamily="34" charset="0"/>
                <a:ea typeface="Calibri" pitchFamily="34" charset="-122"/>
                <a:cs typeface="Calibri" pitchFamily="34" charset="-120"/>
              </a:rPr>
              <a:t>They lose the same 0.000477 ETH in both pools. The front-run lands before the victim executes, so the price has already moved — a fee charged on the back-run afterwards cannot undo that, and none of it is routed to the victim.</a:t>
            </a:r>
            <a:endParaRPr lang="en-US" sz="1300" dirty="0"/>
          </a:p>
        </p:txBody>
      </p:sp>
      <p:sp>
        <p:nvSpPr>
          <p:cNvPr id="7" name="Shape 5"/>
          <p:cNvSpPr/>
          <p:nvPr/>
        </p:nvSpPr>
        <p:spPr>
          <a:xfrm>
            <a:off x="640080" y="3337560"/>
            <a:ext cx="5120640" cy="1097280"/>
          </a:xfrm>
          <a:prstGeom prst="roundRect">
            <a:avLst>
              <a:gd name="adj" fmla="val 6667"/>
            </a:avLst>
          </a:prstGeom>
          <a:solidFill>
            <a:srgbClr val="1B2A36"/>
          </a:solidFill>
          <a:ln w="12700">
            <a:solidFill>
              <a:srgbClr val="1B2A36"/>
            </a:solidFill>
            <a:prstDash val="solid"/>
          </a:ln>
        </p:spPr>
      </p:sp>
      <p:sp>
        <p:nvSpPr>
          <p:cNvPr id="8" name="Text 6"/>
          <p:cNvSpPr txBox="1"/>
          <p:nvPr/>
        </p:nvSpPr>
        <p:spPr>
          <a:xfrm>
            <a:off x="914400" y="3483864"/>
            <a:ext cx="4572000" cy="274320"/>
          </a:xfrm>
          <a:prstGeom prst="rect">
            <a:avLst/>
          </a:prstGeom>
          <a:noFill/>
          <a:ln/>
        </p:spPr>
        <p:txBody>
          <a:bodyPr wrap="square" lIns="0" tIns="0" rIns="0" bIns="0" rtlCol="0" anchor="ctr"/>
          <a:lstStyle/>
          <a:p>
            <a:pPr indent="0" marL="0">
              <a:buNone/>
            </a:pPr>
            <a:r>
              <a:rPr lang="en-US" sz="1400" b="1" dirty="0">
                <a:solidFill>
                  <a:srgbClr val="FFC15E"/>
                </a:solidFill>
                <a:latin typeface="Arial" pitchFamily="34" charset="0"/>
                <a:ea typeface="Arial" pitchFamily="34" charset="-122"/>
                <a:cs typeface="Arial" pitchFamily="34" charset="-120"/>
              </a:rPr>
              <a:t>Pool guard hits bystanders</a:t>
            </a:r>
            <a:endParaRPr lang="en-US" sz="1400" dirty="0"/>
          </a:p>
        </p:txBody>
      </p:sp>
      <p:sp>
        <p:nvSpPr>
          <p:cNvPr id="9" name="Text 7"/>
          <p:cNvSpPr txBox="1"/>
          <p:nvPr/>
        </p:nvSpPr>
        <p:spPr>
          <a:xfrm>
            <a:off x="914400" y="3776472"/>
            <a:ext cx="4572000" cy="566928"/>
          </a:xfrm>
          <a:prstGeom prst="rect">
            <a:avLst/>
          </a:prstGeom>
          <a:noFill/>
          <a:ln/>
        </p:spPr>
        <p:txBody>
          <a:bodyPr wrap="square" lIns="0" tIns="0" rIns="0" bIns="0" rtlCol="0" anchor="ctr"/>
          <a:lstStyle/>
          <a:p>
            <a:pPr indent="0" marL="0">
              <a:lnSpc>
                <a:spcPts val="1600"/>
              </a:lnSpc>
              <a:buNone/>
            </a:pPr>
            <a:r>
              <a:rPr lang="en-US" sz="1200" dirty="0">
                <a:solidFill>
                  <a:srgbClr val="8FA3B0"/>
                </a:solidFill>
                <a:latin typeface="Calibri" pitchFamily="34" charset="0"/>
                <a:ea typeface="Calibri" pitchFamily="34" charset="-122"/>
                <a:cs typeface="Calibri" pitchFamily="34" charset="-120"/>
              </a:rPr>
              <a:t>The pool-level guard is pool-wide. Past 10 ETH in a block, a clean trader pays 1.50% too.</a:t>
            </a:r>
            <a:endParaRPr lang="en-US" sz="1200" dirty="0"/>
          </a:p>
        </p:txBody>
      </p:sp>
      <p:sp>
        <p:nvSpPr>
          <p:cNvPr id="10" name="Shape 8"/>
          <p:cNvSpPr/>
          <p:nvPr/>
        </p:nvSpPr>
        <p:spPr>
          <a:xfrm>
            <a:off x="6126480" y="3337560"/>
            <a:ext cx="5120640" cy="1097280"/>
          </a:xfrm>
          <a:prstGeom prst="roundRect">
            <a:avLst>
              <a:gd name="adj" fmla="val 6667"/>
            </a:avLst>
          </a:prstGeom>
          <a:solidFill>
            <a:srgbClr val="1B2A36"/>
          </a:solidFill>
          <a:ln w="12700">
            <a:solidFill>
              <a:srgbClr val="1B2A36"/>
            </a:solidFill>
            <a:prstDash val="solid"/>
          </a:ln>
        </p:spPr>
      </p:sp>
      <p:sp>
        <p:nvSpPr>
          <p:cNvPr id="11" name="Text 9"/>
          <p:cNvSpPr txBox="1"/>
          <p:nvPr/>
        </p:nvSpPr>
        <p:spPr>
          <a:xfrm>
            <a:off x="6400800" y="3483864"/>
            <a:ext cx="4572000" cy="274320"/>
          </a:xfrm>
          <a:prstGeom prst="rect">
            <a:avLst/>
          </a:prstGeom>
          <a:noFill/>
          <a:ln/>
        </p:spPr>
        <p:txBody>
          <a:bodyPr wrap="square" lIns="0" tIns="0" rIns="0" bIns="0" rtlCol="0" anchor="ctr"/>
          <a:lstStyle/>
          <a:p>
            <a:pPr indent="0" marL="0">
              <a:buNone/>
            </a:pPr>
            <a:r>
              <a:rPr lang="en-US" sz="1400" b="1" dirty="0">
                <a:solidFill>
                  <a:srgbClr val="FFC15E"/>
                </a:solidFill>
                <a:latin typeface="Arial" pitchFamily="34" charset="0"/>
                <a:ea typeface="Arial" pitchFamily="34" charset="-122"/>
                <a:cs typeface="Arial" pitchFamily="34" charset="-120"/>
              </a:rPr>
              <a:t>Cross-block sandwiches</a:t>
            </a:r>
            <a:endParaRPr lang="en-US" sz="1400" dirty="0"/>
          </a:p>
        </p:txBody>
      </p:sp>
      <p:sp>
        <p:nvSpPr>
          <p:cNvPr id="12" name="Text 10"/>
          <p:cNvSpPr txBox="1"/>
          <p:nvPr/>
        </p:nvSpPr>
        <p:spPr>
          <a:xfrm>
            <a:off x="6400800" y="3776472"/>
            <a:ext cx="4572000" cy="566928"/>
          </a:xfrm>
          <a:prstGeom prst="rect">
            <a:avLst/>
          </a:prstGeom>
          <a:noFill/>
          <a:ln/>
        </p:spPr>
        <p:txBody>
          <a:bodyPr wrap="square" lIns="0" tIns="0" rIns="0" bIns="0" rtlCol="0" anchor="ctr"/>
          <a:lstStyle/>
          <a:p>
            <a:pPr indent="0" marL="0">
              <a:lnSpc>
                <a:spcPts val="1600"/>
              </a:lnSpc>
              <a:buNone/>
            </a:pPr>
            <a:r>
              <a:rPr lang="en-US" sz="1200" dirty="0">
                <a:solidFill>
                  <a:srgbClr val="8FA3B0"/>
                </a:solidFill>
                <a:latin typeface="Calibri" pitchFamily="34" charset="0"/>
                <a:ea typeface="Calibri" pitchFamily="34" charset="-122"/>
                <a:cs typeface="Calibri" pitchFamily="34" charset="-120"/>
              </a:rPr>
              <a:t>State resets each block, so a buy in block N and a sell in N+1 is not caught on-chain.</a:t>
            </a:r>
            <a:endParaRPr lang="en-US" sz="1200" dirty="0"/>
          </a:p>
        </p:txBody>
      </p:sp>
      <p:sp>
        <p:nvSpPr>
          <p:cNvPr id="13" name="Shape 11"/>
          <p:cNvSpPr/>
          <p:nvPr/>
        </p:nvSpPr>
        <p:spPr>
          <a:xfrm>
            <a:off x="640080" y="4617720"/>
            <a:ext cx="5120640" cy="1097280"/>
          </a:xfrm>
          <a:prstGeom prst="roundRect">
            <a:avLst>
              <a:gd name="adj" fmla="val 6667"/>
            </a:avLst>
          </a:prstGeom>
          <a:solidFill>
            <a:srgbClr val="1B2A36"/>
          </a:solidFill>
          <a:ln w="12700">
            <a:solidFill>
              <a:srgbClr val="1B2A36"/>
            </a:solidFill>
            <a:prstDash val="solid"/>
          </a:ln>
        </p:spPr>
      </p:sp>
      <p:sp>
        <p:nvSpPr>
          <p:cNvPr id="14" name="Text 12"/>
          <p:cNvSpPr txBox="1"/>
          <p:nvPr/>
        </p:nvSpPr>
        <p:spPr>
          <a:xfrm>
            <a:off x="914400" y="4764024"/>
            <a:ext cx="4572000" cy="274320"/>
          </a:xfrm>
          <a:prstGeom prst="rect">
            <a:avLst/>
          </a:prstGeom>
          <a:noFill/>
          <a:ln/>
        </p:spPr>
        <p:txBody>
          <a:bodyPr wrap="square" lIns="0" tIns="0" rIns="0" bIns="0" rtlCol="0" anchor="ctr"/>
          <a:lstStyle/>
          <a:p>
            <a:pPr indent="0" marL="0">
              <a:buNone/>
            </a:pPr>
            <a:r>
              <a:rPr lang="en-US" sz="1400" b="1" dirty="0">
                <a:solidFill>
                  <a:srgbClr val="FFC15E"/>
                </a:solidFill>
                <a:latin typeface="Arial" pitchFamily="34" charset="0"/>
                <a:ea typeface="Arial" pitchFamily="34" charset="-122"/>
                <a:cs typeface="Arial" pitchFamily="34" charset="-120"/>
              </a:rPr>
              <a:t>ERC-4337 behind an unvetted router</a:t>
            </a:r>
            <a:endParaRPr lang="en-US" sz="1400" dirty="0"/>
          </a:p>
        </p:txBody>
      </p:sp>
      <p:sp>
        <p:nvSpPr>
          <p:cNvPr id="15" name="Text 13"/>
          <p:cNvSpPr txBox="1"/>
          <p:nvPr/>
        </p:nvSpPr>
        <p:spPr>
          <a:xfrm>
            <a:off x="914400" y="5056632"/>
            <a:ext cx="4572000" cy="566928"/>
          </a:xfrm>
          <a:prstGeom prst="rect">
            <a:avLst/>
          </a:prstGeom>
          <a:noFill/>
          <a:ln/>
        </p:spPr>
        <p:txBody>
          <a:bodyPr wrap="square" lIns="0" tIns="0" rIns="0" bIns="0" rtlCol="0" anchor="ctr"/>
          <a:lstStyle/>
          <a:p>
            <a:pPr indent="0" marL="0">
              <a:lnSpc>
                <a:spcPts val="1600"/>
              </a:lnSpc>
              <a:buNone/>
            </a:pPr>
            <a:r>
              <a:rPr lang="en-US" sz="1200" dirty="0">
                <a:solidFill>
                  <a:srgbClr val="8FA3B0"/>
                </a:solidFill>
                <a:latin typeface="Calibri" pitchFamily="34" charset="0"/>
                <a:ea typeface="Calibri" pitchFamily="34" charset="-122"/>
                <a:cs typeface="Calibri" pitchFamily="34" charset="-120"/>
              </a:rPr>
              <a:t>tx.origin is the bundler, so those users share an identity until the router is allow-listed.</a:t>
            </a:r>
            <a:endParaRPr lang="en-US" sz="1200" dirty="0"/>
          </a:p>
        </p:txBody>
      </p:sp>
      <p:sp>
        <p:nvSpPr>
          <p:cNvPr id="16" name="Shape 14"/>
          <p:cNvSpPr/>
          <p:nvPr/>
        </p:nvSpPr>
        <p:spPr>
          <a:xfrm>
            <a:off x="6126480" y="4617720"/>
            <a:ext cx="5120640" cy="1097280"/>
          </a:xfrm>
          <a:prstGeom prst="roundRect">
            <a:avLst>
              <a:gd name="adj" fmla="val 6667"/>
            </a:avLst>
          </a:prstGeom>
          <a:solidFill>
            <a:srgbClr val="1B2A36"/>
          </a:solidFill>
          <a:ln w="12700">
            <a:solidFill>
              <a:srgbClr val="1B2A36"/>
            </a:solidFill>
            <a:prstDash val="solid"/>
          </a:ln>
        </p:spPr>
      </p:sp>
      <p:sp>
        <p:nvSpPr>
          <p:cNvPr id="17" name="Text 15"/>
          <p:cNvSpPr txBox="1"/>
          <p:nvPr/>
        </p:nvSpPr>
        <p:spPr>
          <a:xfrm>
            <a:off x="6400800" y="4764024"/>
            <a:ext cx="4572000" cy="274320"/>
          </a:xfrm>
          <a:prstGeom prst="rect">
            <a:avLst/>
          </a:prstGeom>
          <a:noFill/>
          <a:ln/>
        </p:spPr>
        <p:txBody>
          <a:bodyPr wrap="square" lIns="0" tIns="0" rIns="0" bIns="0" rtlCol="0" anchor="ctr"/>
          <a:lstStyle/>
          <a:p>
            <a:pPr indent="0" marL="0">
              <a:buNone/>
            </a:pPr>
            <a:r>
              <a:rPr lang="en-US" sz="1400" b="1" dirty="0">
                <a:solidFill>
                  <a:srgbClr val="FFC15E"/>
                </a:solidFill>
                <a:latin typeface="Arial" pitchFamily="34" charset="0"/>
                <a:ea typeface="Arial" pitchFamily="34" charset="-122"/>
                <a:cs typeface="Arial" pitchFamily="34" charset="-120"/>
              </a:rPr>
              <a:t>Fresh-wallet evasion</a:t>
            </a:r>
            <a:endParaRPr lang="en-US" sz="1400" dirty="0"/>
          </a:p>
        </p:txBody>
      </p:sp>
      <p:sp>
        <p:nvSpPr>
          <p:cNvPr id="18" name="Text 16"/>
          <p:cNvSpPr txBox="1"/>
          <p:nvPr/>
        </p:nvSpPr>
        <p:spPr>
          <a:xfrm>
            <a:off x="6400800" y="5056632"/>
            <a:ext cx="4572000" cy="566928"/>
          </a:xfrm>
          <a:prstGeom prst="rect">
            <a:avLst/>
          </a:prstGeom>
          <a:noFill/>
          <a:ln/>
        </p:spPr>
        <p:txBody>
          <a:bodyPr wrap="square" lIns="0" tIns="0" rIns="0" bIns="0" rtlCol="0" anchor="ctr"/>
          <a:lstStyle/>
          <a:p>
            <a:pPr indent="0" marL="0">
              <a:lnSpc>
                <a:spcPts val="1600"/>
              </a:lnSpc>
              <a:buNone/>
            </a:pPr>
            <a:r>
              <a:rPr lang="en-US" sz="1200" dirty="0">
                <a:solidFill>
                  <a:srgbClr val="8FA3B0"/>
                </a:solidFill>
                <a:latin typeface="Calibri" pitchFamily="34" charset="0"/>
                <a:ea typeface="Calibri" pitchFamily="34" charset="-122"/>
                <a:cs typeface="Calibri" pitchFamily="34" charset="-120"/>
              </a:rPr>
              <a:t>A new address dodges reputation — but still pays the first-trade volume fee on every attempt.</a:t>
            </a:r>
            <a:endParaRPr lang="en-US" sz="1200" dirty="0"/>
          </a:p>
        </p:txBody>
      </p:sp>
      <p:sp>
        <p:nvSpPr>
          <p:cNvPr id="19" name="Text 17"/>
          <p:cNvSpPr txBox="1"/>
          <p:nvPr/>
        </p:nvSpPr>
        <p:spPr>
          <a:xfrm>
            <a:off x="640080" y="6035040"/>
            <a:ext cx="10881360" cy="274320"/>
          </a:xfrm>
          <a:prstGeom prst="rect">
            <a:avLst/>
          </a:prstGeom>
          <a:noFill/>
          <a:ln/>
        </p:spPr>
        <p:txBody>
          <a:bodyPr wrap="square" lIns="0" tIns="0" rIns="0" bIns="0" rtlCol="0" anchor="ctr"/>
          <a:lstStyle/>
          <a:p>
            <a:pPr indent="0" marL="0">
              <a:buNone/>
            </a:pPr>
            <a:r>
              <a:rPr lang="en-US" sz="1200" i="1" dirty="0">
                <a:solidFill>
                  <a:srgbClr val="06D6A0"/>
                </a:solidFill>
                <a:latin typeface="Calibri" pitchFamily="34" charset="0"/>
                <a:ea typeface="Calibri" pitchFamily="34" charset="-122"/>
                <a:cs typeface="Calibri" pitchFamily="34" charset="-120"/>
              </a:rPr>
              <a:t>Each of these is asserted by a passing test rather than left unsaid.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922"/>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300" spc="160" kern="0" dirty="0">
                <a:solidFill>
                  <a:srgbClr val="06D6A0"/>
                </a:solidFill>
                <a:latin typeface="Calibri" pitchFamily="34" charset="0"/>
                <a:ea typeface="Calibri" pitchFamily="34" charset="-122"/>
                <a:cs typeface="Calibri" pitchFamily="34" charset="-120"/>
              </a:rPr>
              <a:t>THE AVS</a:t>
            </a:r>
            <a:endParaRPr lang="en-US" sz="1300" dirty="0"/>
          </a:p>
        </p:txBody>
      </p:sp>
      <p:sp>
        <p:nvSpPr>
          <p:cNvPr id="3" name="Text 1"/>
          <p:cNvSpPr txBox="1"/>
          <p:nvPr/>
        </p:nvSpPr>
        <p:spPr>
          <a:xfrm>
            <a:off x="640080" y="868680"/>
            <a:ext cx="10881360" cy="685800"/>
          </a:xfrm>
          <a:prstGeom prst="rect">
            <a:avLst/>
          </a:prstGeom>
          <a:noFill/>
          <a:ln/>
        </p:spPr>
        <p:txBody>
          <a:bodyPr wrap="square" lIns="0" tIns="0" rIns="0" bIns="0" rtlCol="0" anchor="ctr"/>
          <a:lstStyle/>
          <a:p>
            <a:pPr indent="0" marL="0">
              <a:buNone/>
            </a:pPr>
            <a:r>
              <a:rPr lang="en-US" sz="3400" b="1" dirty="0">
                <a:solidFill>
                  <a:srgbClr val="EAF2F6"/>
                </a:solidFill>
                <a:latin typeface="Arial" pitchFamily="34" charset="0"/>
                <a:ea typeface="Arial" pitchFamily="34" charset="-122"/>
                <a:cs typeface="Arial" pitchFamily="34" charset="-120"/>
              </a:rPr>
              <a:t>Real BLS quorum, not a stub</a:t>
            </a:r>
            <a:endParaRPr lang="en-US" sz="3400" dirty="0"/>
          </a:p>
        </p:txBody>
      </p:sp>
      <p:sp>
        <p:nvSpPr>
          <p:cNvPr id="4" name="Shape 2"/>
          <p:cNvSpPr/>
          <p:nvPr/>
        </p:nvSpPr>
        <p:spPr>
          <a:xfrm>
            <a:off x="640080" y="1783080"/>
            <a:ext cx="2560320" cy="1600200"/>
          </a:xfrm>
          <a:prstGeom prst="roundRect">
            <a:avLst>
              <a:gd name="adj" fmla="val 4571"/>
            </a:avLst>
          </a:prstGeom>
          <a:solidFill>
            <a:srgbClr val="1B2A36"/>
          </a:solidFill>
          <a:ln w="12700">
            <a:solidFill>
              <a:srgbClr val="1B2A36"/>
            </a:solidFill>
            <a:prstDash val="solid"/>
          </a:ln>
        </p:spPr>
      </p:sp>
      <p:sp>
        <p:nvSpPr>
          <p:cNvPr id="5" name="Text 3"/>
          <p:cNvSpPr txBox="1"/>
          <p:nvPr/>
        </p:nvSpPr>
        <p:spPr>
          <a:xfrm>
            <a:off x="868680" y="1965960"/>
            <a:ext cx="2103120" cy="292608"/>
          </a:xfrm>
          <a:prstGeom prst="rect">
            <a:avLst/>
          </a:prstGeom>
          <a:noFill/>
          <a:ln/>
        </p:spPr>
        <p:txBody>
          <a:bodyPr wrap="square" lIns="0" tIns="0" rIns="0" bIns="0" rtlCol="0" anchor="ctr"/>
          <a:lstStyle/>
          <a:p>
            <a:pPr indent="0" marL="0">
              <a:buNone/>
            </a:pPr>
            <a:r>
              <a:rPr lang="en-US" sz="1600" b="1" dirty="0">
                <a:solidFill>
                  <a:srgbClr val="06D6A0"/>
                </a:solidFill>
                <a:latin typeface="Arial" pitchFamily="34" charset="0"/>
                <a:ea typeface="Arial" pitchFamily="34" charset="-122"/>
                <a:cs typeface="Arial" pitchFamily="34" charset="-120"/>
              </a:rPr>
              <a:t>Hook</a:t>
            </a:r>
            <a:endParaRPr lang="en-US" sz="1600" dirty="0"/>
          </a:p>
        </p:txBody>
      </p:sp>
      <p:sp>
        <p:nvSpPr>
          <p:cNvPr id="6" name="Text 4"/>
          <p:cNvSpPr txBox="1"/>
          <p:nvPr/>
        </p:nvSpPr>
        <p:spPr>
          <a:xfrm>
            <a:off x="868680" y="2286000"/>
            <a:ext cx="2103120" cy="960120"/>
          </a:xfrm>
          <a:prstGeom prst="rect">
            <a:avLst/>
          </a:prstGeom>
          <a:noFill/>
          <a:ln/>
        </p:spPr>
        <p:txBody>
          <a:bodyPr wrap="square" lIns="0" tIns="0" rIns="0" bIns="0" rtlCol="0" anchor="ctr"/>
          <a:lstStyle/>
          <a:p>
            <a:pPr indent="0" marL="0">
              <a:lnSpc>
                <a:spcPts val="1700"/>
              </a:lnSpc>
              <a:buNone/>
            </a:pPr>
            <a:r>
              <a:rPr lang="en-US" sz="1200" dirty="0">
                <a:solidFill>
                  <a:srgbClr val="8FA3B0"/>
                </a:solidFill>
                <a:latin typeface="Calibri" pitchFamily="34" charset="0"/>
                <a:ea typeface="Calibri" pitchFamily="34" charset="-122"/>
                <a:cs typeface="Calibri" pitchFamily="34" charset="-120"/>
              </a:rPr>
              <a:t>Detects the pattern and creates a scoring task on-chain.</a:t>
            </a:r>
            <a:endParaRPr lang="en-US" sz="1200" dirty="0"/>
          </a:p>
        </p:txBody>
      </p:sp>
      <p:sp>
        <p:nvSpPr>
          <p:cNvPr id="7" name="Text 5"/>
          <p:cNvSpPr txBox="1"/>
          <p:nvPr/>
        </p:nvSpPr>
        <p:spPr>
          <a:xfrm>
            <a:off x="3218688" y="2377440"/>
            <a:ext cx="219456" cy="365760"/>
          </a:xfrm>
          <a:prstGeom prst="rect">
            <a:avLst/>
          </a:prstGeom>
          <a:noFill/>
          <a:ln/>
        </p:spPr>
        <p:txBody>
          <a:bodyPr wrap="square" lIns="0" tIns="0" rIns="0" bIns="0" rtlCol="0" anchor="ctr"/>
          <a:lstStyle/>
          <a:p>
            <a:pPr algn="ctr" indent="0" marL="0">
              <a:buNone/>
            </a:pPr>
            <a:r>
              <a:rPr lang="en-US" sz="1800" dirty="0">
                <a:solidFill>
                  <a:srgbClr val="5D717E"/>
                </a:solidFill>
                <a:latin typeface="Arial" pitchFamily="34" charset="0"/>
                <a:ea typeface="Arial" pitchFamily="34" charset="-122"/>
                <a:cs typeface="Arial" pitchFamily="34" charset="-120"/>
              </a:rPr>
              <a:t>→</a:t>
            </a:r>
            <a:endParaRPr lang="en-US" sz="1800" dirty="0"/>
          </a:p>
        </p:txBody>
      </p:sp>
      <p:sp>
        <p:nvSpPr>
          <p:cNvPr id="8" name="Shape 6"/>
          <p:cNvSpPr/>
          <p:nvPr/>
        </p:nvSpPr>
        <p:spPr>
          <a:xfrm>
            <a:off x="3410712" y="1783080"/>
            <a:ext cx="2560320" cy="1600200"/>
          </a:xfrm>
          <a:prstGeom prst="roundRect">
            <a:avLst>
              <a:gd name="adj" fmla="val 4571"/>
            </a:avLst>
          </a:prstGeom>
          <a:solidFill>
            <a:srgbClr val="1B2A36"/>
          </a:solidFill>
          <a:ln w="12700">
            <a:solidFill>
              <a:srgbClr val="1B2A36"/>
            </a:solidFill>
            <a:prstDash val="solid"/>
          </a:ln>
        </p:spPr>
      </p:sp>
      <p:sp>
        <p:nvSpPr>
          <p:cNvPr id="9" name="Text 7"/>
          <p:cNvSpPr txBox="1"/>
          <p:nvPr/>
        </p:nvSpPr>
        <p:spPr>
          <a:xfrm>
            <a:off x="3639312" y="1965960"/>
            <a:ext cx="2103120" cy="292608"/>
          </a:xfrm>
          <a:prstGeom prst="rect">
            <a:avLst/>
          </a:prstGeom>
          <a:noFill/>
          <a:ln/>
        </p:spPr>
        <p:txBody>
          <a:bodyPr wrap="square" lIns="0" tIns="0" rIns="0" bIns="0" rtlCol="0" anchor="ctr"/>
          <a:lstStyle/>
          <a:p>
            <a:pPr indent="0" marL="0">
              <a:buNone/>
            </a:pPr>
            <a:r>
              <a:rPr lang="en-US" sz="1600" b="1" dirty="0">
                <a:solidFill>
                  <a:srgbClr val="06D6A0"/>
                </a:solidFill>
                <a:latin typeface="Arial" pitchFamily="34" charset="0"/>
                <a:ea typeface="Arial" pitchFamily="34" charset="-122"/>
                <a:cs typeface="Arial" pitchFamily="34" charset="-120"/>
              </a:rPr>
              <a:t>Operators</a:t>
            </a:r>
            <a:endParaRPr lang="en-US" sz="1600" dirty="0"/>
          </a:p>
        </p:txBody>
      </p:sp>
      <p:sp>
        <p:nvSpPr>
          <p:cNvPr id="10" name="Text 8"/>
          <p:cNvSpPr txBox="1"/>
          <p:nvPr/>
        </p:nvSpPr>
        <p:spPr>
          <a:xfrm>
            <a:off x="3639312" y="2286000"/>
            <a:ext cx="2103120" cy="960120"/>
          </a:xfrm>
          <a:prstGeom prst="rect">
            <a:avLst/>
          </a:prstGeom>
          <a:noFill/>
          <a:ln/>
        </p:spPr>
        <p:txBody>
          <a:bodyPr wrap="square" lIns="0" tIns="0" rIns="0" bIns="0" rtlCol="0" anchor="ctr"/>
          <a:lstStyle/>
          <a:p>
            <a:pPr indent="0" marL="0">
              <a:lnSpc>
                <a:spcPts val="1700"/>
              </a:lnSpc>
              <a:buNone/>
            </a:pPr>
            <a:r>
              <a:rPr lang="en-US" sz="1200" dirty="0">
                <a:solidFill>
                  <a:srgbClr val="8FA3B0"/>
                </a:solidFill>
                <a:latin typeface="Calibri" pitchFamily="34" charset="0"/>
                <a:ea typeface="Calibri" pitchFamily="34" charset="-122"/>
                <a:cs typeface="Calibri" pitchFamily="34" charset="-120"/>
              </a:rPr>
              <a:t>Independently replay the hook's events and compute a score.</a:t>
            </a:r>
            <a:endParaRPr lang="en-US" sz="1200" dirty="0"/>
          </a:p>
        </p:txBody>
      </p:sp>
      <p:sp>
        <p:nvSpPr>
          <p:cNvPr id="11" name="Text 9"/>
          <p:cNvSpPr txBox="1"/>
          <p:nvPr/>
        </p:nvSpPr>
        <p:spPr>
          <a:xfrm>
            <a:off x="5989320" y="2377440"/>
            <a:ext cx="219456" cy="365760"/>
          </a:xfrm>
          <a:prstGeom prst="rect">
            <a:avLst/>
          </a:prstGeom>
          <a:noFill/>
          <a:ln/>
        </p:spPr>
        <p:txBody>
          <a:bodyPr wrap="square" lIns="0" tIns="0" rIns="0" bIns="0" rtlCol="0" anchor="ctr"/>
          <a:lstStyle/>
          <a:p>
            <a:pPr algn="ctr" indent="0" marL="0">
              <a:buNone/>
            </a:pPr>
            <a:r>
              <a:rPr lang="en-US" sz="1800" dirty="0">
                <a:solidFill>
                  <a:srgbClr val="5D717E"/>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6181344" y="1783080"/>
            <a:ext cx="2560320" cy="1600200"/>
          </a:xfrm>
          <a:prstGeom prst="roundRect">
            <a:avLst>
              <a:gd name="adj" fmla="val 4571"/>
            </a:avLst>
          </a:prstGeom>
          <a:solidFill>
            <a:srgbClr val="1B2A36"/>
          </a:solidFill>
          <a:ln w="12700">
            <a:solidFill>
              <a:srgbClr val="1B2A36"/>
            </a:solidFill>
            <a:prstDash val="solid"/>
          </a:ln>
        </p:spPr>
      </p:sp>
      <p:sp>
        <p:nvSpPr>
          <p:cNvPr id="13" name="Text 11"/>
          <p:cNvSpPr txBox="1"/>
          <p:nvPr/>
        </p:nvSpPr>
        <p:spPr>
          <a:xfrm>
            <a:off x="6409944" y="1965960"/>
            <a:ext cx="2103120" cy="292608"/>
          </a:xfrm>
          <a:prstGeom prst="rect">
            <a:avLst/>
          </a:prstGeom>
          <a:noFill/>
          <a:ln/>
        </p:spPr>
        <p:txBody>
          <a:bodyPr wrap="square" lIns="0" tIns="0" rIns="0" bIns="0" rtlCol="0" anchor="ctr"/>
          <a:lstStyle/>
          <a:p>
            <a:pPr indent="0" marL="0">
              <a:buNone/>
            </a:pPr>
            <a:r>
              <a:rPr lang="en-US" sz="1600" b="1" dirty="0">
                <a:solidFill>
                  <a:srgbClr val="FFC15E"/>
                </a:solidFill>
                <a:latin typeface="Arial" pitchFamily="34" charset="0"/>
                <a:ea typeface="Arial" pitchFamily="34" charset="-122"/>
                <a:cs typeface="Arial" pitchFamily="34" charset="-120"/>
              </a:rPr>
              <a:t>Aggregator</a:t>
            </a:r>
            <a:endParaRPr lang="en-US" sz="1600" dirty="0"/>
          </a:p>
        </p:txBody>
      </p:sp>
      <p:sp>
        <p:nvSpPr>
          <p:cNvPr id="14" name="Text 12"/>
          <p:cNvSpPr txBox="1"/>
          <p:nvPr/>
        </p:nvSpPr>
        <p:spPr>
          <a:xfrm>
            <a:off x="6409944" y="2286000"/>
            <a:ext cx="2103120" cy="960120"/>
          </a:xfrm>
          <a:prstGeom prst="rect">
            <a:avLst/>
          </a:prstGeom>
          <a:noFill/>
          <a:ln/>
        </p:spPr>
        <p:txBody>
          <a:bodyPr wrap="square" lIns="0" tIns="0" rIns="0" bIns="0" rtlCol="0" anchor="ctr"/>
          <a:lstStyle/>
          <a:p>
            <a:pPr indent="0" marL="0">
              <a:lnSpc>
                <a:spcPts val="1700"/>
              </a:lnSpc>
              <a:buNone/>
            </a:pPr>
            <a:r>
              <a:rPr lang="en-US" sz="1200" dirty="0">
                <a:solidFill>
                  <a:srgbClr val="8FA3B0"/>
                </a:solidFill>
                <a:latin typeface="Calibri" pitchFamily="34" charset="0"/>
                <a:ea typeface="Calibri" pitchFamily="34" charset="-122"/>
                <a:cs typeface="Calibri" pitchFamily="34" charset="-120"/>
              </a:rPr>
              <a:t>Sums the G1 signatures and the G2 keys, submits once.</a:t>
            </a:r>
            <a:endParaRPr lang="en-US" sz="1200" dirty="0"/>
          </a:p>
        </p:txBody>
      </p:sp>
      <p:sp>
        <p:nvSpPr>
          <p:cNvPr id="15" name="Text 13"/>
          <p:cNvSpPr txBox="1"/>
          <p:nvPr/>
        </p:nvSpPr>
        <p:spPr>
          <a:xfrm>
            <a:off x="8759952" y="2377440"/>
            <a:ext cx="219456" cy="365760"/>
          </a:xfrm>
          <a:prstGeom prst="rect">
            <a:avLst/>
          </a:prstGeom>
          <a:noFill/>
          <a:ln/>
        </p:spPr>
        <p:txBody>
          <a:bodyPr wrap="square" lIns="0" tIns="0" rIns="0" bIns="0" rtlCol="0" anchor="ctr"/>
          <a:lstStyle/>
          <a:p>
            <a:pPr algn="ctr" indent="0" marL="0">
              <a:buNone/>
            </a:pPr>
            <a:r>
              <a:rPr lang="en-US" sz="1800" dirty="0">
                <a:solidFill>
                  <a:srgbClr val="5D717E"/>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8951976" y="1783080"/>
            <a:ext cx="2560320" cy="1600200"/>
          </a:xfrm>
          <a:prstGeom prst="roundRect">
            <a:avLst>
              <a:gd name="adj" fmla="val 4571"/>
            </a:avLst>
          </a:prstGeom>
          <a:solidFill>
            <a:srgbClr val="1B2A36"/>
          </a:solidFill>
          <a:ln w="12700">
            <a:solidFill>
              <a:srgbClr val="1B2A36"/>
            </a:solidFill>
            <a:prstDash val="solid"/>
          </a:ln>
        </p:spPr>
      </p:sp>
      <p:sp>
        <p:nvSpPr>
          <p:cNvPr id="17" name="Text 15"/>
          <p:cNvSpPr txBox="1"/>
          <p:nvPr/>
        </p:nvSpPr>
        <p:spPr>
          <a:xfrm>
            <a:off x="9180576" y="1965960"/>
            <a:ext cx="2103120" cy="292608"/>
          </a:xfrm>
          <a:prstGeom prst="rect">
            <a:avLst/>
          </a:prstGeom>
          <a:noFill/>
          <a:ln/>
        </p:spPr>
        <p:txBody>
          <a:bodyPr wrap="square" lIns="0" tIns="0" rIns="0" bIns="0" rtlCol="0" anchor="ctr"/>
          <a:lstStyle/>
          <a:p>
            <a:pPr indent="0" marL="0">
              <a:buNone/>
            </a:pPr>
            <a:r>
              <a:rPr lang="en-US" sz="1600" b="1" dirty="0">
                <a:solidFill>
                  <a:srgbClr val="FF6B5B"/>
                </a:solidFill>
                <a:latin typeface="Arial" pitchFamily="34" charset="0"/>
                <a:ea typeface="Arial" pitchFamily="34" charset="-122"/>
                <a:cs typeface="Arial" pitchFamily="34" charset="-120"/>
              </a:rPr>
              <a:t>Chain</a:t>
            </a:r>
            <a:endParaRPr lang="en-US" sz="1600" dirty="0"/>
          </a:p>
        </p:txBody>
      </p:sp>
      <p:sp>
        <p:nvSpPr>
          <p:cNvPr id="18" name="Text 16"/>
          <p:cNvSpPr txBox="1"/>
          <p:nvPr/>
        </p:nvSpPr>
        <p:spPr>
          <a:xfrm>
            <a:off x="9180576" y="2286000"/>
            <a:ext cx="2103120" cy="960120"/>
          </a:xfrm>
          <a:prstGeom prst="rect">
            <a:avLst/>
          </a:prstGeom>
          <a:noFill/>
          <a:ln/>
        </p:spPr>
        <p:txBody>
          <a:bodyPr wrap="square" lIns="0" tIns="0" rIns="0" bIns="0" rtlCol="0" anchor="ctr"/>
          <a:lstStyle/>
          <a:p>
            <a:pPr indent="0" marL="0">
              <a:lnSpc>
                <a:spcPts val="1700"/>
              </a:lnSpc>
              <a:buNone/>
            </a:pPr>
            <a:r>
              <a:rPr lang="en-US" sz="1200" dirty="0">
                <a:solidFill>
                  <a:srgbClr val="8FA3B0"/>
                </a:solidFill>
                <a:latin typeface="Calibri" pitchFamily="34" charset="0"/>
                <a:ea typeface="Calibri" pitchFamily="34" charset="-122"/>
                <a:cs typeface="Calibri" pitchFamily="34" charset="-120"/>
              </a:rPr>
              <a:t>Pairing precompile verifies; the oracle score is written.</a:t>
            </a:r>
            <a:endParaRPr lang="en-US" sz="1200" dirty="0"/>
          </a:p>
        </p:txBody>
      </p:sp>
      <p:sp>
        <p:nvSpPr>
          <p:cNvPr id="19" name="Shape 17"/>
          <p:cNvSpPr/>
          <p:nvPr/>
        </p:nvSpPr>
        <p:spPr>
          <a:xfrm>
            <a:off x="640080" y="3611880"/>
            <a:ext cx="5669280" cy="2148840"/>
          </a:xfrm>
          <a:prstGeom prst="roundRect">
            <a:avLst>
              <a:gd name="adj" fmla="val 3404"/>
            </a:avLst>
          </a:prstGeom>
          <a:solidFill>
            <a:srgbClr val="213341"/>
          </a:solidFill>
          <a:ln w="12700">
            <a:solidFill>
              <a:srgbClr val="213341"/>
            </a:solidFill>
            <a:prstDash val="solid"/>
          </a:ln>
        </p:spPr>
      </p:sp>
      <p:sp>
        <p:nvSpPr>
          <p:cNvPr id="20" name="Text 18"/>
          <p:cNvSpPr txBox="1"/>
          <p:nvPr/>
        </p:nvSpPr>
        <p:spPr>
          <a:xfrm>
            <a:off x="960120" y="3822192"/>
            <a:ext cx="5029200" cy="292608"/>
          </a:xfrm>
          <a:prstGeom prst="rect">
            <a:avLst/>
          </a:prstGeom>
          <a:noFill/>
          <a:ln/>
        </p:spPr>
        <p:txBody>
          <a:bodyPr wrap="square" lIns="0" tIns="0" rIns="0" bIns="0" rtlCol="0" anchor="ctr"/>
          <a:lstStyle/>
          <a:p>
            <a:pPr indent="0" marL="0">
              <a:buNone/>
            </a:pPr>
            <a:r>
              <a:rPr lang="en-US" sz="1600" b="1" dirty="0">
                <a:solidFill>
                  <a:srgbClr val="EAF2F6"/>
                </a:solidFill>
                <a:latin typeface="Arial" pitchFamily="34" charset="0"/>
                <a:ea typeface="Arial" pitchFamily="34" charset="-122"/>
                <a:cs typeface="Arial" pitchFamily="34" charset="-120"/>
              </a:rPr>
              <a:t>The verification is genuine</a:t>
            </a:r>
            <a:endParaRPr lang="en-US" sz="1600" dirty="0"/>
          </a:p>
        </p:txBody>
      </p:sp>
      <p:sp>
        <p:nvSpPr>
          <p:cNvPr id="21" name="Text 19"/>
          <p:cNvSpPr txBox="1"/>
          <p:nvPr/>
        </p:nvSpPr>
        <p:spPr>
          <a:xfrm>
            <a:off x="960120" y="4160520"/>
            <a:ext cx="5029200" cy="320040"/>
          </a:xfrm>
          <a:prstGeom prst="rect">
            <a:avLst/>
          </a:prstGeom>
          <a:noFill/>
          <a:ln/>
        </p:spPr>
        <p:txBody>
          <a:bodyPr wrap="square" lIns="0" tIns="0" rIns="0" bIns="0" rtlCol="0" anchor="ctr"/>
          <a:lstStyle/>
          <a:p>
            <a:pPr indent="0" marL="0">
              <a:buNone/>
            </a:pPr>
            <a:r>
              <a:rPr lang="en-US" sz="1200" dirty="0">
                <a:solidFill>
                  <a:srgbClr val="FFC15E"/>
                </a:solidFill>
                <a:latin typeface="Courier New" pitchFamily="34" charset="0"/>
                <a:ea typeface="Courier New" pitchFamily="34" charset="-122"/>
                <a:cs typeface="Courier New" pitchFamily="34" charset="-120"/>
              </a:rPr>
              <a:t>e(σ + γ·apkG1, −g2) · e(H(m) + γ·g1, apkG2) == 1</a:t>
            </a:r>
            <a:endParaRPr lang="en-US" sz="1200" dirty="0"/>
          </a:p>
        </p:txBody>
      </p:sp>
      <p:sp>
        <p:nvSpPr>
          <p:cNvPr id="22" name="Text 20"/>
          <p:cNvSpPr txBox="1"/>
          <p:nvPr/>
        </p:nvSpPr>
        <p:spPr>
          <a:xfrm>
            <a:off x="960120" y="4572000"/>
            <a:ext cx="5029200" cy="100584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8FA3B0"/>
                </a:solidFill>
                <a:latin typeface="Calibri" pitchFamily="34" charset="0"/>
                <a:ea typeface="Calibri" pitchFamily="34" charset="-122"/>
                <a:cs typeface="Calibri" pitchFamily="34" charset="-120"/>
              </a:rPr>
              <a:t>BN254 keys in G2, signatures in G1</a:t>
            </a:r>
            <a:endParaRPr lang="en-US" sz="1200" dirty="0"/>
          </a:p>
          <a:p>
            <a:pPr marL="342900" indent="-342900">
              <a:spcAft>
                <a:spcPts val="400"/>
              </a:spcAft>
              <a:buSzPct val="100000"/>
              <a:buChar char="•"/>
            </a:pPr>
            <a:r>
              <a:rPr lang="en-US" sz="1200" dirty="0">
                <a:solidFill>
                  <a:srgbClr val="8FA3B0"/>
                </a:solidFill>
                <a:latin typeface="Calibri" pitchFamily="34" charset="0"/>
                <a:ea typeface="Calibri" pitchFamily="34" charset="-122"/>
                <a:cs typeface="Calibri" pitchFamily="34" charset="-120"/>
              </a:rPr>
              <a:t>Signer keys summed on-chain from the registry</a:t>
            </a:r>
            <a:endParaRPr lang="en-US" sz="1200" dirty="0"/>
          </a:p>
          <a:p>
            <a:pPr marL="342900" indent="-342900">
              <a:spcAft>
                <a:spcPts val="400"/>
              </a:spcAft>
              <a:buSzPct val="100000"/>
              <a:buChar char="•"/>
            </a:pPr>
            <a:r>
              <a:rPr lang="en-US" sz="1200" dirty="0">
                <a:solidFill>
                  <a:srgbClr val="8FA3B0"/>
                </a:solidFill>
                <a:latin typeface="Calibri" pitchFamily="34" charset="0"/>
                <a:ea typeface="Calibri" pitchFamily="34" charset="-122"/>
                <a:cs typeface="Calibri" pitchFamily="34" charset="-120"/>
              </a:rPr>
              <a:t>Forged signatures and duplicate signers rejected</a:t>
            </a:r>
            <a:endParaRPr lang="en-US" sz="1200" dirty="0"/>
          </a:p>
        </p:txBody>
      </p:sp>
      <p:sp>
        <p:nvSpPr>
          <p:cNvPr id="23" name="Shape 21"/>
          <p:cNvSpPr/>
          <p:nvPr/>
        </p:nvSpPr>
        <p:spPr>
          <a:xfrm>
            <a:off x="6675120" y="3611880"/>
            <a:ext cx="4572000" cy="2148840"/>
          </a:xfrm>
          <a:prstGeom prst="roundRect">
            <a:avLst>
              <a:gd name="adj" fmla="val 3404"/>
            </a:avLst>
          </a:prstGeom>
          <a:solidFill>
            <a:srgbClr val="1B2A36"/>
          </a:solidFill>
          <a:ln w="12700">
            <a:solidFill>
              <a:srgbClr val="1B2A36"/>
            </a:solidFill>
            <a:prstDash val="solid"/>
          </a:ln>
        </p:spPr>
      </p:sp>
      <p:sp>
        <p:nvSpPr>
          <p:cNvPr id="24" name="Text 22"/>
          <p:cNvSpPr txBox="1"/>
          <p:nvPr/>
        </p:nvSpPr>
        <p:spPr>
          <a:xfrm>
            <a:off x="6995160" y="3822192"/>
            <a:ext cx="3931920" cy="292608"/>
          </a:xfrm>
          <a:prstGeom prst="rect">
            <a:avLst/>
          </a:prstGeom>
          <a:noFill/>
          <a:ln/>
        </p:spPr>
        <p:txBody>
          <a:bodyPr wrap="square" lIns="0" tIns="0" rIns="0" bIns="0" rtlCol="0" anchor="ctr"/>
          <a:lstStyle/>
          <a:p>
            <a:pPr indent="0" marL="0">
              <a:buNone/>
            </a:pPr>
            <a:r>
              <a:rPr lang="en-US" sz="1600" b="1" dirty="0">
                <a:solidFill>
                  <a:srgbClr val="EAF2F6"/>
                </a:solidFill>
                <a:latin typeface="Arial" pitchFamily="34" charset="0"/>
                <a:ea typeface="Arial" pitchFamily="34" charset="-122"/>
                <a:cs typeface="Arial" pitchFamily="34" charset="-120"/>
              </a:rPr>
              <a:t>Scoring weights</a:t>
            </a:r>
            <a:endParaRPr lang="en-US" sz="1600" dirty="0"/>
          </a:p>
        </p:txBody>
      </p:sp>
      <p:sp>
        <p:nvSpPr>
          <p:cNvPr id="25" name="Text 23"/>
          <p:cNvSpPr txBox="1"/>
          <p:nvPr/>
        </p:nvSpPr>
        <p:spPr>
          <a:xfrm>
            <a:off x="6995160" y="4224528"/>
            <a:ext cx="2926080" cy="292608"/>
          </a:xfrm>
          <a:prstGeom prst="rect">
            <a:avLst/>
          </a:prstGeom>
          <a:noFill/>
          <a:ln/>
        </p:spPr>
        <p:txBody>
          <a:bodyPr wrap="square" lIns="0" tIns="0" rIns="0" bIns="0" rtlCol="0" anchor="ctr"/>
          <a:lstStyle/>
          <a:p>
            <a:pPr indent="0" marL="0">
              <a:buNone/>
            </a:pPr>
            <a:r>
              <a:rPr lang="en-US" sz="1200" dirty="0">
                <a:solidFill>
                  <a:srgbClr val="8FA3B0"/>
                </a:solidFill>
                <a:latin typeface="Calibri" pitchFamily="34" charset="0"/>
                <a:ea typeface="Calibri" pitchFamily="34" charset="-122"/>
                <a:cs typeface="Calibri" pitchFamily="34" charset="-120"/>
              </a:rPr>
              <a:t>Sandwich detected</a:t>
            </a:r>
            <a:endParaRPr lang="en-US" sz="1200" dirty="0"/>
          </a:p>
        </p:txBody>
      </p:sp>
      <p:sp>
        <p:nvSpPr>
          <p:cNvPr id="26" name="Text 24"/>
          <p:cNvSpPr txBox="1"/>
          <p:nvPr/>
        </p:nvSpPr>
        <p:spPr>
          <a:xfrm>
            <a:off x="9966960" y="4224528"/>
            <a:ext cx="914400" cy="292608"/>
          </a:xfrm>
          <a:prstGeom prst="rect">
            <a:avLst/>
          </a:prstGeom>
          <a:noFill/>
          <a:ln/>
        </p:spPr>
        <p:txBody>
          <a:bodyPr wrap="square" lIns="0" tIns="0" rIns="0" bIns="0" rtlCol="0" anchor="ctr"/>
          <a:lstStyle/>
          <a:p>
            <a:pPr algn="r" indent="0" marL="0">
              <a:buNone/>
            </a:pPr>
            <a:r>
              <a:rPr lang="en-US" sz="1200" b="1" dirty="0">
                <a:solidFill>
                  <a:srgbClr val="FFC15E"/>
                </a:solidFill>
                <a:latin typeface="Courier New" pitchFamily="34" charset="0"/>
                <a:ea typeface="Courier New" pitchFamily="34" charset="-122"/>
                <a:cs typeface="Courier New" pitchFamily="34" charset="-120"/>
              </a:rPr>
              <a:t>+35</a:t>
            </a:r>
            <a:endParaRPr lang="en-US" sz="1200" dirty="0"/>
          </a:p>
        </p:txBody>
      </p:sp>
      <p:sp>
        <p:nvSpPr>
          <p:cNvPr id="27" name="Text 25"/>
          <p:cNvSpPr txBox="1"/>
          <p:nvPr/>
        </p:nvSpPr>
        <p:spPr>
          <a:xfrm>
            <a:off x="6995160" y="4590288"/>
            <a:ext cx="2926080" cy="292608"/>
          </a:xfrm>
          <a:prstGeom prst="rect">
            <a:avLst/>
          </a:prstGeom>
          <a:noFill/>
          <a:ln/>
        </p:spPr>
        <p:txBody>
          <a:bodyPr wrap="square" lIns="0" tIns="0" rIns="0" bIns="0" rtlCol="0" anchor="ctr"/>
          <a:lstStyle/>
          <a:p>
            <a:pPr indent="0" marL="0">
              <a:buNone/>
            </a:pPr>
            <a:r>
              <a:rPr lang="en-US" sz="1200" dirty="0">
                <a:solidFill>
                  <a:srgbClr val="8FA3B0"/>
                </a:solidFill>
                <a:latin typeface="Calibri" pitchFamily="34" charset="0"/>
                <a:ea typeface="Calibri" pitchFamily="34" charset="-122"/>
                <a:cs typeface="Calibri" pitchFamily="34" charset="-120"/>
              </a:rPr>
              <a:t>Volume breach</a:t>
            </a:r>
            <a:endParaRPr lang="en-US" sz="1200" dirty="0"/>
          </a:p>
        </p:txBody>
      </p:sp>
      <p:sp>
        <p:nvSpPr>
          <p:cNvPr id="28" name="Text 26"/>
          <p:cNvSpPr txBox="1"/>
          <p:nvPr/>
        </p:nvSpPr>
        <p:spPr>
          <a:xfrm>
            <a:off x="9966960" y="4590288"/>
            <a:ext cx="914400" cy="292608"/>
          </a:xfrm>
          <a:prstGeom prst="rect">
            <a:avLst/>
          </a:prstGeom>
          <a:noFill/>
          <a:ln/>
        </p:spPr>
        <p:txBody>
          <a:bodyPr wrap="square" lIns="0" tIns="0" rIns="0" bIns="0" rtlCol="0" anchor="ctr"/>
          <a:lstStyle/>
          <a:p>
            <a:pPr algn="r" indent="0" marL="0">
              <a:buNone/>
            </a:pPr>
            <a:r>
              <a:rPr lang="en-US" sz="1200" b="1" dirty="0">
                <a:solidFill>
                  <a:srgbClr val="FFC15E"/>
                </a:solidFill>
                <a:latin typeface="Courier New" pitchFamily="34" charset="0"/>
                <a:ea typeface="Courier New" pitchFamily="34" charset="-122"/>
                <a:cs typeface="Courier New" pitchFamily="34" charset="-120"/>
              </a:rPr>
              <a:t>+30</a:t>
            </a:r>
            <a:endParaRPr lang="en-US" sz="1200" dirty="0"/>
          </a:p>
        </p:txBody>
      </p:sp>
      <p:sp>
        <p:nvSpPr>
          <p:cNvPr id="29" name="Text 27"/>
          <p:cNvSpPr txBox="1"/>
          <p:nvPr/>
        </p:nvSpPr>
        <p:spPr>
          <a:xfrm>
            <a:off x="6995160" y="4956048"/>
            <a:ext cx="2926080" cy="292608"/>
          </a:xfrm>
          <a:prstGeom prst="rect">
            <a:avLst/>
          </a:prstGeom>
          <a:noFill/>
          <a:ln/>
        </p:spPr>
        <p:txBody>
          <a:bodyPr wrap="square" lIns="0" tIns="0" rIns="0" bIns="0" rtlCol="0" anchor="ctr"/>
          <a:lstStyle/>
          <a:p>
            <a:pPr indent="0" marL="0">
              <a:buNone/>
            </a:pPr>
            <a:r>
              <a:rPr lang="en-US" sz="1200" dirty="0">
                <a:solidFill>
                  <a:srgbClr val="8FA3B0"/>
                </a:solidFill>
                <a:latin typeface="Calibri" pitchFamily="34" charset="0"/>
                <a:ea typeface="Calibri" pitchFamily="34" charset="-122"/>
                <a:cs typeface="Calibri" pitchFamily="34" charset="-120"/>
              </a:rPr>
              <a:t>JIT detected</a:t>
            </a:r>
            <a:endParaRPr lang="en-US" sz="1200" dirty="0"/>
          </a:p>
        </p:txBody>
      </p:sp>
      <p:sp>
        <p:nvSpPr>
          <p:cNvPr id="30" name="Text 28"/>
          <p:cNvSpPr txBox="1"/>
          <p:nvPr/>
        </p:nvSpPr>
        <p:spPr>
          <a:xfrm>
            <a:off x="9966960" y="4956048"/>
            <a:ext cx="914400" cy="292608"/>
          </a:xfrm>
          <a:prstGeom prst="rect">
            <a:avLst/>
          </a:prstGeom>
          <a:noFill/>
          <a:ln/>
        </p:spPr>
        <p:txBody>
          <a:bodyPr wrap="square" lIns="0" tIns="0" rIns="0" bIns="0" rtlCol="0" anchor="ctr"/>
          <a:lstStyle/>
          <a:p>
            <a:pPr algn="r" indent="0" marL="0">
              <a:buNone/>
            </a:pPr>
            <a:r>
              <a:rPr lang="en-US" sz="1200" b="1" dirty="0">
                <a:solidFill>
                  <a:srgbClr val="FFC15E"/>
                </a:solidFill>
                <a:latin typeface="Courier New" pitchFamily="34" charset="0"/>
                <a:ea typeface="Courier New" pitchFamily="34" charset="-122"/>
                <a:cs typeface="Courier New" pitchFamily="34" charset="-120"/>
              </a:rPr>
              <a:t>+25</a:t>
            </a:r>
            <a:endParaRPr lang="en-US" sz="1200" dirty="0"/>
          </a:p>
        </p:txBody>
      </p:sp>
      <p:sp>
        <p:nvSpPr>
          <p:cNvPr id="31" name="Text 29"/>
          <p:cNvSpPr txBox="1"/>
          <p:nvPr/>
        </p:nvSpPr>
        <p:spPr>
          <a:xfrm>
            <a:off x="6995160" y="5321808"/>
            <a:ext cx="2926080" cy="292608"/>
          </a:xfrm>
          <a:prstGeom prst="rect">
            <a:avLst/>
          </a:prstGeom>
          <a:noFill/>
          <a:ln/>
        </p:spPr>
        <p:txBody>
          <a:bodyPr wrap="square" lIns="0" tIns="0" rIns="0" bIns="0" rtlCol="0" anchor="ctr"/>
          <a:lstStyle/>
          <a:p>
            <a:pPr indent="0" marL="0">
              <a:buNone/>
            </a:pPr>
            <a:r>
              <a:rPr lang="en-US" sz="1200" dirty="0">
                <a:solidFill>
                  <a:srgbClr val="8FA3B0"/>
                </a:solidFill>
                <a:latin typeface="Calibri" pitchFamily="34" charset="0"/>
                <a:ea typeface="Calibri" pitchFamily="34" charset="-122"/>
                <a:cs typeface="Calibri" pitchFamily="34" charset="-120"/>
              </a:rPr>
              <a:t>Round-trip pattern</a:t>
            </a:r>
            <a:endParaRPr lang="en-US" sz="1200" dirty="0"/>
          </a:p>
        </p:txBody>
      </p:sp>
      <p:sp>
        <p:nvSpPr>
          <p:cNvPr id="32" name="Text 30"/>
          <p:cNvSpPr txBox="1"/>
          <p:nvPr/>
        </p:nvSpPr>
        <p:spPr>
          <a:xfrm>
            <a:off x="9966960" y="5321808"/>
            <a:ext cx="914400" cy="292608"/>
          </a:xfrm>
          <a:prstGeom prst="rect">
            <a:avLst/>
          </a:prstGeom>
          <a:noFill/>
          <a:ln/>
        </p:spPr>
        <p:txBody>
          <a:bodyPr wrap="square" lIns="0" tIns="0" rIns="0" bIns="0" rtlCol="0" anchor="ctr"/>
          <a:lstStyle/>
          <a:p>
            <a:pPr algn="r" indent="0" marL="0">
              <a:buNone/>
            </a:pPr>
            <a:r>
              <a:rPr lang="en-US" sz="1200" b="1" dirty="0">
                <a:solidFill>
                  <a:srgbClr val="FFC15E"/>
                </a:solidFill>
                <a:latin typeface="Courier New" pitchFamily="34" charset="0"/>
                <a:ea typeface="Courier New" pitchFamily="34" charset="-122"/>
                <a:cs typeface="Courier New" pitchFamily="34" charset="-120"/>
              </a:rPr>
              <a:t>+20</a:t>
            </a:r>
            <a:endParaRPr lang="en-US" sz="1200" dirty="0"/>
          </a:p>
        </p:txBody>
      </p:sp>
      <p:sp>
        <p:nvSpPr>
          <p:cNvPr id="33" name="Text 31"/>
          <p:cNvSpPr txBox="1"/>
          <p:nvPr/>
        </p:nvSpPr>
        <p:spPr>
          <a:xfrm>
            <a:off x="640080" y="5989320"/>
            <a:ext cx="10881360" cy="274320"/>
          </a:xfrm>
          <a:prstGeom prst="rect">
            <a:avLst/>
          </a:prstGeom>
          <a:noFill/>
          <a:ln/>
        </p:spPr>
        <p:txBody>
          <a:bodyPr wrap="square" lIns="0" tIns="0" rIns="0" bIns="0" rtlCol="0" anchor="ctr"/>
          <a:lstStyle/>
          <a:p>
            <a:pPr indent="0" marL="0">
              <a:buNone/>
            </a:pPr>
            <a:r>
              <a:rPr lang="en-US" sz="1200" i="1" dirty="0">
                <a:solidFill>
                  <a:srgbClr val="06D6A0"/>
                </a:solidFill>
                <a:latin typeface="Calibri" pitchFamily="34" charset="0"/>
                <a:ea typeface="Calibri" pitchFamily="34" charset="-122"/>
                <a:cs typeface="Calibri" pitchFamily="34" charset="-120"/>
              </a:rPr>
              <a:t>Scores decay 5 points a day, so a reformed address heals back to clean.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922"/>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300" spc="160" kern="0" dirty="0">
                <a:solidFill>
                  <a:srgbClr val="06D6A0"/>
                </a:solidFill>
                <a:latin typeface="Calibri" pitchFamily="34" charset="0"/>
                <a:ea typeface="Calibri" pitchFamily="34" charset="-122"/>
                <a:cs typeface="Calibri" pitchFamily="34" charset="-120"/>
              </a:rPr>
              <a:t>FUNCTIONALITY</a:t>
            </a:r>
            <a:endParaRPr lang="en-US" sz="1300" dirty="0"/>
          </a:p>
        </p:txBody>
      </p:sp>
      <p:sp>
        <p:nvSpPr>
          <p:cNvPr id="3" name="Text 1"/>
          <p:cNvSpPr txBox="1"/>
          <p:nvPr/>
        </p:nvSpPr>
        <p:spPr>
          <a:xfrm>
            <a:off x="640080" y="868680"/>
            <a:ext cx="10881360" cy="685800"/>
          </a:xfrm>
          <a:prstGeom prst="rect">
            <a:avLst/>
          </a:prstGeom>
          <a:noFill/>
          <a:ln/>
        </p:spPr>
        <p:txBody>
          <a:bodyPr wrap="square" lIns="0" tIns="0" rIns="0" bIns="0" rtlCol="0" anchor="ctr"/>
          <a:lstStyle/>
          <a:p>
            <a:pPr indent="0" marL="0">
              <a:buNone/>
            </a:pPr>
            <a:r>
              <a:rPr lang="en-US" sz="3400" b="1" dirty="0">
                <a:solidFill>
                  <a:srgbClr val="EAF2F6"/>
                </a:solidFill>
                <a:latin typeface="Arial" pitchFamily="34" charset="0"/>
                <a:ea typeface="Arial" pitchFamily="34" charset="-122"/>
                <a:cs typeface="Arial" pitchFamily="34" charset="-120"/>
              </a:rPr>
              <a:t>247 tests, and a loop that closes on a real chain</a:t>
            </a:r>
            <a:endParaRPr lang="en-US" sz="3400" dirty="0"/>
          </a:p>
        </p:txBody>
      </p:sp>
      <p:sp>
        <p:nvSpPr>
          <p:cNvPr id="4" name="Shape 2"/>
          <p:cNvSpPr/>
          <p:nvPr/>
        </p:nvSpPr>
        <p:spPr>
          <a:xfrm>
            <a:off x="640080" y="1737360"/>
            <a:ext cx="5669280" cy="3291840"/>
          </a:xfrm>
          <a:prstGeom prst="roundRect">
            <a:avLst>
              <a:gd name="adj" fmla="val 2222"/>
            </a:avLst>
          </a:prstGeom>
          <a:solidFill>
            <a:srgbClr val="1B2A36"/>
          </a:solidFill>
          <a:ln w="12700">
            <a:solidFill>
              <a:srgbClr val="1B2A36"/>
            </a:solidFill>
            <a:prstDash val="solid"/>
          </a:ln>
        </p:spPr>
      </p:sp>
      <p:sp>
        <p:nvSpPr>
          <p:cNvPr id="5" name="Text 3"/>
          <p:cNvSpPr txBox="1"/>
          <p:nvPr/>
        </p:nvSpPr>
        <p:spPr>
          <a:xfrm>
            <a:off x="914400" y="1920240"/>
            <a:ext cx="5029200" cy="274320"/>
          </a:xfrm>
          <a:prstGeom prst="rect">
            <a:avLst/>
          </a:prstGeom>
          <a:noFill/>
          <a:ln/>
        </p:spPr>
        <p:txBody>
          <a:bodyPr wrap="square" lIns="0" tIns="0" rIns="0" bIns="0" rtlCol="0" anchor="ctr"/>
          <a:lstStyle/>
          <a:p>
            <a:pPr indent="0" marL="0">
              <a:buNone/>
            </a:pPr>
            <a:r>
              <a:rPr lang="en-US" sz="1500" b="1" dirty="0">
                <a:solidFill>
                  <a:srgbClr val="EAF2F6"/>
                </a:solidFill>
                <a:latin typeface="Arial" pitchFamily="34" charset="0"/>
                <a:ea typeface="Arial" pitchFamily="34" charset="-122"/>
                <a:cs typeface="Arial" pitchFamily="34" charset="-120"/>
              </a:rPr>
              <a:t>What the suite proves</a:t>
            </a:r>
            <a:endParaRPr lang="en-US" sz="1500" dirty="0"/>
          </a:p>
        </p:txBody>
      </p:sp>
      <p:sp>
        <p:nvSpPr>
          <p:cNvPr id="6" name="Text 4"/>
          <p:cNvSpPr txBox="1"/>
          <p:nvPr/>
        </p:nvSpPr>
        <p:spPr>
          <a:xfrm>
            <a:off x="914400" y="2286000"/>
            <a:ext cx="4114800" cy="329184"/>
          </a:xfrm>
          <a:prstGeom prst="rect">
            <a:avLst/>
          </a:prstGeom>
          <a:noFill/>
          <a:ln/>
        </p:spPr>
        <p:txBody>
          <a:bodyPr wrap="square" lIns="0" tIns="0" rIns="0" bIns="0" rtlCol="0" anchor="ctr"/>
          <a:lstStyle/>
          <a:p>
            <a:pPr indent="0" marL="0">
              <a:buNone/>
            </a:pPr>
            <a:r>
              <a:rPr lang="en-US" sz="1200" dirty="0">
                <a:solidFill>
                  <a:srgbClr val="8FA3B0"/>
                </a:solidFill>
                <a:latin typeface="Calibri" pitchFamily="34" charset="0"/>
                <a:ea typeface="Calibri" pitchFamily="34" charset="-122"/>
                <a:cs typeface="Calibri" pitchFamily="34" charset="-120"/>
              </a:rPr>
              <a:t>Trader vs router identity</a:t>
            </a:r>
            <a:endParaRPr lang="en-US" sz="1200" dirty="0"/>
          </a:p>
        </p:txBody>
      </p:sp>
      <p:sp>
        <p:nvSpPr>
          <p:cNvPr id="7" name="Text 5"/>
          <p:cNvSpPr txBox="1"/>
          <p:nvPr/>
        </p:nvSpPr>
        <p:spPr>
          <a:xfrm>
            <a:off x="5120640" y="2286000"/>
            <a:ext cx="822960" cy="329184"/>
          </a:xfrm>
          <a:prstGeom prst="rect">
            <a:avLst/>
          </a:prstGeom>
          <a:noFill/>
          <a:ln/>
        </p:spPr>
        <p:txBody>
          <a:bodyPr wrap="square" lIns="0" tIns="0" rIns="0" bIns="0" rtlCol="0" anchor="ctr"/>
          <a:lstStyle/>
          <a:p>
            <a:pPr algn="r" indent="0" marL="0">
              <a:buNone/>
            </a:pPr>
            <a:r>
              <a:rPr lang="en-US" sz="1300" b="1" dirty="0">
                <a:solidFill>
                  <a:srgbClr val="FFC15E"/>
                </a:solidFill>
                <a:latin typeface="Courier New" pitchFamily="34" charset="0"/>
                <a:ea typeface="Courier New" pitchFamily="34" charset="-122"/>
                <a:cs typeface="Courier New" pitchFamily="34" charset="-120"/>
              </a:rPr>
              <a:t>21</a:t>
            </a:r>
            <a:endParaRPr lang="en-US" sz="1300" dirty="0"/>
          </a:p>
        </p:txBody>
      </p:sp>
      <p:sp>
        <p:nvSpPr>
          <p:cNvPr id="8" name="Text 6"/>
          <p:cNvSpPr txBox="1"/>
          <p:nvPr/>
        </p:nvSpPr>
        <p:spPr>
          <a:xfrm>
            <a:off x="914400" y="2688336"/>
            <a:ext cx="4114800" cy="329184"/>
          </a:xfrm>
          <a:prstGeom prst="rect">
            <a:avLst/>
          </a:prstGeom>
          <a:noFill/>
          <a:ln/>
        </p:spPr>
        <p:txBody>
          <a:bodyPr wrap="square" lIns="0" tIns="0" rIns="0" bIns="0" rtlCol="0" anchor="ctr"/>
          <a:lstStyle/>
          <a:p>
            <a:pPr indent="0" marL="0">
              <a:buNone/>
            </a:pPr>
            <a:r>
              <a:rPr lang="en-US" sz="1200" dirty="0">
                <a:solidFill>
                  <a:srgbClr val="8FA3B0"/>
                </a:solidFill>
                <a:latin typeface="Calibri" pitchFamily="34" charset="0"/>
                <a:ea typeface="Calibri" pitchFamily="34" charset="-122"/>
                <a:cs typeface="Calibri" pitchFamily="34" charset="-120"/>
              </a:rPr>
              <a:t>BLS quorum, real signatures</a:t>
            </a:r>
            <a:endParaRPr lang="en-US" sz="1200" dirty="0"/>
          </a:p>
        </p:txBody>
      </p:sp>
      <p:sp>
        <p:nvSpPr>
          <p:cNvPr id="9" name="Text 7"/>
          <p:cNvSpPr txBox="1"/>
          <p:nvPr/>
        </p:nvSpPr>
        <p:spPr>
          <a:xfrm>
            <a:off x="5120640" y="2688336"/>
            <a:ext cx="822960" cy="329184"/>
          </a:xfrm>
          <a:prstGeom prst="rect">
            <a:avLst/>
          </a:prstGeom>
          <a:noFill/>
          <a:ln/>
        </p:spPr>
        <p:txBody>
          <a:bodyPr wrap="square" lIns="0" tIns="0" rIns="0" bIns="0" rtlCol="0" anchor="ctr"/>
          <a:lstStyle/>
          <a:p>
            <a:pPr algn="r" indent="0" marL="0">
              <a:buNone/>
            </a:pPr>
            <a:r>
              <a:rPr lang="en-US" sz="1300" b="1" dirty="0">
                <a:solidFill>
                  <a:srgbClr val="FFC15E"/>
                </a:solidFill>
                <a:latin typeface="Courier New" pitchFamily="34" charset="0"/>
                <a:ea typeface="Courier New" pitchFamily="34" charset="-122"/>
                <a:cs typeface="Courier New" pitchFamily="34" charset="-120"/>
              </a:rPr>
              <a:t>13</a:t>
            </a:r>
            <a:endParaRPr lang="en-US" sz="1300" dirty="0"/>
          </a:p>
        </p:txBody>
      </p:sp>
      <p:sp>
        <p:nvSpPr>
          <p:cNvPr id="10" name="Text 8"/>
          <p:cNvSpPr txBox="1"/>
          <p:nvPr/>
        </p:nvSpPr>
        <p:spPr>
          <a:xfrm>
            <a:off x="914400" y="3090672"/>
            <a:ext cx="4114800" cy="329184"/>
          </a:xfrm>
          <a:prstGeom prst="rect">
            <a:avLst/>
          </a:prstGeom>
          <a:noFill/>
          <a:ln/>
        </p:spPr>
        <p:txBody>
          <a:bodyPr wrap="square" lIns="0" tIns="0" rIns="0" bIns="0" rtlCol="0" anchor="ctr"/>
          <a:lstStyle/>
          <a:p>
            <a:pPr indent="0" marL="0">
              <a:buNone/>
            </a:pPr>
            <a:r>
              <a:rPr lang="en-US" sz="1200" dirty="0">
                <a:solidFill>
                  <a:srgbClr val="8FA3B0"/>
                </a:solidFill>
                <a:latin typeface="Calibri" pitchFamily="34" charset="0"/>
                <a:ea typeface="Calibri" pitchFamily="34" charset="-122"/>
                <a:cs typeface="Calibri" pitchFamily="34" charset="-120"/>
              </a:rPr>
              <a:t>Volume tiers + pool guard</a:t>
            </a:r>
            <a:endParaRPr lang="en-US" sz="1200" dirty="0"/>
          </a:p>
        </p:txBody>
      </p:sp>
      <p:sp>
        <p:nvSpPr>
          <p:cNvPr id="11" name="Text 9"/>
          <p:cNvSpPr txBox="1"/>
          <p:nvPr/>
        </p:nvSpPr>
        <p:spPr>
          <a:xfrm>
            <a:off x="5120640" y="3090672"/>
            <a:ext cx="822960" cy="329184"/>
          </a:xfrm>
          <a:prstGeom prst="rect">
            <a:avLst/>
          </a:prstGeom>
          <a:noFill/>
          <a:ln/>
        </p:spPr>
        <p:txBody>
          <a:bodyPr wrap="square" lIns="0" tIns="0" rIns="0" bIns="0" rtlCol="0" anchor="ctr"/>
          <a:lstStyle/>
          <a:p>
            <a:pPr algn="r" indent="0" marL="0">
              <a:buNone/>
            </a:pPr>
            <a:r>
              <a:rPr lang="en-US" sz="1300" b="1" dirty="0">
                <a:solidFill>
                  <a:srgbClr val="FFC15E"/>
                </a:solidFill>
                <a:latin typeface="Courier New" pitchFamily="34" charset="0"/>
                <a:ea typeface="Courier New" pitchFamily="34" charset="-122"/>
                <a:cs typeface="Courier New" pitchFamily="34" charset="-120"/>
              </a:rPr>
              <a:t>26</a:t>
            </a:r>
            <a:endParaRPr lang="en-US" sz="1300" dirty="0"/>
          </a:p>
        </p:txBody>
      </p:sp>
      <p:sp>
        <p:nvSpPr>
          <p:cNvPr id="12" name="Text 10"/>
          <p:cNvSpPr txBox="1"/>
          <p:nvPr/>
        </p:nvSpPr>
        <p:spPr>
          <a:xfrm>
            <a:off x="914400" y="3493008"/>
            <a:ext cx="4114800" cy="329184"/>
          </a:xfrm>
          <a:prstGeom prst="rect">
            <a:avLst/>
          </a:prstGeom>
          <a:noFill/>
          <a:ln/>
        </p:spPr>
        <p:txBody>
          <a:bodyPr wrap="square" lIns="0" tIns="0" rIns="0" bIns="0" rtlCol="0" anchor="ctr"/>
          <a:lstStyle/>
          <a:p>
            <a:pPr indent="0" marL="0">
              <a:buNone/>
            </a:pPr>
            <a:r>
              <a:rPr lang="en-US" sz="1200" dirty="0">
                <a:solidFill>
                  <a:srgbClr val="8FA3B0"/>
                </a:solidFill>
                <a:latin typeface="Calibri" pitchFamily="34" charset="0"/>
                <a:ea typeface="Calibri" pitchFamily="34" charset="-122"/>
                <a:cs typeface="Calibri" pitchFamily="34" charset="-120"/>
              </a:rPr>
              <a:t>Storage survives across txs</a:t>
            </a:r>
            <a:endParaRPr lang="en-US" sz="1200" dirty="0"/>
          </a:p>
        </p:txBody>
      </p:sp>
      <p:sp>
        <p:nvSpPr>
          <p:cNvPr id="13" name="Text 11"/>
          <p:cNvSpPr txBox="1"/>
          <p:nvPr/>
        </p:nvSpPr>
        <p:spPr>
          <a:xfrm>
            <a:off x="5120640" y="3493008"/>
            <a:ext cx="822960" cy="329184"/>
          </a:xfrm>
          <a:prstGeom prst="rect">
            <a:avLst/>
          </a:prstGeom>
          <a:noFill/>
          <a:ln/>
        </p:spPr>
        <p:txBody>
          <a:bodyPr wrap="square" lIns="0" tIns="0" rIns="0" bIns="0" rtlCol="0" anchor="ctr"/>
          <a:lstStyle/>
          <a:p>
            <a:pPr algn="r" indent="0" marL="0">
              <a:buNone/>
            </a:pPr>
            <a:r>
              <a:rPr lang="en-US" sz="1300" b="1" dirty="0">
                <a:solidFill>
                  <a:srgbClr val="FFC15E"/>
                </a:solidFill>
                <a:latin typeface="Courier New" pitchFamily="34" charset="0"/>
                <a:ea typeface="Courier New" pitchFamily="34" charset="-122"/>
                <a:cs typeface="Courier New" pitchFamily="34" charset="-120"/>
              </a:rPr>
              <a:t>5</a:t>
            </a:r>
            <a:endParaRPr lang="en-US" sz="1300" dirty="0"/>
          </a:p>
        </p:txBody>
      </p:sp>
      <p:sp>
        <p:nvSpPr>
          <p:cNvPr id="14" name="Text 12"/>
          <p:cNvSpPr txBox="1"/>
          <p:nvPr/>
        </p:nvSpPr>
        <p:spPr>
          <a:xfrm>
            <a:off x="914400" y="3895344"/>
            <a:ext cx="4114800" cy="329184"/>
          </a:xfrm>
          <a:prstGeom prst="rect">
            <a:avLst/>
          </a:prstGeom>
          <a:noFill/>
          <a:ln/>
        </p:spPr>
        <p:txBody>
          <a:bodyPr wrap="square" lIns="0" tIns="0" rIns="0" bIns="0" rtlCol="0" anchor="ctr"/>
          <a:lstStyle/>
          <a:p>
            <a:pPr indent="0" marL="0">
              <a:buNone/>
            </a:pPr>
            <a:r>
              <a:rPr lang="en-US" sz="1200" dirty="0">
                <a:solidFill>
                  <a:srgbClr val="8FA3B0"/>
                </a:solidFill>
                <a:latin typeface="Calibri" pitchFamily="34" charset="0"/>
                <a:ea typeface="Calibri" pitchFamily="34" charset="-122"/>
                <a:cs typeface="Calibri" pitchFamily="34" charset="-120"/>
              </a:rPr>
              <a:t>A/B against a plain pool</a:t>
            </a:r>
            <a:endParaRPr lang="en-US" sz="1200" dirty="0"/>
          </a:p>
        </p:txBody>
      </p:sp>
      <p:sp>
        <p:nvSpPr>
          <p:cNvPr id="15" name="Text 13"/>
          <p:cNvSpPr txBox="1"/>
          <p:nvPr/>
        </p:nvSpPr>
        <p:spPr>
          <a:xfrm>
            <a:off x="5120640" y="3895344"/>
            <a:ext cx="822960" cy="329184"/>
          </a:xfrm>
          <a:prstGeom prst="rect">
            <a:avLst/>
          </a:prstGeom>
          <a:noFill/>
          <a:ln/>
        </p:spPr>
        <p:txBody>
          <a:bodyPr wrap="square" lIns="0" tIns="0" rIns="0" bIns="0" rtlCol="0" anchor="ctr"/>
          <a:lstStyle/>
          <a:p>
            <a:pPr algn="r" indent="0" marL="0">
              <a:buNone/>
            </a:pPr>
            <a:r>
              <a:rPr lang="en-US" sz="1300" b="1" dirty="0">
                <a:solidFill>
                  <a:srgbClr val="FFC15E"/>
                </a:solidFill>
                <a:latin typeface="Courier New" pitchFamily="34" charset="0"/>
                <a:ea typeface="Courier New" pitchFamily="34" charset="-122"/>
                <a:cs typeface="Courier New" pitchFamily="34" charset="-120"/>
              </a:rPr>
              <a:t>4</a:t>
            </a:r>
            <a:endParaRPr lang="en-US" sz="1300" dirty="0"/>
          </a:p>
        </p:txBody>
      </p:sp>
      <p:sp>
        <p:nvSpPr>
          <p:cNvPr id="16" name="Text 14"/>
          <p:cNvSpPr txBox="1"/>
          <p:nvPr/>
        </p:nvSpPr>
        <p:spPr>
          <a:xfrm>
            <a:off x="914400" y="4297680"/>
            <a:ext cx="4114800" cy="329184"/>
          </a:xfrm>
          <a:prstGeom prst="rect">
            <a:avLst/>
          </a:prstGeom>
          <a:noFill/>
          <a:ln/>
        </p:spPr>
        <p:txBody>
          <a:bodyPr wrap="square" lIns="0" tIns="0" rIns="0" bIns="0" rtlCol="0" anchor="ctr"/>
          <a:lstStyle/>
          <a:p>
            <a:pPr indent="0" marL="0">
              <a:buNone/>
            </a:pPr>
            <a:r>
              <a:rPr lang="en-US" sz="1200" dirty="0">
                <a:solidFill>
                  <a:srgbClr val="8FA3B0"/>
                </a:solidFill>
                <a:latin typeface="Calibri" pitchFamily="34" charset="0"/>
                <a:ea typeface="Calibri" pitchFamily="34" charset="-122"/>
                <a:cs typeface="Calibri" pitchFamily="34" charset="-120"/>
              </a:rPr>
              <a:t>Edge cases, access, coverage</a:t>
            </a:r>
            <a:endParaRPr lang="en-US" sz="1200" dirty="0"/>
          </a:p>
        </p:txBody>
      </p:sp>
      <p:sp>
        <p:nvSpPr>
          <p:cNvPr id="17" name="Text 15"/>
          <p:cNvSpPr txBox="1"/>
          <p:nvPr/>
        </p:nvSpPr>
        <p:spPr>
          <a:xfrm>
            <a:off x="5120640" y="4297680"/>
            <a:ext cx="822960" cy="329184"/>
          </a:xfrm>
          <a:prstGeom prst="rect">
            <a:avLst/>
          </a:prstGeom>
          <a:noFill/>
          <a:ln/>
        </p:spPr>
        <p:txBody>
          <a:bodyPr wrap="square" lIns="0" tIns="0" rIns="0" bIns="0" rtlCol="0" anchor="ctr"/>
          <a:lstStyle/>
          <a:p>
            <a:pPr algn="r" indent="0" marL="0">
              <a:buNone/>
            </a:pPr>
            <a:r>
              <a:rPr lang="en-US" sz="1300" b="1" dirty="0">
                <a:solidFill>
                  <a:srgbClr val="FFC15E"/>
                </a:solidFill>
                <a:latin typeface="Courier New" pitchFamily="34" charset="0"/>
                <a:ea typeface="Courier New" pitchFamily="34" charset="-122"/>
                <a:cs typeface="Courier New" pitchFamily="34" charset="-120"/>
              </a:rPr>
              <a:t>178</a:t>
            </a:r>
            <a:endParaRPr lang="en-US" sz="1300" dirty="0"/>
          </a:p>
        </p:txBody>
      </p:sp>
      <p:sp>
        <p:nvSpPr>
          <p:cNvPr id="18" name="Text 16"/>
          <p:cNvSpPr txBox="1"/>
          <p:nvPr/>
        </p:nvSpPr>
        <p:spPr>
          <a:xfrm>
            <a:off x="914400" y="4681728"/>
            <a:ext cx="5029200" cy="274320"/>
          </a:xfrm>
          <a:prstGeom prst="rect">
            <a:avLst/>
          </a:prstGeom>
          <a:noFill/>
          <a:ln/>
        </p:spPr>
        <p:txBody>
          <a:bodyPr wrap="square" lIns="0" tIns="0" rIns="0" bIns="0" rtlCol="0" anchor="ctr"/>
          <a:lstStyle/>
          <a:p>
            <a:pPr indent="0" marL="0">
              <a:buNone/>
            </a:pPr>
            <a:r>
              <a:rPr lang="en-US" sz="1200" dirty="0">
                <a:solidFill>
                  <a:srgbClr val="06D6A0"/>
                </a:solidFill>
                <a:latin typeface="Courier New" pitchFamily="34" charset="0"/>
                <a:ea typeface="Courier New" pitchFamily="34" charset="-122"/>
                <a:cs typeface="Courier New" pitchFamily="34" charset="-120"/>
              </a:rPr>
              <a:t>forge test  —  no setup, ~1 second</a:t>
            </a:r>
            <a:endParaRPr lang="en-US" sz="1200" dirty="0"/>
          </a:p>
        </p:txBody>
      </p:sp>
      <p:sp>
        <p:nvSpPr>
          <p:cNvPr id="19" name="Shape 17"/>
          <p:cNvSpPr/>
          <p:nvPr/>
        </p:nvSpPr>
        <p:spPr>
          <a:xfrm>
            <a:off x="6675120" y="1737360"/>
            <a:ext cx="4572000" cy="3291840"/>
          </a:xfrm>
          <a:prstGeom prst="roundRect">
            <a:avLst>
              <a:gd name="adj" fmla="val 2222"/>
            </a:avLst>
          </a:prstGeom>
          <a:solidFill>
            <a:srgbClr val="213341"/>
          </a:solidFill>
          <a:ln w="12700">
            <a:solidFill>
              <a:srgbClr val="213341"/>
            </a:solidFill>
            <a:prstDash val="solid"/>
          </a:ln>
        </p:spPr>
      </p:sp>
      <p:sp>
        <p:nvSpPr>
          <p:cNvPr id="20" name="Text 18"/>
          <p:cNvSpPr txBox="1"/>
          <p:nvPr/>
        </p:nvSpPr>
        <p:spPr>
          <a:xfrm>
            <a:off x="6949440" y="1920240"/>
            <a:ext cx="4023360" cy="274320"/>
          </a:xfrm>
          <a:prstGeom prst="rect">
            <a:avLst/>
          </a:prstGeom>
          <a:noFill/>
          <a:ln/>
        </p:spPr>
        <p:txBody>
          <a:bodyPr wrap="square" lIns="0" tIns="0" rIns="0" bIns="0" rtlCol="0" anchor="ctr"/>
          <a:lstStyle/>
          <a:p>
            <a:pPr indent="0" marL="0">
              <a:buNone/>
            </a:pPr>
            <a:r>
              <a:rPr lang="en-US" sz="1500" b="1" dirty="0">
                <a:solidFill>
                  <a:srgbClr val="EAF2F6"/>
                </a:solidFill>
                <a:latin typeface="Arial" pitchFamily="34" charset="0"/>
                <a:ea typeface="Arial" pitchFamily="34" charset="-122"/>
                <a:cs typeface="Arial" pitchFamily="34" charset="-120"/>
              </a:rPr>
              <a:t>And it runs end to end</a:t>
            </a:r>
            <a:endParaRPr lang="en-US" sz="1500" dirty="0"/>
          </a:p>
        </p:txBody>
      </p:sp>
      <p:sp>
        <p:nvSpPr>
          <p:cNvPr id="21" name="Text 19"/>
          <p:cNvSpPr txBox="1"/>
          <p:nvPr/>
        </p:nvSpPr>
        <p:spPr>
          <a:xfrm>
            <a:off x="6949440" y="2240280"/>
            <a:ext cx="4023360" cy="274320"/>
          </a:xfrm>
          <a:prstGeom prst="rect">
            <a:avLst/>
          </a:prstGeom>
          <a:noFill/>
          <a:ln/>
        </p:spPr>
        <p:txBody>
          <a:bodyPr wrap="square" lIns="0" tIns="0" rIns="0" bIns="0" rtlCol="0" anchor="ctr"/>
          <a:lstStyle/>
          <a:p>
            <a:pPr indent="0" marL="0">
              <a:buNone/>
            </a:pPr>
            <a:r>
              <a:rPr lang="en-US" sz="1100" dirty="0">
                <a:solidFill>
                  <a:srgbClr val="8FA3B0"/>
                </a:solidFill>
                <a:latin typeface="Calibri" pitchFamily="34" charset="0"/>
                <a:ea typeface="Calibri" pitchFamily="34" charset="-122"/>
                <a:cs typeface="Calibri" pitchFamily="34" charset="-120"/>
              </a:rPr>
              <a:t>Sandwich as 3 separate txs, one block:</a:t>
            </a:r>
            <a:endParaRPr lang="en-US" sz="1100" dirty="0"/>
          </a:p>
        </p:txBody>
      </p:sp>
      <p:sp>
        <p:nvSpPr>
          <p:cNvPr id="22" name="Text 20"/>
          <p:cNvSpPr txBox="1"/>
          <p:nvPr/>
        </p:nvSpPr>
        <p:spPr>
          <a:xfrm>
            <a:off x="6949440" y="2560320"/>
            <a:ext cx="4023360" cy="1920240"/>
          </a:xfrm>
          <a:prstGeom prst="rect">
            <a:avLst/>
          </a:prstGeom>
          <a:noFill/>
          <a:ln/>
        </p:spPr>
        <p:txBody>
          <a:bodyPr wrap="square" lIns="0" tIns="0" rIns="0" bIns="0" rtlCol="0" anchor="ctr"/>
          <a:lstStyle/>
          <a:p>
            <a:pPr indent="0" marL="0">
              <a:lnSpc>
                <a:spcPts val="1500"/>
              </a:lnSpc>
              <a:buNone/>
            </a:pPr>
            <a:r>
              <a:rPr lang="en-US" sz="1100" dirty="0">
                <a:solidFill>
                  <a:srgbClr val="06D6A0"/>
                </a:solidFill>
                <a:latin typeface="Courier New" pitchFamily="34" charset="0"/>
                <a:ea typeface="Courier New" pitchFamily="34" charset="-122"/>
                <a:cs typeface="Courier New" pitchFamily="34" charset="-120"/>
              </a:rPr>
              <a:t>bot     buy   4.0 -&gt;  3000 pips</a:t>
            </a:r>
            <a:endParaRPr lang="en-US" sz="1100" dirty="0"/>
          </a:p>
          <a:p>
            <a:pPr indent="0" marL="0">
              <a:lnSpc>
                <a:spcPts val="1500"/>
              </a:lnSpc>
              <a:buNone/>
            </a:pPr>
            <a:r>
              <a:rPr lang="en-US" sz="1100" dirty="0">
                <a:solidFill>
                  <a:srgbClr val="06D6A0"/>
                </a:solidFill>
                <a:latin typeface="Courier New" pitchFamily="34" charset="0"/>
                <a:ea typeface="Courier New" pitchFamily="34" charset="-122"/>
                <a:cs typeface="Courier New" pitchFamily="34" charset="-120"/>
              </a:rPr>
              <a:t>victim  buy   1.0 -&gt;  3000 pips</a:t>
            </a:r>
            <a:endParaRPr lang="en-US" sz="1100" dirty="0"/>
          </a:p>
          <a:p>
            <a:pPr indent="0" marL="0">
              <a:lnSpc>
                <a:spcPts val="1500"/>
              </a:lnSpc>
              <a:buNone/>
            </a:pPr>
            <a:r>
              <a:rPr lang="en-US" sz="1100" dirty="0">
                <a:solidFill>
                  <a:srgbClr val="06D6A0"/>
                </a:solidFill>
                <a:latin typeface="Courier New" pitchFamily="34" charset="0"/>
                <a:ea typeface="Courier New" pitchFamily="34" charset="-122"/>
                <a:cs typeface="Courier New" pitchFamily="34" charset="-120"/>
              </a:rPr>
              <a:t>bot     sell  4.0 -&gt; 15000 pips</a:t>
            </a:r>
            <a:endParaRPr lang="en-US" sz="1100" dirty="0"/>
          </a:p>
          <a:p>
            <a:pPr indent="0" marL="0">
              <a:lnSpc>
                <a:spcPts val="1500"/>
              </a:lnSpc>
              <a:buNone/>
            </a:pPr>
            <a:endParaRPr lang="en-US" sz="1100" dirty="0"/>
          </a:p>
          <a:p>
            <a:pPr indent="0" marL="0">
              <a:lnSpc>
                <a:spcPts val="1500"/>
              </a:lnSpc>
              <a:buNone/>
            </a:pPr>
            <a:r>
              <a:rPr lang="en-US" sz="1100" dirty="0">
                <a:solidFill>
                  <a:srgbClr val="06D6A0"/>
                </a:solidFill>
                <a:latin typeface="Courier New" pitchFamily="34" charset="0"/>
                <a:ea typeface="Courier New" pitchFamily="34" charset="-122"/>
                <a:cs typeface="Courier New" pitchFamily="34" charset="-120"/>
              </a:rPr>
              <a:t>Flagged: bot</a:t>
            </a:r>
            <a:endParaRPr lang="en-US" sz="1100" dirty="0"/>
          </a:p>
          <a:p>
            <a:pPr indent="0" marL="0">
              <a:lnSpc>
                <a:spcPts val="1500"/>
              </a:lnSpc>
              <a:buNone/>
            </a:pPr>
            <a:r>
              <a:rPr lang="en-US" sz="1100" dirty="0">
                <a:solidFill>
                  <a:srgbClr val="06D6A0"/>
                </a:solidFill>
                <a:latin typeface="Courier New" pitchFamily="34" charset="0"/>
                <a:ea typeface="Courier New" pitchFamily="34" charset="-122"/>
                <a:cs typeface="Courier New" pitchFamily="34" charset="-120"/>
              </a:rPr>
              <a:t>Router score: 0</a:t>
            </a:r>
            <a:endParaRPr lang="en-US" sz="1100" dirty="0"/>
          </a:p>
          <a:p>
            <a:pPr indent="0" marL="0">
              <a:lnSpc>
                <a:spcPts val="1500"/>
              </a:lnSpc>
              <a:buNone/>
            </a:pPr>
            <a:r>
              <a:rPr lang="en-US" sz="1100" dirty="0">
                <a:solidFill>
                  <a:srgbClr val="06D6A0"/>
                </a:solidFill>
                <a:latin typeface="Courier New" pitchFamily="34" charset="0"/>
                <a:ea typeface="Courier New" pitchFamily="34" charset="-122"/>
                <a:cs typeface="Courier New" pitchFamily="34" charset="-120"/>
              </a:rPr>
              <a:t>3/3 operators signed</a:t>
            </a:r>
            <a:endParaRPr lang="en-US" sz="1100" dirty="0"/>
          </a:p>
          <a:p>
            <a:pPr indent="0" marL="0">
              <a:lnSpc>
                <a:spcPts val="1500"/>
              </a:lnSpc>
              <a:buNone/>
            </a:pPr>
            <a:r>
              <a:rPr lang="en-US" sz="1100" dirty="0">
                <a:solidFill>
                  <a:srgbClr val="06D6A0"/>
                </a:solidFill>
                <a:latin typeface="Courier New" pitchFamily="34" charset="0"/>
                <a:ea typeface="Courier New" pitchFamily="34" charset="-122"/>
                <a:cs typeface="Courier New" pitchFamily="34" charset="-120"/>
              </a:rPr>
              <a:t>BLS pairing verified on-chain</a:t>
            </a:r>
            <a:endParaRPr lang="en-US" sz="1100" dirty="0"/>
          </a:p>
        </p:txBody>
      </p:sp>
      <p:sp>
        <p:nvSpPr>
          <p:cNvPr id="23" name="Text 21"/>
          <p:cNvSpPr txBox="1"/>
          <p:nvPr/>
        </p:nvSpPr>
        <p:spPr>
          <a:xfrm>
            <a:off x="6949440" y="4572000"/>
            <a:ext cx="4023360" cy="384048"/>
          </a:xfrm>
          <a:prstGeom prst="rect">
            <a:avLst/>
          </a:prstGeom>
          <a:noFill/>
          <a:ln/>
        </p:spPr>
        <p:txBody>
          <a:bodyPr wrap="square" lIns="0" tIns="0" rIns="0" bIns="0" rtlCol="0" anchor="ctr"/>
          <a:lstStyle/>
          <a:p>
            <a:pPr indent="0" marL="0">
              <a:lnSpc>
                <a:spcPts val="1400"/>
              </a:lnSpc>
              <a:buNone/>
            </a:pPr>
            <a:r>
              <a:rPr lang="en-US" sz="1100" dirty="0">
                <a:solidFill>
                  <a:srgbClr val="5D717E"/>
                </a:solidFill>
                <a:latin typeface="Calibri" pitchFamily="34" charset="0"/>
                <a:ea typeface="Calibri" pitchFamily="34" charset="-122"/>
                <a:cs typeface="Calibri" pitchFamily="34" charset="-120"/>
              </a:rPr>
              <a:t>Bot and victim are separate EOAs on one router.</a:t>
            </a:r>
            <a:endParaRPr lang="en-US" sz="1100" dirty="0"/>
          </a:p>
        </p:txBody>
      </p:sp>
      <p:sp>
        <p:nvSpPr>
          <p:cNvPr id="24" name="Text 22"/>
          <p:cNvSpPr txBox="1"/>
          <p:nvPr/>
        </p:nvSpPr>
        <p:spPr>
          <a:xfrm>
            <a:off x="640080" y="5257800"/>
            <a:ext cx="10881360" cy="320040"/>
          </a:xfrm>
          <a:prstGeom prst="rect">
            <a:avLst/>
          </a:prstGeom>
          <a:noFill/>
          <a:ln/>
        </p:spPr>
        <p:txBody>
          <a:bodyPr wrap="square" lIns="0" tIns="0" rIns="0" bIns="0" rtlCol="0" anchor="ctr"/>
          <a:lstStyle/>
          <a:p>
            <a:pPr indent="0" marL="0">
              <a:buNone/>
            </a:pPr>
            <a:r>
              <a:rPr lang="en-US" sz="1300" i="1" dirty="0">
                <a:solidFill>
                  <a:srgbClr val="06D6A0"/>
                </a:solidFill>
                <a:latin typeface="Calibri" pitchFamily="34" charset="0"/>
                <a:ea typeface="Calibri" pitchFamily="34" charset="-122"/>
                <a:cs typeface="Calibri" pitchFamily="34" charset="-120"/>
              </a:rPr>
              <a:t>Judges can reproduce every number here: clone, forge test, then four commands for the live loop.</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922"/>
        </a:solidFill>
      </p:bgPr>
    </p:bg>
    <p:spTree>
      <p:nvGrpSpPr>
        <p:cNvPr id="1" name=""/>
        <p:cNvGrpSpPr/>
        <p:nvPr/>
      </p:nvGrpSpPr>
      <p:grpSpPr>
        <a:xfrm>
          <a:off x="0" y="0"/>
          <a:ext cx="0" cy="0"/>
          <a:chOff x="0" y="0"/>
          <a:chExt cx="0" cy="0"/>
        </a:xfrm>
      </p:grpSpPr>
      <p:sp>
        <p:nvSpPr>
          <p:cNvPr id="2" name="Text 0"/>
          <p:cNvSpPr txBox="1"/>
          <p:nvPr/>
        </p:nvSpPr>
        <p:spPr>
          <a:xfrm>
            <a:off x="640080" y="548640"/>
            <a:ext cx="8686800" cy="731520"/>
          </a:xfrm>
          <a:prstGeom prst="rect">
            <a:avLst/>
          </a:prstGeom>
          <a:noFill/>
          <a:ln/>
        </p:spPr>
        <p:txBody>
          <a:bodyPr wrap="square" lIns="0" tIns="0" rIns="0" bIns="0" rtlCol="0" anchor="ctr"/>
          <a:lstStyle/>
          <a:p>
            <a:pPr indent="0" marL="0">
              <a:buNone/>
            </a:pPr>
            <a:r>
              <a:rPr lang="en-US" sz="4000" b="1" dirty="0">
                <a:solidFill>
                  <a:srgbClr val="EAF2F6"/>
                </a:solidFill>
                <a:latin typeface="Arial" pitchFamily="34" charset="0"/>
                <a:ea typeface="Arial" pitchFamily="34" charset="-122"/>
                <a:cs typeface="Arial" pitchFamily="34" charset="-120"/>
              </a:rPr>
              <a:t>GradientShield</a:t>
            </a:r>
            <a:endParaRPr lang="en-US" sz="4000" dirty="0"/>
          </a:p>
        </p:txBody>
      </p:sp>
      <p:sp>
        <p:nvSpPr>
          <p:cNvPr id="3" name="Text 1"/>
          <p:cNvSpPr txBox="1"/>
          <p:nvPr/>
        </p:nvSpPr>
        <p:spPr>
          <a:xfrm>
            <a:off x="640080" y="1298448"/>
            <a:ext cx="7315200" cy="320040"/>
          </a:xfrm>
          <a:prstGeom prst="rect">
            <a:avLst/>
          </a:prstGeom>
          <a:noFill/>
          <a:ln/>
        </p:spPr>
        <p:txBody>
          <a:bodyPr wrap="square" lIns="0" tIns="0" rIns="0" bIns="0" rtlCol="0" anchor="ctr"/>
          <a:lstStyle/>
          <a:p>
            <a:pPr indent="0" marL="0">
              <a:buNone/>
            </a:pPr>
            <a:r>
              <a:rPr lang="en-US" sz="1400" dirty="0">
                <a:solidFill>
                  <a:srgbClr val="06D6A0"/>
                </a:solidFill>
                <a:latin typeface="Calibri" pitchFamily="34" charset="0"/>
                <a:ea typeface="Calibri" pitchFamily="34" charset="-122"/>
                <a:cs typeface="Calibri" pitchFamily="34" charset="-120"/>
              </a:rPr>
              <a:t>Sivaji Alla  ·  Project HK-UHI10-1050</a:t>
            </a:r>
            <a:endParaRPr lang="en-US" sz="1400" dirty="0"/>
          </a:p>
        </p:txBody>
      </p:sp>
      <p:sp>
        <p:nvSpPr>
          <p:cNvPr id="4" name="Shape 2"/>
          <p:cNvSpPr/>
          <p:nvPr/>
        </p:nvSpPr>
        <p:spPr>
          <a:xfrm>
            <a:off x="640080" y="1828800"/>
            <a:ext cx="10881360" cy="914400"/>
          </a:xfrm>
          <a:prstGeom prst="roundRect">
            <a:avLst>
              <a:gd name="adj" fmla="val 8000"/>
            </a:avLst>
          </a:prstGeom>
          <a:solidFill>
            <a:srgbClr val="213341"/>
          </a:solidFill>
          <a:ln w="12700">
            <a:solidFill>
              <a:srgbClr val="213341"/>
            </a:solidFill>
            <a:prstDash val="solid"/>
          </a:ln>
        </p:spPr>
      </p:sp>
      <p:sp>
        <p:nvSpPr>
          <p:cNvPr id="5" name="Text 3"/>
          <p:cNvSpPr txBox="1"/>
          <p:nvPr/>
        </p:nvSpPr>
        <p:spPr>
          <a:xfrm>
            <a:off x="960120" y="2084832"/>
            <a:ext cx="7772400" cy="411480"/>
          </a:xfrm>
          <a:prstGeom prst="rect">
            <a:avLst/>
          </a:prstGeom>
          <a:noFill/>
          <a:ln/>
        </p:spPr>
        <p:txBody>
          <a:bodyPr wrap="square" lIns="0" tIns="0" rIns="0" bIns="0" rtlCol="0" anchor="ctr"/>
          <a:lstStyle/>
          <a:p>
            <a:pPr indent="0" marL="0">
              <a:buNone/>
            </a:pPr>
            <a:r>
              <a:rPr lang="en-US" sz="2000" b="1" dirty="0">
                <a:solidFill>
                  <a:srgbClr val="06D6A0"/>
                </a:solidFill>
                <a:latin typeface="Courier New" pitchFamily="34" charset="0"/>
                <a:ea typeface="Courier New" pitchFamily="34" charset="-122"/>
                <a:cs typeface="Courier New" pitchFamily="34" charset="-120"/>
              </a:rPr>
              <a:t>github.com/sivajialla/gradient-shield</a:t>
            </a:r>
            <a:endParaRPr lang="en-US" sz="2000" dirty="0"/>
          </a:p>
        </p:txBody>
      </p:sp>
      <p:sp>
        <p:nvSpPr>
          <p:cNvPr id="6" name="Text 4"/>
          <p:cNvSpPr txBox="1"/>
          <p:nvPr/>
        </p:nvSpPr>
        <p:spPr>
          <a:xfrm>
            <a:off x="8229600" y="2139696"/>
            <a:ext cx="3017520" cy="320040"/>
          </a:xfrm>
          <a:prstGeom prst="rect">
            <a:avLst/>
          </a:prstGeom>
          <a:noFill/>
          <a:ln/>
        </p:spPr>
        <p:txBody>
          <a:bodyPr wrap="square" lIns="0" tIns="0" rIns="0" bIns="0" rtlCol="0" anchor="ctr"/>
          <a:lstStyle/>
          <a:p>
            <a:pPr algn="r" indent="0" marL="0">
              <a:buNone/>
            </a:pPr>
            <a:r>
              <a:rPr lang="en-US" sz="1200" dirty="0">
                <a:solidFill>
                  <a:srgbClr val="5D717E"/>
                </a:solidFill>
                <a:latin typeface="Calibri" pitchFamily="34" charset="0"/>
                <a:ea typeface="Calibri" pitchFamily="34" charset="-122"/>
                <a:cs typeface="Calibri" pitchFamily="34" charset="-120"/>
              </a:rPr>
              <a:t>forge test  ·  247 passing</a:t>
            </a:r>
            <a:endParaRPr lang="en-US" sz="1200" dirty="0"/>
          </a:p>
        </p:txBody>
      </p:sp>
      <p:sp>
        <p:nvSpPr>
          <p:cNvPr id="7" name="Shape 5"/>
          <p:cNvSpPr/>
          <p:nvPr/>
        </p:nvSpPr>
        <p:spPr>
          <a:xfrm>
            <a:off x="640080" y="2926080"/>
            <a:ext cx="5669280" cy="2331720"/>
          </a:xfrm>
          <a:prstGeom prst="roundRect">
            <a:avLst>
              <a:gd name="adj" fmla="val 3137"/>
            </a:avLst>
          </a:prstGeom>
          <a:solidFill>
            <a:srgbClr val="1B2A36"/>
          </a:solidFill>
          <a:ln w="12700">
            <a:solidFill>
              <a:srgbClr val="1B2A36"/>
            </a:solidFill>
            <a:prstDash val="solid"/>
          </a:ln>
        </p:spPr>
      </p:sp>
      <p:sp>
        <p:nvSpPr>
          <p:cNvPr id="8" name="Text 6"/>
          <p:cNvSpPr txBox="1"/>
          <p:nvPr/>
        </p:nvSpPr>
        <p:spPr>
          <a:xfrm>
            <a:off x="914400" y="3108960"/>
            <a:ext cx="5029200" cy="274320"/>
          </a:xfrm>
          <a:prstGeom prst="rect">
            <a:avLst/>
          </a:prstGeom>
          <a:noFill/>
          <a:ln/>
        </p:spPr>
        <p:txBody>
          <a:bodyPr wrap="square" lIns="0" tIns="0" rIns="0" bIns="0" rtlCol="0" anchor="ctr"/>
          <a:lstStyle/>
          <a:p>
            <a:pPr indent="0" marL="0">
              <a:buNone/>
            </a:pPr>
            <a:r>
              <a:rPr lang="en-US" sz="1400" b="1" dirty="0">
                <a:solidFill>
                  <a:srgbClr val="EAF2F6"/>
                </a:solidFill>
                <a:latin typeface="Arial" pitchFamily="34" charset="0"/>
                <a:ea typeface="Arial" pitchFamily="34" charset="-122"/>
                <a:cs typeface="Arial" pitchFamily="34" charset="-120"/>
              </a:rPr>
              <a:t>Judged on</a:t>
            </a:r>
            <a:endParaRPr lang="en-US" sz="1400" dirty="0"/>
          </a:p>
        </p:txBody>
      </p:sp>
      <p:sp>
        <p:nvSpPr>
          <p:cNvPr id="9" name="Text 7"/>
          <p:cNvSpPr txBox="1"/>
          <p:nvPr/>
        </p:nvSpPr>
        <p:spPr>
          <a:xfrm>
            <a:off x="914400" y="3456432"/>
            <a:ext cx="1691640" cy="365760"/>
          </a:xfrm>
          <a:prstGeom prst="rect">
            <a:avLst/>
          </a:prstGeom>
          <a:noFill/>
          <a:ln/>
        </p:spPr>
        <p:txBody>
          <a:bodyPr wrap="square" lIns="0" tIns="0" rIns="0" bIns="0" rtlCol="0" anchor="ctr"/>
          <a:lstStyle/>
          <a:p>
            <a:pPr indent="0" marL="0">
              <a:buNone/>
            </a:pPr>
            <a:r>
              <a:rPr lang="en-US" sz="1200" b="1" dirty="0">
                <a:solidFill>
                  <a:srgbClr val="06D6A0"/>
                </a:solidFill>
                <a:latin typeface="Calibri" pitchFamily="34" charset="0"/>
                <a:ea typeface="Calibri" pitchFamily="34" charset="-122"/>
                <a:cs typeface="Calibri" pitchFamily="34" charset="-120"/>
              </a:rPr>
              <a:t>Original idea</a:t>
            </a:r>
            <a:endParaRPr lang="en-US" sz="1200" dirty="0"/>
          </a:p>
        </p:txBody>
      </p:sp>
      <p:sp>
        <p:nvSpPr>
          <p:cNvPr id="10" name="Text 8"/>
          <p:cNvSpPr txBox="1"/>
          <p:nvPr/>
        </p:nvSpPr>
        <p:spPr>
          <a:xfrm>
            <a:off x="2697480" y="3456432"/>
            <a:ext cx="3291840" cy="365760"/>
          </a:xfrm>
          <a:prstGeom prst="rect">
            <a:avLst/>
          </a:prstGeom>
          <a:noFill/>
          <a:ln/>
        </p:spPr>
        <p:txBody>
          <a:bodyPr wrap="square" lIns="0" tIns="0" rIns="0" bIns="0" rtlCol="0" anchor="ctr"/>
          <a:lstStyle/>
          <a:p>
            <a:pPr indent="0" marL="0">
              <a:buNone/>
            </a:pPr>
            <a:r>
              <a:rPr lang="en-US" sz="1100" dirty="0">
                <a:solidFill>
                  <a:srgbClr val="8FA3B0"/>
                </a:solidFill>
                <a:latin typeface="Calibri" pitchFamily="34" charset="0"/>
                <a:ea typeface="Calibri" pitchFamily="34" charset="-122"/>
                <a:cs typeface="Calibri" pitchFamily="34" charset="-120"/>
              </a:rPr>
              <a:t>First-trade protection, no history</a:t>
            </a:r>
            <a:endParaRPr lang="en-US" sz="1100" dirty="0"/>
          </a:p>
        </p:txBody>
      </p:sp>
      <p:sp>
        <p:nvSpPr>
          <p:cNvPr id="11" name="Text 9"/>
          <p:cNvSpPr txBox="1"/>
          <p:nvPr/>
        </p:nvSpPr>
        <p:spPr>
          <a:xfrm>
            <a:off x="914400" y="3886200"/>
            <a:ext cx="1691640" cy="365760"/>
          </a:xfrm>
          <a:prstGeom prst="rect">
            <a:avLst/>
          </a:prstGeom>
          <a:noFill/>
          <a:ln/>
        </p:spPr>
        <p:txBody>
          <a:bodyPr wrap="square" lIns="0" tIns="0" rIns="0" bIns="0" rtlCol="0" anchor="ctr"/>
          <a:lstStyle/>
          <a:p>
            <a:pPr indent="0" marL="0">
              <a:buNone/>
            </a:pPr>
            <a:r>
              <a:rPr lang="en-US" sz="1200" b="1" dirty="0">
                <a:solidFill>
                  <a:srgbClr val="06D6A0"/>
                </a:solidFill>
                <a:latin typeface="Calibri" pitchFamily="34" charset="0"/>
                <a:ea typeface="Calibri" pitchFamily="34" charset="-122"/>
                <a:cs typeface="Calibri" pitchFamily="34" charset="-120"/>
              </a:rPr>
              <a:t>Unique execution</a:t>
            </a:r>
            <a:endParaRPr lang="en-US" sz="1200" dirty="0"/>
          </a:p>
        </p:txBody>
      </p:sp>
      <p:sp>
        <p:nvSpPr>
          <p:cNvPr id="12" name="Text 10"/>
          <p:cNvSpPr txBox="1"/>
          <p:nvPr/>
        </p:nvSpPr>
        <p:spPr>
          <a:xfrm>
            <a:off x="2697480" y="3886200"/>
            <a:ext cx="3291840" cy="365760"/>
          </a:xfrm>
          <a:prstGeom prst="rect">
            <a:avLst/>
          </a:prstGeom>
          <a:noFill/>
          <a:ln/>
        </p:spPr>
        <p:txBody>
          <a:bodyPr wrap="square" lIns="0" tIns="0" rIns="0" bIns="0" rtlCol="0" anchor="ctr"/>
          <a:lstStyle/>
          <a:p>
            <a:pPr indent="0" marL="0">
              <a:buNone/>
            </a:pPr>
            <a:r>
              <a:rPr lang="en-US" sz="1100" dirty="0">
                <a:solidFill>
                  <a:srgbClr val="8FA3B0"/>
                </a:solidFill>
                <a:latin typeface="Calibri" pitchFamily="34" charset="0"/>
                <a:ea typeface="Calibri" pitchFamily="34" charset="-122"/>
                <a:cs typeface="Calibri" pitchFamily="34" charset="-120"/>
              </a:rPr>
              <a:t>Trader identity + real BLS quorum</a:t>
            </a:r>
            <a:endParaRPr lang="en-US" sz="1100" dirty="0"/>
          </a:p>
        </p:txBody>
      </p:sp>
      <p:sp>
        <p:nvSpPr>
          <p:cNvPr id="13" name="Text 11"/>
          <p:cNvSpPr txBox="1"/>
          <p:nvPr/>
        </p:nvSpPr>
        <p:spPr>
          <a:xfrm>
            <a:off x="914400" y="4315968"/>
            <a:ext cx="1691640" cy="365760"/>
          </a:xfrm>
          <a:prstGeom prst="rect">
            <a:avLst/>
          </a:prstGeom>
          <a:noFill/>
          <a:ln/>
        </p:spPr>
        <p:txBody>
          <a:bodyPr wrap="square" lIns="0" tIns="0" rIns="0" bIns="0" rtlCol="0" anchor="ctr"/>
          <a:lstStyle/>
          <a:p>
            <a:pPr indent="0" marL="0">
              <a:buNone/>
            </a:pPr>
            <a:r>
              <a:rPr lang="en-US" sz="1200" b="1" dirty="0">
                <a:solidFill>
                  <a:srgbClr val="06D6A0"/>
                </a:solidFill>
                <a:latin typeface="Calibri" pitchFamily="34" charset="0"/>
                <a:ea typeface="Calibri" pitchFamily="34" charset="-122"/>
                <a:cs typeface="Calibri" pitchFamily="34" charset="-120"/>
              </a:rPr>
              <a:t>Impact</a:t>
            </a:r>
            <a:endParaRPr lang="en-US" sz="1200" dirty="0"/>
          </a:p>
        </p:txBody>
      </p:sp>
      <p:sp>
        <p:nvSpPr>
          <p:cNvPr id="14" name="Text 12"/>
          <p:cNvSpPr txBox="1"/>
          <p:nvPr/>
        </p:nvSpPr>
        <p:spPr>
          <a:xfrm>
            <a:off x="2697480" y="4315968"/>
            <a:ext cx="3291840" cy="365760"/>
          </a:xfrm>
          <a:prstGeom prst="rect">
            <a:avLst/>
          </a:prstGeom>
          <a:noFill/>
          <a:ln/>
        </p:spPr>
        <p:txBody>
          <a:bodyPr wrap="square" lIns="0" tIns="0" rIns="0" bIns="0" rtlCol="0" anchor="ctr"/>
          <a:lstStyle/>
          <a:p>
            <a:pPr indent="0" marL="0">
              <a:buNone/>
            </a:pPr>
            <a:r>
              <a:rPr lang="en-US" sz="1100" dirty="0">
                <a:solidFill>
                  <a:srgbClr val="8FA3B0"/>
                </a:solidFill>
                <a:latin typeface="Calibri" pitchFamily="34" charset="0"/>
                <a:ea typeface="Calibri" pitchFamily="34" charset="-122"/>
                <a:cs typeface="Calibri" pitchFamily="34" charset="-120"/>
              </a:rPr>
              <a:t>Attacker pays 5.3x, victim untouched</a:t>
            </a:r>
            <a:endParaRPr lang="en-US" sz="1100" dirty="0"/>
          </a:p>
        </p:txBody>
      </p:sp>
      <p:sp>
        <p:nvSpPr>
          <p:cNvPr id="15" name="Text 13"/>
          <p:cNvSpPr txBox="1"/>
          <p:nvPr/>
        </p:nvSpPr>
        <p:spPr>
          <a:xfrm>
            <a:off x="914400" y="4745736"/>
            <a:ext cx="1691640" cy="365760"/>
          </a:xfrm>
          <a:prstGeom prst="rect">
            <a:avLst/>
          </a:prstGeom>
          <a:noFill/>
          <a:ln/>
        </p:spPr>
        <p:txBody>
          <a:bodyPr wrap="square" lIns="0" tIns="0" rIns="0" bIns="0" rtlCol="0" anchor="ctr"/>
          <a:lstStyle/>
          <a:p>
            <a:pPr indent="0" marL="0">
              <a:buNone/>
            </a:pPr>
            <a:r>
              <a:rPr lang="en-US" sz="1200" b="1" dirty="0">
                <a:solidFill>
                  <a:srgbClr val="06D6A0"/>
                </a:solidFill>
                <a:latin typeface="Calibri" pitchFamily="34" charset="0"/>
                <a:ea typeface="Calibri" pitchFamily="34" charset="-122"/>
                <a:cs typeface="Calibri" pitchFamily="34" charset="-120"/>
              </a:rPr>
              <a:t>Functionality</a:t>
            </a:r>
            <a:endParaRPr lang="en-US" sz="1200" dirty="0"/>
          </a:p>
        </p:txBody>
      </p:sp>
      <p:sp>
        <p:nvSpPr>
          <p:cNvPr id="16" name="Text 14"/>
          <p:cNvSpPr txBox="1"/>
          <p:nvPr/>
        </p:nvSpPr>
        <p:spPr>
          <a:xfrm>
            <a:off x="2697480" y="4745736"/>
            <a:ext cx="3291840" cy="365760"/>
          </a:xfrm>
          <a:prstGeom prst="rect">
            <a:avLst/>
          </a:prstGeom>
          <a:noFill/>
          <a:ln/>
        </p:spPr>
        <p:txBody>
          <a:bodyPr wrap="square" lIns="0" tIns="0" rIns="0" bIns="0" rtlCol="0" anchor="ctr"/>
          <a:lstStyle/>
          <a:p>
            <a:pPr indent="0" marL="0">
              <a:buNone/>
            </a:pPr>
            <a:r>
              <a:rPr lang="en-US" sz="1100" dirty="0">
                <a:solidFill>
                  <a:srgbClr val="8FA3B0"/>
                </a:solidFill>
                <a:latin typeface="Calibri" pitchFamily="34" charset="0"/>
                <a:ea typeface="Calibri" pitchFamily="34" charset="-122"/>
                <a:cs typeface="Calibri" pitchFamily="34" charset="-120"/>
              </a:rPr>
              <a:t>247 tests, live loop on anvil</a:t>
            </a:r>
            <a:endParaRPr lang="en-US" sz="1100" dirty="0"/>
          </a:p>
        </p:txBody>
      </p:sp>
      <p:sp>
        <p:nvSpPr>
          <p:cNvPr id="17" name="Shape 15"/>
          <p:cNvSpPr/>
          <p:nvPr/>
        </p:nvSpPr>
        <p:spPr>
          <a:xfrm>
            <a:off x="6675120" y="2926080"/>
            <a:ext cx="4572000" cy="2331720"/>
          </a:xfrm>
          <a:prstGeom prst="roundRect">
            <a:avLst>
              <a:gd name="adj" fmla="val 3137"/>
            </a:avLst>
          </a:prstGeom>
          <a:solidFill>
            <a:srgbClr val="213341"/>
          </a:solidFill>
          <a:ln w="12700">
            <a:solidFill>
              <a:srgbClr val="213341"/>
            </a:solidFill>
            <a:prstDash val="solid"/>
          </a:ln>
        </p:spPr>
      </p:sp>
      <p:sp>
        <p:nvSpPr>
          <p:cNvPr id="18" name="Text 16"/>
          <p:cNvSpPr txBox="1"/>
          <p:nvPr/>
        </p:nvSpPr>
        <p:spPr>
          <a:xfrm>
            <a:off x="6949440" y="3108960"/>
            <a:ext cx="4023360" cy="274320"/>
          </a:xfrm>
          <a:prstGeom prst="rect">
            <a:avLst/>
          </a:prstGeom>
          <a:noFill/>
          <a:ln/>
        </p:spPr>
        <p:txBody>
          <a:bodyPr wrap="square" lIns="0" tIns="0" rIns="0" bIns="0" rtlCol="0" anchor="ctr"/>
          <a:lstStyle/>
          <a:p>
            <a:pPr indent="0" marL="0">
              <a:buNone/>
            </a:pPr>
            <a:r>
              <a:rPr lang="en-US" sz="1400" b="1" dirty="0">
                <a:solidFill>
                  <a:srgbClr val="EAF2F6"/>
                </a:solidFill>
                <a:latin typeface="Arial" pitchFamily="34" charset="0"/>
                <a:ea typeface="Arial" pitchFamily="34" charset="-122"/>
                <a:cs typeface="Arial" pitchFamily="34" charset="-120"/>
              </a:rPr>
              <a:t>Theme</a:t>
            </a:r>
            <a:endParaRPr lang="en-US" sz="1400" dirty="0"/>
          </a:p>
        </p:txBody>
      </p:sp>
      <p:sp>
        <p:nvSpPr>
          <p:cNvPr id="19" name="Text 17"/>
          <p:cNvSpPr txBox="1"/>
          <p:nvPr/>
        </p:nvSpPr>
        <p:spPr>
          <a:xfrm>
            <a:off x="6949440" y="3474720"/>
            <a:ext cx="4023360" cy="256032"/>
          </a:xfrm>
          <a:prstGeom prst="rect">
            <a:avLst/>
          </a:prstGeom>
          <a:noFill/>
          <a:ln/>
        </p:spPr>
        <p:txBody>
          <a:bodyPr wrap="square" lIns="0" tIns="0" rIns="0" bIns="0" rtlCol="0" anchor="ctr"/>
          <a:lstStyle/>
          <a:p>
            <a:pPr indent="0" marL="0">
              <a:buNone/>
            </a:pPr>
            <a:r>
              <a:rPr lang="en-US" sz="1300" b="1" dirty="0">
                <a:solidFill>
                  <a:srgbClr val="06D6A0"/>
                </a:solidFill>
                <a:latin typeface="Arial" pitchFamily="34" charset="0"/>
                <a:ea typeface="Arial" pitchFamily="34" charset="-122"/>
                <a:cs typeface="Arial" pitchFamily="34" charset="-120"/>
              </a:rPr>
              <a:t>MEV protection</a:t>
            </a:r>
            <a:endParaRPr lang="en-US" sz="1300" dirty="0"/>
          </a:p>
        </p:txBody>
      </p:sp>
      <p:sp>
        <p:nvSpPr>
          <p:cNvPr id="20" name="Text 18"/>
          <p:cNvSpPr txBox="1"/>
          <p:nvPr/>
        </p:nvSpPr>
        <p:spPr>
          <a:xfrm>
            <a:off x="6949440" y="3730752"/>
            <a:ext cx="4023360" cy="457200"/>
          </a:xfrm>
          <a:prstGeom prst="rect">
            <a:avLst/>
          </a:prstGeom>
          <a:noFill/>
          <a:ln/>
        </p:spPr>
        <p:txBody>
          <a:bodyPr wrap="square" lIns="0" tIns="0" rIns="0" bIns="0" rtlCol="0" anchor="ctr"/>
          <a:lstStyle/>
          <a:p>
            <a:pPr indent="0" marL="0">
              <a:lnSpc>
                <a:spcPts val="1500"/>
              </a:lnSpc>
              <a:buNone/>
            </a:pPr>
            <a:r>
              <a:rPr lang="en-US" sz="1100" dirty="0">
                <a:solidFill>
                  <a:srgbClr val="8FA3B0"/>
                </a:solidFill>
                <a:latin typeface="Calibri" pitchFamily="34" charset="0"/>
                <a:ea typeface="Calibri" pitchFamily="34" charset="-122"/>
                <a:cs typeface="Calibri" pitchFamily="34" charset="-120"/>
              </a:rPr>
              <a:t>Sandwich and JIT priced out on the first trade.</a:t>
            </a:r>
            <a:endParaRPr lang="en-US" sz="1100" dirty="0"/>
          </a:p>
        </p:txBody>
      </p:sp>
      <p:sp>
        <p:nvSpPr>
          <p:cNvPr id="21" name="Text 19"/>
          <p:cNvSpPr txBox="1"/>
          <p:nvPr/>
        </p:nvSpPr>
        <p:spPr>
          <a:xfrm>
            <a:off x="6949440" y="4279392"/>
            <a:ext cx="4023360" cy="256032"/>
          </a:xfrm>
          <a:prstGeom prst="rect">
            <a:avLst/>
          </a:prstGeom>
          <a:noFill/>
          <a:ln/>
        </p:spPr>
        <p:txBody>
          <a:bodyPr wrap="square" lIns="0" tIns="0" rIns="0" bIns="0" rtlCol="0" anchor="ctr"/>
          <a:lstStyle/>
          <a:p>
            <a:pPr indent="0" marL="0">
              <a:buNone/>
            </a:pPr>
            <a:r>
              <a:rPr lang="en-US" sz="1300" b="1" dirty="0">
                <a:solidFill>
                  <a:srgbClr val="06D6A0"/>
                </a:solidFill>
                <a:latin typeface="Arial" pitchFamily="34" charset="0"/>
                <a:ea typeface="Arial" pitchFamily="34" charset="-122"/>
                <a:cs typeface="Arial" pitchFamily="34" charset="-120"/>
              </a:rPr>
              <a:t>Sustainable liquidity</a:t>
            </a:r>
            <a:endParaRPr lang="en-US" sz="1300" dirty="0"/>
          </a:p>
        </p:txBody>
      </p:sp>
      <p:sp>
        <p:nvSpPr>
          <p:cNvPr id="22" name="Text 20"/>
          <p:cNvSpPr txBox="1"/>
          <p:nvPr/>
        </p:nvSpPr>
        <p:spPr>
          <a:xfrm>
            <a:off x="6949440" y="4535424"/>
            <a:ext cx="4023360" cy="502920"/>
          </a:xfrm>
          <a:prstGeom prst="rect">
            <a:avLst/>
          </a:prstGeom>
          <a:noFill/>
          <a:ln/>
        </p:spPr>
        <p:txBody>
          <a:bodyPr wrap="square" lIns="0" tIns="0" rIns="0" bIns="0" rtlCol="0" anchor="ctr"/>
          <a:lstStyle/>
          <a:p>
            <a:pPr indent="0" marL="0">
              <a:lnSpc>
                <a:spcPts val="1500"/>
              </a:lnSpc>
              <a:buNone/>
            </a:pPr>
            <a:r>
              <a:rPr lang="en-US" sz="1100" dirty="0">
                <a:solidFill>
                  <a:srgbClr val="8FA3B0"/>
                </a:solidFill>
                <a:latin typeface="Calibri" pitchFamily="34" charset="0"/>
                <a:ea typeface="Calibri" pitchFamily="34" charset="-122"/>
                <a:cs typeface="Calibri" pitchFamily="34" charset="-120"/>
              </a:rPr>
              <a:t>The penalty is an LP fee — extraction becomes LP yield.</a:t>
            </a:r>
            <a:endParaRPr lang="en-US" sz="1100" dirty="0"/>
          </a:p>
        </p:txBody>
      </p:sp>
      <p:sp>
        <p:nvSpPr>
          <p:cNvPr id="23" name="Shape 21"/>
          <p:cNvSpPr/>
          <p:nvPr/>
        </p:nvSpPr>
        <p:spPr>
          <a:xfrm>
            <a:off x="640080" y="5440680"/>
            <a:ext cx="10881360" cy="777240"/>
          </a:xfrm>
          <a:prstGeom prst="roundRect">
            <a:avLst>
              <a:gd name="adj" fmla="val 9412"/>
            </a:avLst>
          </a:prstGeom>
          <a:solidFill>
            <a:srgbClr val="1B2A36"/>
          </a:solidFill>
          <a:ln w="12700">
            <a:solidFill>
              <a:srgbClr val="1B2A36"/>
            </a:solidFill>
            <a:prstDash val="solid"/>
          </a:ln>
        </p:spPr>
      </p:sp>
      <p:sp>
        <p:nvSpPr>
          <p:cNvPr id="24" name="Text 22"/>
          <p:cNvSpPr txBox="1"/>
          <p:nvPr/>
        </p:nvSpPr>
        <p:spPr>
          <a:xfrm>
            <a:off x="960120" y="5605272"/>
            <a:ext cx="3383280" cy="256032"/>
          </a:xfrm>
          <a:prstGeom prst="rect">
            <a:avLst/>
          </a:prstGeom>
          <a:noFill/>
          <a:ln/>
        </p:spPr>
        <p:txBody>
          <a:bodyPr wrap="square" lIns="0" tIns="0" rIns="0" bIns="0" rtlCol="0" anchor="ctr"/>
          <a:lstStyle/>
          <a:p>
            <a:pPr indent="0" marL="0">
              <a:buNone/>
            </a:pPr>
            <a:r>
              <a:rPr lang="en-US" sz="1200" b="1" dirty="0">
                <a:solidFill>
                  <a:srgbClr val="FFC15E"/>
                </a:solidFill>
                <a:latin typeface="Arial" pitchFamily="34" charset="0"/>
                <a:ea typeface="Arial" pitchFamily="34" charset="-122"/>
                <a:cs typeface="Arial" pitchFamily="34" charset="-120"/>
              </a:rPr>
              <a:t>GitHub repo</a:t>
            </a:r>
            <a:endParaRPr lang="en-US" sz="1200" dirty="0"/>
          </a:p>
        </p:txBody>
      </p:sp>
      <p:sp>
        <p:nvSpPr>
          <p:cNvPr id="25" name="Text 23"/>
          <p:cNvSpPr txBox="1"/>
          <p:nvPr/>
        </p:nvSpPr>
        <p:spPr>
          <a:xfrm>
            <a:off x="960120" y="5852160"/>
            <a:ext cx="3383280" cy="256032"/>
          </a:xfrm>
          <a:prstGeom prst="rect">
            <a:avLst/>
          </a:prstGeom>
          <a:noFill/>
          <a:ln/>
        </p:spPr>
        <p:txBody>
          <a:bodyPr wrap="square" lIns="0" tIns="0" rIns="0" bIns="0" rtlCol="0" anchor="ctr"/>
          <a:lstStyle/>
          <a:p>
            <a:pPr indent="0" marL="0">
              <a:buNone/>
            </a:pPr>
            <a:r>
              <a:rPr lang="en-US" sz="1100" dirty="0">
                <a:solidFill>
                  <a:srgbClr val="8FA3B0"/>
                </a:solidFill>
                <a:latin typeface="Calibri" pitchFamily="34" charset="0"/>
                <a:ea typeface="Calibri" pitchFamily="34" charset="-122"/>
                <a:cs typeface="Calibri" pitchFamily="34" charset="-120"/>
              </a:rPr>
              <a:t>public, MIT</a:t>
            </a:r>
            <a:endParaRPr lang="en-US" sz="1100" dirty="0"/>
          </a:p>
        </p:txBody>
      </p:sp>
      <p:sp>
        <p:nvSpPr>
          <p:cNvPr id="26" name="Text 24"/>
          <p:cNvSpPr txBox="1"/>
          <p:nvPr/>
        </p:nvSpPr>
        <p:spPr>
          <a:xfrm>
            <a:off x="4572000" y="5605272"/>
            <a:ext cx="3383280" cy="256032"/>
          </a:xfrm>
          <a:prstGeom prst="rect">
            <a:avLst/>
          </a:prstGeom>
          <a:noFill/>
          <a:ln/>
        </p:spPr>
        <p:txBody>
          <a:bodyPr wrap="square" lIns="0" tIns="0" rIns="0" bIns="0" rtlCol="0" anchor="ctr"/>
          <a:lstStyle/>
          <a:p>
            <a:pPr indent="0" marL="0">
              <a:buNone/>
            </a:pPr>
            <a:r>
              <a:rPr lang="en-US" sz="1200" b="1" dirty="0">
                <a:solidFill>
                  <a:srgbClr val="FFC15E"/>
                </a:solidFill>
                <a:latin typeface="Arial" pitchFamily="34" charset="0"/>
                <a:ea typeface="Arial" pitchFamily="34" charset="-122"/>
                <a:cs typeface="Arial" pitchFamily="34" charset="-120"/>
              </a:rPr>
              <a:t>Demo video</a:t>
            </a:r>
            <a:endParaRPr lang="en-US" sz="1200" dirty="0"/>
          </a:p>
        </p:txBody>
      </p:sp>
      <p:sp>
        <p:nvSpPr>
          <p:cNvPr id="27" name="Text 25"/>
          <p:cNvSpPr txBox="1"/>
          <p:nvPr/>
        </p:nvSpPr>
        <p:spPr>
          <a:xfrm>
            <a:off x="4572000" y="5852160"/>
            <a:ext cx="3383280" cy="256032"/>
          </a:xfrm>
          <a:prstGeom prst="rect">
            <a:avLst/>
          </a:prstGeom>
          <a:noFill/>
          <a:ln/>
        </p:spPr>
        <p:txBody>
          <a:bodyPr wrap="square" lIns="0" tIns="0" rIns="0" bIns="0" rtlCol="0" anchor="ctr"/>
          <a:lstStyle/>
          <a:p>
            <a:pPr indent="0" marL="0">
              <a:buNone/>
            </a:pPr>
            <a:r>
              <a:rPr lang="en-US" sz="1100" dirty="0">
                <a:solidFill>
                  <a:srgbClr val="8FA3B0"/>
                </a:solidFill>
                <a:latin typeface="Calibri" pitchFamily="34" charset="0"/>
                <a:ea typeface="Calibri" pitchFamily="34" charset="-122"/>
                <a:cs typeface="Calibri" pitchFamily="34" charset="-120"/>
              </a:rPr>
              <a:t>linked in form</a:t>
            </a:r>
            <a:endParaRPr lang="en-US" sz="1100" dirty="0"/>
          </a:p>
        </p:txBody>
      </p:sp>
      <p:sp>
        <p:nvSpPr>
          <p:cNvPr id="28" name="Text 26"/>
          <p:cNvSpPr txBox="1"/>
          <p:nvPr/>
        </p:nvSpPr>
        <p:spPr>
          <a:xfrm>
            <a:off x="8183880" y="5605272"/>
            <a:ext cx="3383280" cy="256032"/>
          </a:xfrm>
          <a:prstGeom prst="rect">
            <a:avLst/>
          </a:prstGeom>
          <a:noFill/>
          <a:ln/>
        </p:spPr>
        <p:txBody>
          <a:bodyPr wrap="square" lIns="0" tIns="0" rIns="0" bIns="0" rtlCol="0" anchor="ctr"/>
          <a:lstStyle/>
          <a:p>
            <a:pPr indent="0" marL="0">
              <a:buNone/>
            </a:pPr>
            <a:r>
              <a:rPr lang="en-US" sz="1200" b="1" dirty="0">
                <a:solidFill>
                  <a:srgbClr val="FFC15E"/>
                </a:solidFill>
                <a:latin typeface="Arial" pitchFamily="34" charset="0"/>
                <a:ea typeface="Arial" pitchFamily="34" charset="-122"/>
                <a:cs typeface="Arial" pitchFamily="34" charset="-120"/>
              </a:rPr>
              <a:t>Test cases</a:t>
            </a:r>
            <a:endParaRPr lang="en-US" sz="1200" dirty="0"/>
          </a:p>
        </p:txBody>
      </p:sp>
      <p:sp>
        <p:nvSpPr>
          <p:cNvPr id="29" name="Text 27"/>
          <p:cNvSpPr txBox="1"/>
          <p:nvPr/>
        </p:nvSpPr>
        <p:spPr>
          <a:xfrm>
            <a:off x="8183880" y="5852160"/>
            <a:ext cx="3383280" cy="256032"/>
          </a:xfrm>
          <a:prstGeom prst="rect">
            <a:avLst/>
          </a:prstGeom>
          <a:noFill/>
          <a:ln/>
        </p:spPr>
        <p:txBody>
          <a:bodyPr wrap="square" lIns="0" tIns="0" rIns="0" bIns="0" rtlCol="0" anchor="ctr"/>
          <a:lstStyle/>
          <a:p>
            <a:pPr indent="0" marL="0">
              <a:buNone/>
            </a:pPr>
            <a:r>
              <a:rPr lang="en-US" sz="1100" dirty="0">
                <a:solidFill>
                  <a:srgbClr val="8FA3B0"/>
                </a:solidFill>
                <a:latin typeface="Calibri" pitchFamily="34" charset="0"/>
                <a:ea typeface="Calibri" pitchFamily="34" charset="-122"/>
                <a:cs typeface="Calibri" pitchFamily="34" charset="-120"/>
              </a:rPr>
              <a:t>247, in place of a frontend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GradientShield</dc:title>
  <dc:subject>PptxGenJS Presentation</dc:subject>
  <dc:creator>GradientShield</dc:creator>
  <cp:lastModifiedBy>GradientShield</cp:lastModifiedBy>
  <cp:revision>1</cp:revision>
  <dcterms:created xsi:type="dcterms:W3CDTF">2026-09-03T03:51:25Z</dcterms:created>
  <dcterms:modified xsi:type="dcterms:W3CDTF">2026-09-03T03:51:25Z</dcterms:modified>
</cp:coreProperties>
</file>