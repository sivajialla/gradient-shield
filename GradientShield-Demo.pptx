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2F6"/>
                </a:solidFill>
                <a:latin typeface="Arial"/>
              </a:defRPr>
            </a:pPr>
            <a:r>
              <a:rPr sz="1400" b="0" i="0" u="none" strike="noStrike">
                <a:solidFill>
                  <a:srgbClr val="EAF2F6"/>
                </a:solidFill>
                <a:latin typeface="Arial"/>
              </a:rPr>
              <a:t>Attacker's loss (ETH)</a:t>
            </a:r>
          </a:p>
        </c:rich>
      </c:tx>
      <c:layout/>
      <c:overlay val="0"/>
    </c:title>
    <c:autoTitleDeleted val="0"/>
    <c:plotArea>
      <c:layout/>
      <c:barChart>
        <c:barDir val="col"/>
        <c:grouping val="clustered"/>
        <c:varyColors val="0"/>
        <c:ser>
          <c:idx val="0"/>
          <c:order val="0"/>
          <c:tx>
            <c:strRef>
              <c:f>Sheet1!$B$1</c:f>
              <c:strCache>
                <c:ptCount val="1"/>
                <c:pt idx="0">
                  <c:v>Attacker's loss (ETH)</c:v>
                </c:pt>
              </c:strCache>
            </c:strRef>
          </c:tx>
          <c:spPr>
            <a:solidFill>
              <a:srgbClr val="5D717E"/>
            </a:solidFill>
            <a:effectLst/>
          </c:spPr>
          <c:invertIfNegative val="0"/>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dPt>
            <c:idx val="0"/>
            <c:invertIfNegative val="0"/>
            <c:bubble3D val="0"/>
            <c:spPr>
              <a:solidFill>
                <a:srgbClr val="5D717E"/>
              </a:solidFill>
              <a:effectLst/>
            </c:spPr>
          </c:dPt>
          <c:dPt>
            <c:idx val="1"/>
            <c:invertIfNegative val="0"/>
            <c:bubble3D val="0"/>
            <c:spPr>
              <a:solidFill>
                <a:srgbClr val="FF6B5B"/>
              </a:solidFill>
              <a:effectLst/>
            </c:spPr>
          </c:dPt>
          <c:cat>
            <c:multiLvlStrRef>
              <c:f>Sheet1!$A$2:$A$3</c:f>
              <c:multiLvlStrCache>
                <c:ptCount val="2"/>
                <c:lvl>
                  <c:pt idx="0">
                    <c:v>Plain pool</c:v>
                  </c:pt>
                  <c:pt idx="1">
                    <c:v>GradientShield</c:v>
                  </c:pt>
                </c:lvl>
              </c:multiLvlStrCache>
            </c:multiLvlStrRef>
          </c:cat>
          <c:val>
            <c:numRef>
              <c:f>Sheet1!$B$2:$B$3</c:f>
              <c:numCache>
                <c:formatCode>General</c:formatCode>
                <c:ptCount val="2"/>
                <c:pt idx="0">
                  <c:v>0.0112</c:v>
                </c:pt>
                <c:pt idx="1">
                  <c:v>0.0592</c:v>
                </c:pt>
              </c:numCache>
            </c:numRef>
          </c:val>
        </c:ser>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3B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21334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FA3B0"/>
                </a:solidFill>
                <a:latin typeface="Arial"/>
              </a:defRPr>
            </a:pPr>
            <a:endParaRPr lang="en-US"/>
          </a:p>
        </c:txPr>
        <c:crossAx val="2094734554"/>
        <c:crosses val="autoZero"/>
        <c:crossBetween val="between"/>
      </c:valAx>
      <c:spPr>
        <a:solidFill>
          <a:srgbClr val="0F1922"/>
        </a:solidFill>
        <a:ln>
          <a:noFill/>
        </a:ln>
        <a:effectLst/>
      </c:spPr>
    </c:plotArea>
    <c:plotVisOnly val="1"/>
    <c:dispBlanksAs val="span"/>
  </c:chart>
  <c:spPr>
    <a:solidFill>
      <a:srgbClr val="0F19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GradientShield is a Uniswap v4 hook that makes MEV extraction unprofitable. The headline framing matters: we do not block trades and we do not claim to give the victim their price back. We make the attacker pay, measurably, while leaving honest traders exactly where an ordinary pool would leave them. 247 tests, and a live loop you can run on anvil.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transactions, one block. The bot buys ahead, the victim gets a worse price, the bot sells into it. Three reasons existing defences miss: reputation is reactive so the first attack always succeeds; hard caps that revert break permissionlessness; and v4 hands the hook a router address rather than a person, so everyone behind the Universal Router looks like the same trader.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important structural point is the split: layers one to three act on the first ever trade with no reputation lookup, which is what closes the cold-start hole. Layers four and five build the long memory so repeat offenders escalate. Note layer one says no reverts — that was a deliberate change, covered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lead with if asked what changed. The first version reverted trades over 5 ETH. That kills the sandwich but it also refuses honest large trades, and a pool you can be refused from is not permissionless. So instead the fee escalates with the trader's own volume in that block. Anyone can trade any amount at any time — it just gets progressively more expensive to do the thing only an attacker needs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a Uniswap-savvy judge asks. In v4 the sender passed to the hook is whoever called poolManager.swap — a router. If you score that, everyone behind the Universal Router shares one reputation: an honest user inherits a bot's volume, and eventually the router crosses the reject threshold and the pool is bricked for everyone. We resolve the real trader, and the allow-list is the security-critical piece: never ask an unvetted contract who it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spend time on. We ran the same sandwich against two identical pools — same liquidity, same sizes — and the only difference is the guard. The attacker's loss goes from 0.0112 to 0.0592 ETH, so 5.3x, and the extra 0.048 is exactly the fee delta on its back-run. The right-hand column is the part people miss: the victim's execution is identical to the digit and they still pay base fee. The guard costs innocent flow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say this than be caught on it. The guard does not give the victim their price back — the front-run has already moved the market by the time they execute. What it does is destroy the strategy's economics so the next victim never gets hit, and route what is extracted to LPs, since the escalated fee is an LP fee. Every limitation on this slide has a test asserting it, including the pool guard charging a clean bystander.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AVS is not mocked. Operators sign a BN254 BLS signature, the aggregator sums them, and the EVM pairing precompile verifies the aggregate against the signer set the contract derives from its own registry. The gamma term proves in one pairing both that the signature is valid and that the G1 and G2 aggregate keys match — the same construction EigenLayer's BLSSignatureChecker uses. Forged signatures, wrong aggregate keys and duplicate signers are all rejected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terminals and the whole loop closes. The demo driver turns anvil's automining off, queues the three legs, and mines them into one block — which is what a builder would actually produce. The bot and victim are separate EOAs sharing one router: exactly the case that used to defeat the hook. Note the last line — the router's own score stays zero. Run make attack a second time and the bot is repriced to 1.05% while the victim still pays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Everything a judge needs to act on: the repository, and the one command that proves it — clone and forge test, 247 passing with no setup. Both halves of the theme are covered: MEV protection is the obvious one, and sustainable liquidity because the escalated fee is an LP fee, so what the attacker does extract is redirected into yield for the liquidity providers they were preying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1965960"/>
            <a:ext cx="8686800" cy="1005840"/>
          </a:xfrm>
          <a:prstGeom prst="rect">
            <a:avLst/>
          </a:prstGeom>
          <a:noFill/>
          <a:ln/>
        </p:spPr>
        <p:txBody>
          <a:bodyPr wrap="square" lIns="0" tIns="0" rIns="0" bIns="0" rtlCol="0" anchor="ctr"/>
          <a:lstStyle/>
          <a:p>
            <a:pPr indent="0" marL="0">
              <a:buNone/>
            </a:pPr>
            <a:r>
              <a:rPr lang="en-US" sz="6000" b="1" dirty="0">
                <a:solidFill>
                  <a:srgbClr val="EAF2F6"/>
                </a:solidFill>
                <a:latin typeface="Arial" pitchFamily="34" charset="0"/>
                <a:ea typeface="Arial" pitchFamily="34" charset="-122"/>
                <a:cs typeface="Arial" pitchFamily="34" charset="-120"/>
              </a:rPr>
              <a:t>GradientShield</a:t>
            </a:r>
            <a:endParaRPr lang="en-US" sz="6000" dirty="0"/>
          </a:p>
        </p:txBody>
      </p:sp>
      <p:sp>
        <p:nvSpPr>
          <p:cNvPr id="3" name="Text 1"/>
          <p:cNvSpPr txBox="1"/>
          <p:nvPr/>
        </p:nvSpPr>
        <p:spPr>
          <a:xfrm>
            <a:off x="640080" y="3017520"/>
            <a:ext cx="9326880" cy="502920"/>
          </a:xfrm>
          <a:prstGeom prst="rect">
            <a:avLst/>
          </a:prstGeom>
          <a:noFill/>
          <a:ln/>
        </p:spPr>
        <p:txBody>
          <a:bodyPr wrap="square" lIns="0" tIns="0" rIns="0" bIns="0" rtlCol="0" anchor="ctr"/>
          <a:lstStyle/>
          <a:p>
            <a:pPr indent="0" marL="0">
              <a:buNone/>
            </a:pPr>
            <a:r>
              <a:rPr lang="en-US" sz="2200" dirty="0">
                <a:solidFill>
                  <a:srgbClr val="06D6A0"/>
                </a:solidFill>
                <a:latin typeface="Calibri" pitchFamily="34" charset="0"/>
                <a:ea typeface="Calibri" pitchFamily="34" charset="-122"/>
                <a:cs typeface="Calibri" pitchFamily="34" charset="-120"/>
              </a:rPr>
              <a:t>MEV protection that prices the attacker, not the trade</a:t>
            </a:r>
            <a:endParaRPr lang="en-US" sz="2200" dirty="0"/>
          </a:p>
        </p:txBody>
      </p:sp>
      <p:sp>
        <p:nvSpPr>
          <p:cNvPr id="4" name="Text 2"/>
          <p:cNvSpPr txBox="1"/>
          <p:nvPr/>
        </p:nvSpPr>
        <p:spPr>
          <a:xfrm>
            <a:off x="640080" y="3657600"/>
            <a:ext cx="7863840" cy="914400"/>
          </a:xfrm>
          <a:prstGeom prst="rect">
            <a:avLst/>
          </a:prstGeom>
          <a:noFill/>
          <a:ln/>
        </p:spPr>
        <p:txBody>
          <a:bodyPr wrap="square" lIns="0" tIns="0" rIns="0" bIns="0" rtlCol="0" anchor="ctr"/>
          <a:lstStyle/>
          <a:p>
            <a:pPr indent="0" marL="0">
              <a:lnSpc>
                <a:spcPts val="2200"/>
              </a:lnSpc>
              <a:buNone/>
            </a:pPr>
            <a:r>
              <a:rPr lang="en-US" sz="1500" dirty="0">
                <a:solidFill>
                  <a:srgbClr val="8FA3B0"/>
                </a:solidFill>
                <a:latin typeface="Calibri" pitchFamily="34" charset="0"/>
                <a:ea typeface="Calibri" pitchFamily="34" charset="-122"/>
                <a:cs typeface="Calibri" pitchFamily="34" charset="-120"/>
              </a:rPr>
              <a:t>A Uniswap v4 hook. Sandwich and JIT detection on the first trade, progressive fees instead of blocked trades, and an EigenLayer-style BLS operator quorum that turns observed attacks into on-chain reputation.</a:t>
            </a:r>
            <a:endParaRPr lang="en-US" sz="1500" dirty="0"/>
          </a:p>
        </p:txBody>
      </p:sp>
      <p:sp>
        <p:nvSpPr>
          <p:cNvPr id="5" name="Text 3"/>
          <p:cNvSpPr txBox="1"/>
          <p:nvPr/>
        </p:nvSpPr>
        <p:spPr>
          <a:xfrm>
            <a:off x="640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247</a:t>
            </a:r>
            <a:endParaRPr lang="en-US" sz="2600" dirty="0"/>
          </a:p>
        </p:txBody>
      </p:sp>
      <p:sp>
        <p:nvSpPr>
          <p:cNvPr id="6" name="Text 4"/>
          <p:cNvSpPr txBox="1"/>
          <p:nvPr/>
        </p:nvSpPr>
        <p:spPr>
          <a:xfrm>
            <a:off x="640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tests, 20 suites</a:t>
            </a:r>
            <a:endParaRPr lang="en-US" sz="1200" dirty="0"/>
          </a:p>
        </p:txBody>
      </p:sp>
      <p:sp>
        <p:nvSpPr>
          <p:cNvPr id="7" name="Text 5"/>
          <p:cNvSpPr txBox="1"/>
          <p:nvPr/>
        </p:nvSpPr>
        <p:spPr>
          <a:xfrm>
            <a:off x="2926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12.8 KB</a:t>
            </a:r>
            <a:endParaRPr lang="en-US" sz="2600" dirty="0"/>
          </a:p>
        </p:txBody>
      </p:sp>
      <p:sp>
        <p:nvSpPr>
          <p:cNvPr id="8" name="Text 6"/>
          <p:cNvSpPr txBox="1"/>
          <p:nvPr/>
        </p:nvSpPr>
        <p:spPr>
          <a:xfrm>
            <a:off x="2926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hook bytecode</a:t>
            </a:r>
            <a:endParaRPr lang="en-US" sz="1200" dirty="0"/>
          </a:p>
        </p:txBody>
      </p:sp>
      <p:sp>
        <p:nvSpPr>
          <p:cNvPr id="9" name="Text 7"/>
          <p:cNvSpPr txBox="1"/>
          <p:nvPr/>
        </p:nvSpPr>
        <p:spPr>
          <a:xfrm>
            <a:off x="5212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5.3x</a:t>
            </a:r>
            <a:endParaRPr lang="en-US" sz="2600" dirty="0"/>
          </a:p>
        </p:txBody>
      </p:sp>
      <p:sp>
        <p:nvSpPr>
          <p:cNvPr id="10" name="Text 8"/>
          <p:cNvSpPr txBox="1"/>
          <p:nvPr/>
        </p:nvSpPr>
        <p:spPr>
          <a:xfrm>
            <a:off x="5212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attacker cost</a:t>
            </a:r>
            <a:endParaRPr lang="en-US" sz="1200" dirty="0"/>
          </a:p>
        </p:txBody>
      </p:sp>
      <p:sp>
        <p:nvSpPr>
          <p:cNvPr id="11" name="Text 9"/>
          <p:cNvSpPr txBox="1"/>
          <p:nvPr/>
        </p:nvSpPr>
        <p:spPr>
          <a:xfrm>
            <a:off x="640080" y="5897880"/>
            <a:ext cx="5486400" cy="292608"/>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Sivaji Alla</a:t>
            </a:r>
            <a:endParaRPr lang="en-US" sz="1500" dirty="0"/>
          </a:p>
        </p:txBody>
      </p:sp>
      <p:sp>
        <p:nvSpPr>
          <p:cNvPr id="12" name="Text 10"/>
          <p:cNvSpPr txBox="1"/>
          <p:nvPr/>
        </p:nvSpPr>
        <p:spPr>
          <a:xfrm>
            <a:off x="640080" y="6199632"/>
            <a:ext cx="548640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Project HK-UHI10-1050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sandwich is three transactions in one block</a:t>
            </a:r>
            <a:endParaRPr lang="en-US" sz="3400" dirty="0"/>
          </a:p>
        </p:txBody>
      </p:sp>
      <p:sp>
        <p:nvSpPr>
          <p:cNvPr id="4" name="Shape 2"/>
          <p:cNvSpPr/>
          <p:nvPr/>
        </p:nvSpPr>
        <p:spPr>
          <a:xfrm>
            <a:off x="640080" y="1965960"/>
            <a:ext cx="3429000" cy="1783080"/>
          </a:xfrm>
          <a:prstGeom prst="roundRect">
            <a:avLst>
              <a:gd name="adj" fmla="val 4103"/>
            </a:avLst>
          </a:prstGeom>
          <a:solidFill>
            <a:srgbClr val="1B2A36"/>
          </a:solidFill>
          <a:ln w="12700">
            <a:solidFill>
              <a:srgbClr val="1B2A36"/>
            </a:solidFill>
            <a:prstDash val="solid"/>
          </a:ln>
        </p:spPr>
      </p:sp>
      <p:sp>
        <p:nvSpPr>
          <p:cNvPr id="5" name="Shape 3"/>
          <p:cNvSpPr/>
          <p:nvPr/>
        </p:nvSpPr>
        <p:spPr>
          <a:xfrm>
            <a:off x="914400" y="2240280"/>
            <a:ext cx="384048" cy="384048"/>
          </a:xfrm>
          <a:prstGeom prst="ellipse">
            <a:avLst/>
          </a:prstGeom>
          <a:solidFill>
            <a:srgbClr val="FF6B5B"/>
          </a:solidFill>
          <a:ln w="12700">
            <a:solidFill>
              <a:srgbClr val="FF6B5B"/>
            </a:solidFill>
            <a:prstDash val="solid"/>
          </a:ln>
        </p:spPr>
      </p:sp>
      <p:sp>
        <p:nvSpPr>
          <p:cNvPr id="6" name="Text 4"/>
          <p:cNvSpPr txBox="1"/>
          <p:nvPr/>
        </p:nvSpPr>
        <p:spPr>
          <a:xfrm>
            <a:off x="91440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1440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front-runs</a:t>
            </a:r>
            <a:endParaRPr lang="en-US" sz="1700" dirty="0"/>
          </a:p>
        </p:txBody>
      </p:sp>
      <p:sp>
        <p:nvSpPr>
          <p:cNvPr id="8" name="Text 6"/>
          <p:cNvSpPr txBox="1"/>
          <p:nvPr/>
        </p:nvSpPr>
        <p:spPr>
          <a:xfrm>
            <a:off x="91440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Buys ahead of the victim, pushing the price up.</a:t>
            </a:r>
            <a:endParaRPr lang="en-US" sz="1300" dirty="0"/>
          </a:p>
        </p:txBody>
      </p:sp>
      <p:sp>
        <p:nvSpPr>
          <p:cNvPr id="9" name="Shape 7"/>
          <p:cNvSpPr/>
          <p:nvPr/>
        </p:nvSpPr>
        <p:spPr>
          <a:xfrm>
            <a:off x="4343400" y="1965960"/>
            <a:ext cx="3429000" cy="1783080"/>
          </a:xfrm>
          <a:prstGeom prst="roundRect">
            <a:avLst>
              <a:gd name="adj" fmla="val 4103"/>
            </a:avLst>
          </a:prstGeom>
          <a:solidFill>
            <a:srgbClr val="1B2A36"/>
          </a:solidFill>
          <a:ln w="12700">
            <a:solidFill>
              <a:srgbClr val="1B2A36"/>
            </a:solidFill>
            <a:prstDash val="solid"/>
          </a:ln>
        </p:spPr>
      </p:sp>
      <p:sp>
        <p:nvSpPr>
          <p:cNvPr id="10" name="Shape 8"/>
          <p:cNvSpPr/>
          <p:nvPr/>
        </p:nvSpPr>
        <p:spPr>
          <a:xfrm>
            <a:off x="4617720" y="2240280"/>
            <a:ext cx="384048" cy="384048"/>
          </a:xfrm>
          <a:prstGeom prst="ellipse">
            <a:avLst/>
          </a:prstGeom>
          <a:solidFill>
            <a:srgbClr val="FFC15E"/>
          </a:solidFill>
          <a:ln w="12700">
            <a:solidFill>
              <a:srgbClr val="FFC15E"/>
            </a:solidFill>
            <a:prstDash val="solid"/>
          </a:ln>
        </p:spPr>
      </p:sp>
      <p:sp>
        <p:nvSpPr>
          <p:cNvPr id="11" name="Text 9"/>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61772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Victim swaps</a:t>
            </a:r>
            <a:endParaRPr lang="en-US" sz="1700" dirty="0"/>
          </a:p>
        </p:txBody>
      </p:sp>
      <p:sp>
        <p:nvSpPr>
          <p:cNvPr id="13" name="Text 11"/>
          <p:cNvSpPr txBox="1"/>
          <p:nvPr/>
        </p:nvSpPr>
        <p:spPr>
          <a:xfrm>
            <a:off x="461772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Executes at the worse price the bot just created.</a:t>
            </a:r>
            <a:endParaRPr lang="en-US" sz="1300" dirty="0"/>
          </a:p>
        </p:txBody>
      </p:sp>
      <p:sp>
        <p:nvSpPr>
          <p:cNvPr id="14" name="Shape 12"/>
          <p:cNvSpPr/>
          <p:nvPr/>
        </p:nvSpPr>
        <p:spPr>
          <a:xfrm>
            <a:off x="8046720" y="1965960"/>
            <a:ext cx="3429000" cy="1783080"/>
          </a:xfrm>
          <a:prstGeom prst="roundRect">
            <a:avLst>
              <a:gd name="adj" fmla="val 4103"/>
            </a:avLst>
          </a:prstGeom>
          <a:solidFill>
            <a:srgbClr val="1B2A36"/>
          </a:solidFill>
          <a:ln w="12700">
            <a:solidFill>
              <a:srgbClr val="1B2A36"/>
            </a:solidFill>
            <a:prstDash val="solid"/>
          </a:ln>
        </p:spPr>
      </p:sp>
      <p:sp>
        <p:nvSpPr>
          <p:cNvPr id="15" name="Shape 13"/>
          <p:cNvSpPr/>
          <p:nvPr/>
        </p:nvSpPr>
        <p:spPr>
          <a:xfrm>
            <a:off x="8321040" y="2240280"/>
            <a:ext cx="384048" cy="384048"/>
          </a:xfrm>
          <a:prstGeom prst="ellipse">
            <a:avLst/>
          </a:prstGeom>
          <a:solidFill>
            <a:srgbClr val="FF6B5B"/>
          </a:solidFill>
          <a:ln w="12700">
            <a:solidFill>
              <a:srgbClr val="FF6B5B"/>
            </a:solidFill>
            <a:prstDash val="solid"/>
          </a:ln>
        </p:spPr>
      </p:sp>
      <p:sp>
        <p:nvSpPr>
          <p:cNvPr id="16" name="Text 14"/>
          <p:cNvSpPr txBox="1"/>
          <p:nvPr/>
        </p:nvSpPr>
        <p:spPr>
          <a:xfrm>
            <a:off x="832104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2104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back-runs</a:t>
            </a:r>
            <a:endParaRPr lang="en-US" sz="1700" dirty="0"/>
          </a:p>
        </p:txBody>
      </p:sp>
      <p:sp>
        <p:nvSpPr>
          <p:cNvPr id="18" name="Text 16"/>
          <p:cNvSpPr txBox="1"/>
          <p:nvPr/>
        </p:nvSpPr>
        <p:spPr>
          <a:xfrm>
            <a:off x="832104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Sells into the move and books the spread.</a:t>
            </a:r>
            <a:endParaRPr lang="en-US" sz="1300" dirty="0"/>
          </a:p>
        </p:txBody>
      </p:sp>
      <p:sp>
        <p:nvSpPr>
          <p:cNvPr id="19" name="Shape 17"/>
          <p:cNvSpPr/>
          <p:nvPr/>
        </p:nvSpPr>
        <p:spPr>
          <a:xfrm>
            <a:off x="640080" y="4069080"/>
            <a:ext cx="10881360" cy="1508760"/>
          </a:xfrm>
          <a:prstGeom prst="roundRect">
            <a:avLst>
              <a:gd name="adj" fmla="val 4848"/>
            </a:avLst>
          </a:prstGeom>
          <a:solidFill>
            <a:srgbClr val="213341"/>
          </a:solidFill>
          <a:ln w="12700">
            <a:solidFill>
              <a:srgbClr val="213341"/>
            </a:solidFill>
            <a:prstDash val="solid"/>
          </a:ln>
        </p:spPr>
      </p:sp>
      <p:sp>
        <p:nvSpPr>
          <p:cNvPr id="20" name="Text 18"/>
          <p:cNvSpPr txBox="1"/>
          <p:nvPr/>
        </p:nvSpPr>
        <p:spPr>
          <a:xfrm>
            <a:off x="960120" y="4279392"/>
            <a:ext cx="502920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Why existing defences miss it</a:t>
            </a:r>
            <a:endParaRPr lang="en-US" sz="1600" dirty="0"/>
          </a:p>
        </p:txBody>
      </p:sp>
      <p:sp>
        <p:nvSpPr>
          <p:cNvPr id="21" name="Text 19"/>
          <p:cNvSpPr txBox="1"/>
          <p:nvPr/>
        </p:nvSpPr>
        <p:spPr>
          <a:xfrm>
            <a:off x="960120" y="4617720"/>
            <a:ext cx="10241280" cy="86868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Reputation systems are reactive — the first attack from a fresh address always lands.</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Hard caps that revert oversized trades break permissionlessness for everyone else.</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Uniswap v4 hands a hook the router address, not the trader — so everyone behind one router shares an identity.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Five layers, three of them on the first trade</a:t>
            </a:r>
            <a:endParaRPr lang="en-US" sz="3400" dirty="0"/>
          </a:p>
        </p:txBody>
      </p:sp>
      <p:sp>
        <p:nvSpPr>
          <p:cNvPr id="4" name="Shape 2"/>
          <p:cNvSpPr/>
          <p:nvPr/>
        </p:nvSpPr>
        <p:spPr>
          <a:xfrm>
            <a:off x="640080" y="1874520"/>
            <a:ext cx="10881360" cy="731520"/>
          </a:xfrm>
          <a:prstGeom prst="roundRect">
            <a:avLst>
              <a:gd name="adj" fmla="val 10000"/>
            </a:avLst>
          </a:prstGeom>
          <a:solidFill>
            <a:srgbClr val="1B2A36"/>
          </a:solidFill>
          <a:ln w="12700">
            <a:solidFill>
              <a:srgbClr val="1B2A36"/>
            </a:solidFill>
            <a:prstDash val="solid"/>
          </a:ln>
        </p:spPr>
      </p:sp>
      <p:sp>
        <p:nvSpPr>
          <p:cNvPr id="5" name="Shape 3"/>
          <p:cNvSpPr/>
          <p:nvPr/>
        </p:nvSpPr>
        <p:spPr>
          <a:xfrm>
            <a:off x="868680" y="2048256"/>
            <a:ext cx="384048" cy="384048"/>
          </a:xfrm>
          <a:prstGeom prst="ellipse">
            <a:avLst/>
          </a:prstGeom>
          <a:solidFill>
            <a:srgbClr val="06D6A0"/>
          </a:solidFill>
          <a:ln w="12700">
            <a:solidFill>
              <a:srgbClr val="06D6A0"/>
            </a:solidFill>
            <a:prstDash val="solid"/>
          </a:ln>
        </p:spPr>
      </p:sp>
      <p:sp>
        <p:nvSpPr>
          <p:cNvPr id="6" name="Text 4"/>
          <p:cNvSpPr txBox="1"/>
          <p:nvPr/>
        </p:nvSpPr>
        <p:spPr>
          <a:xfrm>
            <a:off x="868680" y="2048256"/>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417320" y="1984248"/>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Trader volume fees</a:t>
            </a:r>
            <a:endParaRPr lang="en-US" sz="1500" dirty="0"/>
          </a:p>
        </p:txBody>
      </p:sp>
      <p:sp>
        <p:nvSpPr>
          <p:cNvPr id="8" name="Text 6"/>
          <p:cNvSpPr txBox="1"/>
          <p:nvPr/>
        </p:nvSpPr>
        <p:spPr>
          <a:xfrm>
            <a:off x="1417320" y="2276856"/>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9" name="Text 7"/>
          <p:cNvSpPr txBox="1"/>
          <p:nvPr/>
        </p:nvSpPr>
        <p:spPr>
          <a:xfrm>
            <a:off x="4297680" y="2057400"/>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Per-trader volume per block. Past 5 ETH the fee steps 1.50% → 3.00% → 5.00%. No reverts.</a:t>
            </a:r>
            <a:endParaRPr lang="en-US" sz="1300" dirty="0"/>
          </a:p>
        </p:txBody>
      </p:sp>
      <p:sp>
        <p:nvSpPr>
          <p:cNvPr id="10" name="Shape 8"/>
          <p:cNvSpPr/>
          <p:nvPr/>
        </p:nvSpPr>
        <p:spPr>
          <a:xfrm>
            <a:off x="640080" y="2715768"/>
            <a:ext cx="10881360" cy="731520"/>
          </a:xfrm>
          <a:prstGeom prst="roundRect">
            <a:avLst>
              <a:gd name="adj" fmla="val 10000"/>
            </a:avLst>
          </a:prstGeom>
          <a:solidFill>
            <a:srgbClr val="1B2A36"/>
          </a:solidFill>
          <a:ln w="12700">
            <a:solidFill>
              <a:srgbClr val="1B2A36"/>
            </a:solidFill>
            <a:prstDash val="solid"/>
          </a:ln>
        </p:spPr>
      </p:sp>
      <p:sp>
        <p:nvSpPr>
          <p:cNvPr id="11" name="Shape 9"/>
          <p:cNvSpPr/>
          <p:nvPr/>
        </p:nvSpPr>
        <p:spPr>
          <a:xfrm>
            <a:off x="868680" y="2889504"/>
            <a:ext cx="384048" cy="384048"/>
          </a:xfrm>
          <a:prstGeom prst="ellipse">
            <a:avLst/>
          </a:prstGeom>
          <a:solidFill>
            <a:srgbClr val="06D6A0"/>
          </a:solidFill>
          <a:ln w="12700">
            <a:solidFill>
              <a:srgbClr val="06D6A0"/>
            </a:solidFill>
            <a:prstDash val="solid"/>
          </a:ln>
        </p:spPr>
      </p:sp>
      <p:sp>
        <p:nvSpPr>
          <p:cNvPr id="12" name="Text 10"/>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17320" y="2825496"/>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Pool impact guard</a:t>
            </a:r>
            <a:endParaRPr lang="en-US" sz="1500" dirty="0"/>
          </a:p>
        </p:txBody>
      </p:sp>
      <p:sp>
        <p:nvSpPr>
          <p:cNvPr id="14" name="Text 12"/>
          <p:cNvSpPr txBox="1"/>
          <p:nvPr/>
        </p:nvSpPr>
        <p:spPr>
          <a:xfrm>
            <a:off x="1417320" y="3118104"/>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15" name="Text 13"/>
          <p:cNvSpPr txBox="1"/>
          <p:nvPr/>
        </p:nvSpPr>
        <p:spPr>
          <a:xfrm>
            <a:off x="4297680" y="2898648"/>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Pool-wide volume past 10 ETH in a block adds a 1.50% penalty.</a:t>
            </a:r>
            <a:endParaRPr lang="en-US" sz="1300" dirty="0"/>
          </a:p>
        </p:txBody>
      </p:sp>
      <p:sp>
        <p:nvSpPr>
          <p:cNvPr id="16" name="Shape 14"/>
          <p:cNvSpPr/>
          <p:nvPr/>
        </p:nvSpPr>
        <p:spPr>
          <a:xfrm>
            <a:off x="640080" y="3557016"/>
            <a:ext cx="10881360" cy="731520"/>
          </a:xfrm>
          <a:prstGeom prst="roundRect">
            <a:avLst>
              <a:gd name="adj" fmla="val 10000"/>
            </a:avLst>
          </a:prstGeom>
          <a:solidFill>
            <a:srgbClr val="1B2A36"/>
          </a:solidFill>
          <a:ln w="12700">
            <a:solidFill>
              <a:srgbClr val="1B2A36"/>
            </a:solidFill>
            <a:prstDash val="solid"/>
          </a:ln>
        </p:spPr>
      </p:sp>
      <p:sp>
        <p:nvSpPr>
          <p:cNvPr id="17" name="Shape 15"/>
          <p:cNvSpPr/>
          <p:nvPr/>
        </p:nvSpPr>
        <p:spPr>
          <a:xfrm>
            <a:off x="868680" y="3730752"/>
            <a:ext cx="384048" cy="384048"/>
          </a:xfrm>
          <a:prstGeom prst="ellipse">
            <a:avLst/>
          </a:prstGeom>
          <a:solidFill>
            <a:srgbClr val="06D6A0"/>
          </a:solidFill>
          <a:ln w="12700">
            <a:solidFill>
              <a:srgbClr val="06D6A0"/>
            </a:solidFill>
            <a:prstDash val="solid"/>
          </a:ln>
        </p:spPr>
      </p:sp>
      <p:sp>
        <p:nvSpPr>
          <p:cNvPr id="18" name="Text 16"/>
          <p:cNvSpPr txBox="1"/>
          <p:nvPr/>
        </p:nvSpPr>
        <p:spPr>
          <a:xfrm>
            <a:off x="868680" y="3730752"/>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1417320" y="3666744"/>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Sandwich / JIT detection</a:t>
            </a:r>
            <a:endParaRPr lang="en-US" sz="1500" dirty="0"/>
          </a:p>
        </p:txBody>
      </p:sp>
      <p:sp>
        <p:nvSpPr>
          <p:cNvPr id="20" name="Text 18"/>
          <p:cNvSpPr txBox="1"/>
          <p:nvPr/>
        </p:nvSpPr>
        <p:spPr>
          <a:xfrm>
            <a:off x="1417320" y="3959352"/>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Same block</a:t>
            </a:r>
            <a:endParaRPr lang="en-US" sz="1100" dirty="0"/>
          </a:p>
        </p:txBody>
      </p:sp>
      <p:sp>
        <p:nvSpPr>
          <p:cNvPr id="21" name="Text 19"/>
          <p:cNvSpPr txBox="1"/>
          <p:nvPr/>
        </p:nvSpPr>
        <p:spPr>
          <a:xfrm>
            <a:off x="4297680" y="3739896"/>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Block-scoped on-chain state spots buy→victim→sell and add→swap→remove.</a:t>
            </a:r>
            <a:endParaRPr lang="en-US" sz="1300" dirty="0"/>
          </a:p>
        </p:txBody>
      </p:sp>
      <p:sp>
        <p:nvSpPr>
          <p:cNvPr id="22" name="Shape 20"/>
          <p:cNvSpPr/>
          <p:nvPr/>
        </p:nvSpPr>
        <p:spPr>
          <a:xfrm>
            <a:off x="640080" y="4398264"/>
            <a:ext cx="10881360" cy="731520"/>
          </a:xfrm>
          <a:prstGeom prst="roundRect">
            <a:avLst>
              <a:gd name="adj" fmla="val 10000"/>
            </a:avLst>
          </a:prstGeom>
          <a:solidFill>
            <a:srgbClr val="1B2A36"/>
          </a:solidFill>
          <a:ln w="12700">
            <a:solidFill>
              <a:srgbClr val="1B2A36"/>
            </a:solidFill>
            <a:prstDash val="solid"/>
          </a:ln>
        </p:spPr>
      </p:sp>
      <p:sp>
        <p:nvSpPr>
          <p:cNvPr id="23" name="Shape 21"/>
          <p:cNvSpPr/>
          <p:nvPr/>
        </p:nvSpPr>
        <p:spPr>
          <a:xfrm>
            <a:off x="868680" y="4572000"/>
            <a:ext cx="384048" cy="384048"/>
          </a:xfrm>
          <a:prstGeom prst="ellipse">
            <a:avLst/>
          </a:prstGeom>
          <a:solidFill>
            <a:srgbClr val="FFC15E"/>
          </a:solidFill>
          <a:ln w="12700">
            <a:solidFill>
              <a:srgbClr val="FFC15E"/>
            </a:solidFill>
            <a:prstDash val="solid"/>
          </a:ln>
        </p:spPr>
      </p:sp>
      <p:sp>
        <p:nvSpPr>
          <p:cNvPr id="24" name="Text 22"/>
          <p:cNvSpPr txBox="1"/>
          <p:nvPr/>
        </p:nvSpPr>
        <p:spPr>
          <a:xfrm>
            <a:off x="868680" y="457200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1417320" y="4507992"/>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Continuous fee curve</a:t>
            </a:r>
            <a:endParaRPr lang="en-US" sz="1500" dirty="0"/>
          </a:p>
        </p:txBody>
      </p:sp>
      <p:sp>
        <p:nvSpPr>
          <p:cNvPr id="26" name="Text 24"/>
          <p:cNvSpPr txBox="1"/>
          <p:nvPr/>
        </p:nvSpPr>
        <p:spPr>
          <a:xfrm>
            <a:off x="1417320" y="4800600"/>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Every swap</a:t>
            </a:r>
            <a:endParaRPr lang="en-US" sz="1100" dirty="0"/>
          </a:p>
        </p:txBody>
      </p:sp>
      <p:sp>
        <p:nvSpPr>
          <p:cNvPr id="27" name="Text 25"/>
          <p:cNvSpPr txBox="1"/>
          <p:nvPr/>
        </p:nvSpPr>
        <p:spPr>
          <a:xfrm>
            <a:off x="4297680" y="4581144"/>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Score 0-100 maps onto 0.30% → 1.50%. Score 80+ is rejected outright.</a:t>
            </a:r>
            <a:endParaRPr lang="en-US" sz="1300" dirty="0"/>
          </a:p>
        </p:txBody>
      </p:sp>
      <p:sp>
        <p:nvSpPr>
          <p:cNvPr id="28" name="Shape 26"/>
          <p:cNvSpPr/>
          <p:nvPr/>
        </p:nvSpPr>
        <p:spPr>
          <a:xfrm>
            <a:off x="640080" y="5239512"/>
            <a:ext cx="10881360" cy="731520"/>
          </a:xfrm>
          <a:prstGeom prst="roundRect">
            <a:avLst>
              <a:gd name="adj" fmla="val 10000"/>
            </a:avLst>
          </a:prstGeom>
          <a:solidFill>
            <a:srgbClr val="1B2A36"/>
          </a:solidFill>
          <a:ln w="12700">
            <a:solidFill>
              <a:srgbClr val="1B2A36"/>
            </a:solidFill>
            <a:prstDash val="solid"/>
          </a:ln>
        </p:spPr>
      </p:sp>
      <p:sp>
        <p:nvSpPr>
          <p:cNvPr id="29" name="Shape 27"/>
          <p:cNvSpPr/>
          <p:nvPr/>
        </p:nvSpPr>
        <p:spPr>
          <a:xfrm>
            <a:off x="868680" y="5413248"/>
            <a:ext cx="384048" cy="384048"/>
          </a:xfrm>
          <a:prstGeom prst="ellipse">
            <a:avLst/>
          </a:prstGeom>
          <a:solidFill>
            <a:srgbClr val="FFC15E"/>
          </a:solidFill>
          <a:ln w="12700">
            <a:solidFill>
              <a:srgbClr val="FFC15E"/>
            </a:solidFill>
            <a:prstDash val="solid"/>
          </a:ln>
        </p:spPr>
      </p:sp>
      <p:sp>
        <p:nvSpPr>
          <p:cNvPr id="30" name="Text 28"/>
          <p:cNvSpPr txBox="1"/>
          <p:nvPr/>
        </p:nvSpPr>
        <p:spPr>
          <a:xfrm>
            <a:off x="868680" y="5413248"/>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5</a:t>
            </a:r>
            <a:endParaRPr lang="en-US" sz="1400" dirty="0"/>
          </a:p>
        </p:txBody>
      </p:sp>
      <p:sp>
        <p:nvSpPr>
          <p:cNvPr id="31" name="Text 29"/>
          <p:cNvSpPr txBox="1"/>
          <p:nvPr/>
        </p:nvSpPr>
        <p:spPr>
          <a:xfrm>
            <a:off x="1417320" y="5349240"/>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AVS scoring quorum</a:t>
            </a:r>
            <a:endParaRPr lang="en-US" sz="1500" dirty="0"/>
          </a:p>
        </p:txBody>
      </p:sp>
      <p:sp>
        <p:nvSpPr>
          <p:cNvPr id="32" name="Text 30"/>
          <p:cNvSpPr txBox="1"/>
          <p:nvPr/>
        </p:nvSpPr>
        <p:spPr>
          <a:xfrm>
            <a:off x="1417320" y="5641848"/>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Async</a:t>
            </a:r>
            <a:endParaRPr lang="en-US" sz="1100" dirty="0"/>
          </a:p>
        </p:txBody>
      </p:sp>
      <p:sp>
        <p:nvSpPr>
          <p:cNvPr id="33" name="Text 31"/>
          <p:cNvSpPr txBox="1"/>
          <p:nvPr/>
        </p:nvSpPr>
        <p:spPr>
          <a:xfrm>
            <a:off x="4297680" y="5422392"/>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BLS operators read the hook's events and write a verified score on-chain.</a:t>
            </a:r>
            <a:endParaRPr lang="en-US" sz="1300" dirty="0"/>
          </a:p>
        </p:txBody>
      </p:sp>
      <p:sp>
        <p:nvSpPr>
          <p:cNvPr id="34" name="Text 32"/>
          <p:cNvSpPr txBox="1"/>
          <p:nvPr/>
        </p:nvSpPr>
        <p:spPr>
          <a:xfrm>
            <a:off x="640080" y="6144768"/>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Layers 1-3 need no history — they act on an address's very first trade.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DESIGN DECISION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Progressive fees, never a blocked trade</a:t>
            </a:r>
            <a:endParaRPr lang="en-US" sz="3400" dirty="0"/>
          </a:p>
        </p:txBody>
      </p:sp>
      <p:sp>
        <p:nvSpPr>
          <p:cNvPr id="4" name="Shape 2"/>
          <p:cNvSpPr/>
          <p:nvPr/>
        </p:nvSpPr>
        <p:spPr>
          <a:xfrm>
            <a:off x="640080" y="1828800"/>
            <a:ext cx="5120640" cy="1828800"/>
          </a:xfrm>
          <a:prstGeom prst="roundRect">
            <a:avLst>
              <a:gd name="adj" fmla="val 4000"/>
            </a:avLst>
          </a:prstGeom>
          <a:solidFill>
            <a:srgbClr val="213341"/>
          </a:solidFill>
          <a:ln w="12700">
            <a:solidFill>
              <a:srgbClr val="213341"/>
            </a:solidFill>
            <a:prstDash val="solid"/>
          </a:ln>
        </p:spPr>
      </p:sp>
      <p:sp>
        <p:nvSpPr>
          <p:cNvPr id="5" name="Text 3"/>
          <p:cNvSpPr txBox="1"/>
          <p:nvPr/>
        </p:nvSpPr>
        <p:spPr>
          <a:xfrm>
            <a:off x="960120" y="2057400"/>
            <a:ext cx="448056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Rejected: a hard cap</a:t>
            </a:r>
            <a:endParaRPr lang="en-US" sz="1700" dirty="0"/>
          </a:p>
        </p:txBody>
      </p:sp>
      <p:sp>
        <p:nvSpPr>
          <p:cNvPr id="6" name="Text 4"/>
          <p:cNvSpPr txBox="1"/>
          <p:nvPr/>
        </p:nvSpPr>
        <p:spPr>
          <a:xfrm>
            <a:off x="9601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Reverting any swap above 5 ETH stops the sandwich — and also stops every legitimate large trade. A pool anyone can be refused from is not permissionless.</a:t>
            </a:r>
            <a:endParaRPr lang="en-US" sz="1300" dirty="0"/>
          </a:p>
        </p:txBody>
      </p:sp>
      <p:sp>
        <p:nvSpPr>
          <p:cNvPr id="7" name="Shape 5"/>
          <p:cNvSpPr/>
          <p:nvPr/>
        </p:nvSpPr>
        <p:spPr>
          <a:xfrm>
            <a:off x="6126480" y="1828800"/>
            <a:ext cx="5120640" cy="1828800"/>
          </a:xfrm>
          <a:prstGeom prst="roundRect">
            <a:avLst>
              <a:gd name="adj" fmla="val 4000"/>
            </a:avLst>
          </a:prstGeom>
          <a:solidFill>
            <a:srgbClr val="1B2A36"/>
          </a:solidFill>
          <a:ln w="12700">
            <a:solidFill>
              <a:srgbClr val="1B2A36"/>
            </a:solidFill>
            <a:prstDash val="solid"/>
          </a:ln>
        </p:spPr>
      </p:sp>
      <p:sp>
        <p:nvSpPr>
          <p:cNvPr id="8" name="Text 6"/>
          <p:cNvSpPr txBox="1"/>
          <p:nvPr/>
        </p:nvSpPr>
        <p:spPr>
          <a:xfrm>
            <a:off x="6446520" y="2057400"/>
            <a:ext cx="4480560" cy="320040"/>
          </a:xfrm>
          <a:prstGeom prst="rect">
            <a:avLst/>
          </a:prstGeom>
          <a:noFill/>
          <a:ln/>
        </p:spPr>
        <p:txBody>
          <a:bodyPr wrap="square" lIns="0" tIns="0" rIns="0" bIns="0" rtlCol="0" anchor="ctr"/>
          <a:lstStyle/>
          <a:p>
            <a:pPr indent="0" marL="0">
              <a:buNone/>
            </a:pPr>
            <a:r>
              <a:rPr lang="en-US" sz="1700" b="1" dirty="0">
                <a:solidFill>
                  <a:srgbClr val="06D6A0"/>
                </a:solidFill>
                <a:latin typeface="Arial" pitchFamily="34" charset="0"/>
                <a:ea typeface="Arial" pitchFamily="34" charset="-122"/>
                <a:cs typeface="Arial" pitchFamily="34" charset="-120"/>
              </a:rPr>
              <a:t>Shipped: escalating fees</a:t>
            </a:r>
            <a:endParaRPr lang="en-US" sz="1700" dirty="0"/>
          </a:p>
        </p:txBody>
      </p:sp>
      <p:sp>
        <p:nvSpPr>
          <p:cNvPr id="9" name="Text 7"/>
          <p:cNvSpPr txBox="1"/>
          <p:nvPr/>
        </p:nvSpPr>
        <p:spPr>
          <a:xfrm>
            <a:off x="64465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Any address can trade any size at any time. The fee climbs with how much volume that trader pushes through one pool in one block.</a:t>
            </a:r>
            <a:endParaRPr lang="en-US" sz="1300" dirty="0"/>
          </a:p>
        </p:txBody>
      </p:sp>
      <p:sp>
        <p:nvSpPr>
          <p:cNvPr id="10" name="Shape 8"/>
          <p:cNvSpPr/>
          <p:nvPr/>
        </p:nvSpPr>
        <p:spPr>
          <a:xfrm>
            <a:off x="640080" y="3931920"/>
            <a:ext cx="2468880" cy="1417320"/>
          </a:xfrm>
          <a:prstGeom prst="roundRect">
            <a:avLst>
              <a:gd name="adj" fmla="val 5161"/>
            </a:avLst>
          </a:prstGeom>
          <a:solidFill>
            <a:srgbClr val="1B2A36"/>
          </a:solidFill>
          <a:ln w="12700">
            <a:solidFill>
              <a:srgbClr val="1B2A36"/>
            </a:solidFill>
            <a:prstDash val="solid"/>
          </a:ln>
        </p:spPr>
      </p:sp>
      <p:sp>
        <p:nvSpPr>
          <p:cNvPr id="11" name="Text 9"/>
          <p:cNvSpPr txBox="1"/>
          <p:nvPr/>
        </p:nvSpPr>
        <p:spPr>
          <a:xfrm>
            <a:off x="868680" y="4114800"/>
            <a:ext cx="2011680" cy="457200"/>
          </a:xfrm>
          <a:prstGeom prst="rect">
            <a:avLst/>
          </a:prstGeom>
          <a:noFill/>
          <a:ln/>
        </p:spPr>
        <p:txBody>
          <a:bodyPr wrap="square" lIns="0" tIns="0" rIns="0" bIns="0" rtlCol="0" anchor="ctr"/>
          <a:lstStyle/>
          <a:p>
            <a:pPr indent="0" marL="0">
              <a:buNone/>
            </a:pPr>
            <a:r>
              <a:rPr lang="en-US" sz="2700" b="1" dirty="0">
                <a:solidFill>
                  <a:srgbClr val="5D717E"/>
                </a:solidFill>
                <a:latin typeface="Arial" pitchFamily="34" charset="0"/>
                <a:ea typeface="Arial" pitchFamily="34" charset="-122"/>
                <a:cs typeface="Arial" pitchFamily="34" charset="-120"/>
              </a:rPr>
              <a:t>0.30%</a:t>
            </a:r>
            <a:endParaRPr lang="en-US" sz="2700" dirty="0"/>
          </a:p>
        </p:txBody>
      </p:sp>
      <p:sp>
        <p:nvSpPr>
          <p:cNvPr id="12" name="Text 10"/>
          <p:cNvSpPr txBox="1"/>
          <p:nvPr/>
        </p:nvSpPr>
        <p:spPr>
          <a:xfrm>
            <a:off x="868680"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0 - 5 ETH</a:t>
            </a:r>
            <a:endParaRPr lang="en-US" sz="1300" dirty="0"/>
          </a:p>
        </p:txBody>
      </p:sp>
      <p:sp>
        <p:nvSpPr>
          <p:cNvPr id="13" name="Text 11"/>
          <p:cNvSpPr txBox="1"/>
          <p:nvPr/>
        </p:nvSpPr>
        <p:spPr>
          <a:xfrm>
            <a:off x="868680"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base</a:t>
            </a:r>
            <a:endParaRPr lang="en-US" sz="1100" dirty="0"/>
          </a:p>
        </p:txBody>
      </p:sp>
      <p:sp>
        <p:nvSpPr>
          <p:cNvPr id="14" name="Shape 12"/>
          <p:cNvSpPr/>
          <p:nvPr/>
        </p:nvSpPr>
        <p:spPr>
          <a:xfrm>
            <a:off x="3364992" y="3931920"/>
            <a:ext cx="2468880" cy="1417320"/>
          </a:xfrm>
          <a:prstGeom prst="roundRect">
            <a:avLst>
              <a:gd name="adj" fmla="val 5161"/>
            </a:avLst>
          </a:prstGeom>
          <a:solidFill>
            <a:srgbClr val="1B2A36"/>
          </a:solidFill>
          <a:ln w="12700">
            <a:solidFill>
              <a:srgbClr val="1B2A36"/>
            </a:solidFill>
            <a:prstDash val="solid"/>
          </a:ln>
        </p:spPr>
      </p:sp>
      <p:sp>
        <p:nvSpPr>
          <p:cNvPr id="15" name="Text 13"/>
          <p:cNvSpPr txBox="1"/>
          <p:nvPr/>
        </p:nvSpPr>
        <p:spPr>
          <a:xfrm>
            <a:off x="3593592"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1.50%</a:t>
            </a:r>
            <a:endParaRPr lang="en-US" sz="2700" dirty="0"/>
          </a:p>
        </p:txBody>
      </p:sp>
      <p:sp>
        <p:nvSpPr>
          <p:cNvPr id="16" name="Text 14"/>
          <p:cNvSpPr txBox="1"/>
          <p:nvPr/>
        </p:nvSpPr>
        <p:spPr>
          <a:xfrm>
            <a:off x="3593592"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5 - 10 ETH</a:t>
            </a:r>
            <a:endParaRPr lang="en-US" sz="1300" dirty="0"/>
          </a:p>
        </p:txBody>
      </p:sp>
      <p:sp>
        <p:nvSpPr>
          <p:cNvPr id="17" name="Text 15"/>
          <p:cNvSpPr txBox="1"/>
          <p:nvPr/>
        </p:nvSpPr>
        <p:spPr>
          <a:xfrm>
            <a:off x="3593592"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1</a:t>
            </a:r>
            <a:endParaRPr lang="en-US" sz="1100" dirty="0"/>
          </a:p>
        </p:txBody>
      </p:sp>
      <p:sp>
        <p:nvSpPr>
          <p:cNvPr id="18" name="Shape 16"/>
          <p:cNvSpPr/>
          <p:nvPr/>
        </p:nvSpPr>
        <p:spPr>
          <a:xfrm>
            <a:off x="6089904" y="3931920"/>
            <a:ext cx="2468880" cy="1417320"/>
          </a:xfrm>
          <a:prstGeom prst="roundRect">
            <a:avLst>
              <a:gd name="adj" fmla="val 5161"/>
            </a:avLst>
          </a:prstGeom>
          <a:solidFill>
            <a:srgbClr val="1B2A36"/>
          </a:solidFill>
          <a:ln w="12700">
            <a:solidFill>
              <a:srgbClr val="1B2A36"/>
            </a:solidFill>
            <a:prstDash val="solid"/>
          </a:ln>
        </p:spPr>
      </p:sp>
      <p:sp>
        <p:nvSpPr>
          <p:cNvPr id="19" name="Text 17"/>
          <p:cNvSpPr txBox="1"/>
          <p:nvPr/>
        </p:nvSpPr>
        <p:spPr>
          <a:xfrm>
            <a:off x="6318504"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3.00%</a:t>
            </a:r>
            <a:endParaRPr lang="en-US" sz="2700" dirty="0"/>
          </a:p>
        </p:txBody>
      </p:sp>
      <p:sp>
        <p:nvSpPr>
          <p:cNvPr id="20" name="Text 18"/>
          <p:cNvSpPr txBox="1"/>
          <p:nvPr/>
        </p:nvSpPr>
        <p:spPr>
          <a:xfrm>
            <a:off x="6318504"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10 - 20 ETH</a:t>
            </a:r>
            <a:endParaRPr lang="en-US" sz="1300" dirty="0"/>
          </a:p>
        </p:txBody>
      </p:sp>
      <p:sp>
        <p:nvSpPr>
          <p:cNvPr id="21" name="Text 19"/>
          <p:cNvSpPr txBox="1"/>
          <p:nvPr/>
        </p:nvSpPr>
        <p:spPr>
          <a:xfrm>
            <a:off x="6318504"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2</a:t>
            </a:r>
            <a:endParaRPr lang="en-US" sz="1100" dirty="0"/>
          </a:p>
        </p:txBody>
      </p:sp>
      <p:sp>
        <p:nvSpPr>
          <p:cNvPr id="22" name="Shape 20"/>
          <p:cNvSpPr/>
          <p:nvPr/>
        </p:nvSpPr>
        <p:spPr>
          <a:xfrm>
            <a:off x="8814816" y="3931920"/>
            <a:ext cx="2468880" cy="1417320"/>
          </a:xfrm>
          <a:prstGeom prst="roundRect">
            <a:avLst>
              <a:gd name="adj" fmla="val 5161"/>
            </a:avLst>
          </a:prstGeom>
          <a:solidFill>
            <a:srgbClr val="1B2A36"/>
          </a:solidFill>
          <a:ln w="12700">
            <a:solidFill>
              <a:srgbClr val="1B2A36"/>
            </a:solidFill>
            <a:prstDash val="solid"/>
          </a:ln>
        </p:spPr>
      </p:sp>
      <p:sp>
        <p:nvSpPr>
          <p:cNvPr id="23" name="Text 21"/>
          <p:cNvSpPr txBox="1"/>
          <p:nvPr/>
        </p:nvSpPr>
        <p:spPr>
          <a:xfrm>
            <a:off x="9043416" y="4114800"/>
            <a:ext cx="2011680" cy="457200"/>
          </a:xfrm>
          <a:prstGeom prst="rect">
            <a:avLst/>
          </a:prstGeom>
          <a:noFill/>
          <a:ln/>
        </p:spPr>
        <p:txBody>
          <a:bodyPr wrap="square" lIns="0" tIns="0" rIns="0" bIns="0" rtlCol="0" anchor="ctr"/>
          <a:lstStyle/>
          <a:p>
            <a:pPr indent="0" marL="0">
              <a:buNone/>
            </a:pPr>
            <a:r>
              <a:rPr lang="en-US" sz="2700" b="1" dirty="0">
                <a:solidFill>
                  <a:srgbClr val="FF6B5B"/>
                </a:solidFill>
                <a:latin typeface="Arial" pitchFamily="34" charset="0"/>
                <a:ea typeface="Arial" pitchFamily="34" charset="-122"/>
                <a:cs typeface="Arial" pitchFamily="34" charset="-120"/>
              </a:rPr>
              <a:t>5.00%</a:t>
            </a:r>
            <a:endParaRPr lang="en-US" sz="2700" dirty="0"/>
          </a:p>
        </p:txBody>
      </p:sp>
      <p:sp>
        <p:nvSpPr>
          <p:cNvPr id="24" name="Text 22"/>
          <p:cNvSpPr txBox="1"/>
          <p:nvPr/>
        </p:nvSpPr>
        <p:spPr>
          <a:xfrm>
            <a:off x="9043416"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20+ ETH</a:t>
            </a:r>
            <a:endParaRPr lang="en-US" sz="1300" dirty="0"/>
          </a:p>
        </p:txBody>
      </p:sp>
      <p:sp>
        <p:nvSpPr>
          <p:cNvPr id="25" name="Text 23"/>
          <p:cNvSpPr txBox="1"/>
          <p:nvPr/>
        </p:nvSpPr>
        <p:spPr>
          <a:xfrm>
            <a:off x="9043416"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3</a:t>
            </a:r>
            <a:endParaRPr lang="en-US" sz="1100" dirty="0"/>
          </a:p>
        </p:txBody>
      </p:sp>
      <p:sp>
        <p:nvSpPr>
          <p:cNvPr id="26" name="Text 24"/>
          <p:cNvSpPr txBox="1"/>
          <p:nvPr/>
        </p:nvSpPr>
        <p:spPr>
          <a:xfrm>
            <a:off x="640080" y="5669280"/>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Volume is counted per trader, per pool, per block — and it resets every block.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HARD PART</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v4 gives the hook a router, not a person</a:t>
            </a:r>
            <a:endParaRPr lang="en-US" sz="3400" dirty="0"/>
          </a:p>
        </p:txBody>
      </p:sp>
      <p:sp>
        <p:nvSpPr>
          <p:cNvPr id="4" name="Text 2"/>
          <p:cNvSpPr txBox="1"/>
          <p:nvPr/>
        </p:nvSpPr>
        <p:spPr>
          <a:xfrm>
            <a:off x="640080" y="1783080"/>
            <a:ext cx="10881360" cy="384048"/>
          </a:xfrm>
          <a:prstGeom prst="rect">
            <a:avLst/>
          </a:prstGeom>
          <a:noFill/>
          <a:ln/>
        </p:spPr>
        <p:txBody>
          <a:bodyPr wrap="square" lIns="0" tIns="0" rIns="0" bIns="0" rtlCol="0" anchor="ctr"/>
          <a:lstStyle/>
          <a:p>
            <a:pPr indent="0" marL="0">
              <a:buNone/>
            </a:pPr>
            <a:r>
              <a:rPr lang="en-US" sz="1400" dirty="0">
                <a:solidFill>
                  <a:srgbClr val="FFC15E"/>
                </a:solidFill>
                <a:latin typeface="Courier New" pitchFamily="34" charset="0"/>
                <a:ea typeface="Courier New" pitchFamily="34" charset="-122"/>
                <a:cs typeface="Courier New" pitchFamily="34" charset="-120"/>
              </a:rPr>
              <a:t>beforeSwap(address sender, ...)  // sender is whoever called poolManager.swap()</a:t>
            </a:r>
            <a:endParaRPr lang="en-US" sz="1400" dirty="0"/>
          </a:p>
        </p:txBody>
      </p:sp>
      <p:sp>
        <p:nvSpPr>
          <p:cNvPr id="5" name="Shape 3"/>
          <p:cNvSpPr/>
          <p:nvPr/>
        </p:nvSpPr>
        <p:spPr>
          <a:xfrm>
            <a:off x="640080" y="2331720"/>
            <a:ext cx="5120640" cy="1737360"/>
          </a:xfrm>
          <a:prstGeom prst="roundRect">
            <a:avLst>
              <a:gd name="adj" fmla="val 4211"/>
            </a:avLst>
          </a:prstGeom>
          <a:solidFill>
            <a:srgbClr val="213341"/>
          </a:solidFill>
          <a:ln w="12700">
            <a:solidFill>
              <a:srgbClr val="213341"/>
            </a:solidFill>
            <a:prstDash val="solid"/>
          </a:ln>
        </p:spPr>
      </p:sp>
      <p:sp>
        <p:nvSpPr>
          <p:cNvPr id="6" name="Text 4"/>
          <p:cNvSpPr txBox="1"/>
          <p:nvPr/>
        </p:nvSpPr>
        <p:spPr>
          <a:xfrm>
            <a:off x="960120" y="2542032"/>
            <a:ext cx="4480560" cy="320040"/>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Scoring the router breaks two ways</a:t>
            </a:r>
            <a:endParaRPr lang="en-US" sz="1600" dirty="0"/>
          </a:p>
        </p:txBody>
      </p:sp>
      <p:sp>
        <p:nvSpPr>
          <p:cNvPr id="7" name="Text 5"/>
          <p:cNvSpPr txBox="1"/>
          <p:nvPr/>
        </p:nvSpPr>
        <p:spPr>
          <a:xfrm>
            <a:off x="960120" y="2907792"/>
            <a:ext cx="4480560" cy="96012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An honest user inherits a bot's volume and pays its penalty.</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The router itself accrues score until it crosses 80 — bricking the pool for everyone behind it.</a:t>
            </a:r>
            <a:endParaRPr lang="en-US" sz="1300" dirty="0"/>
          </a:p>
        </p:txBody>
      </p:sp>
      <p:sp>
        <p:nvSpPr>
          <p:cNvPr id="8" name="Shape 6"/>
          <p:cNvSpPr/>
          <p:nvPr/>
        </p:nvSpPr>
        <p:spPr>
          <a:xfrm>
            <a:off x="6126480" y="2331720"/>
            <a:ext cx="5120640" cy="1737360"/>
          </a:xfrm>
          <a:prstGeom prst="roundRect">
            <a:avLst>
              <a:gd name="adj" fmla="val 4211"/>
            </a:avLst>
          </a:prstGeom>
          <a:solidFill>
            <a:srgbClr val="1B2A36"/>
          </a:solidFill>
          <a:ln w="12700">
            <a:solidFill>
              <a:srgbClr val="1B2A36"/>
            </a:solidFill>
            <a:prstDash val="solid"/>
          </a:ln>
        </p:spPr>
      </p:sp>
      <p:sp>
        <p:nvSpPr>
          <p:cNvPr id="9" name="Text 7"/>
          <p:cNvSpPr txBox="1"/>
          <p:nvPr/>
        </p:nvSpPr>
        <p:spPr>
          <a:xfrm>
            <a:off x="6446520" y="2542032"/>
            <a:ext cx="448056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How the hook resolves it</a:t>
            </a:r>
            <a:endParaRPr lang="en-US" sz="1600" dirty="0"/>
          </a:p>
        </p:txBody>
      </p:sp>
      <p:sp>
        <p:nvSpPr>
          <p:cNvPr id="10" name="Text 8"/>
          <p:cNvSpPr txBox="1"/>
          <p:nvPr/>
        </p:nvSpPr>
        <p:spPr>
          <a:xfrm>
            <a:off x="6446520" y="2907792"/>
            <a:ext cx="448056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getMsgSender() on an allow-listed router</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originator the same router declared in hookData</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tx.origin — the EOA that signed</a:t>
            </a:r>
            <a:endParaRPr lang="en-US" sz="1300" dirty="0"/>
          </a:p>
        </p:txBody>
      </p:sp>
      <p:sp>
        <p:nvSpPr>
          <p:cNvPr id="11" name="Shape 9"/>
          <p:cNvSpPr/>
          <p:nvPr/>
        </p:nvSpPr>
        <p:spPr>
          <a:xfrm>
            <a:off x="640080" y="4343400"/>
            <a:ext cx="10881360" cy="1463040"/>
          </a:xfrm>
          <a:prstGeom prst="roundRect">
            <a:avLst>
              <a:gd name="adj" fmla="val 5000"/>
            </a:avLst>
          </a:prstGeom>
          <a:solidFill>
            <a:srgbClr val="213341"/>
          </a:solidFill>
          <a:ln w="12700">
            <a:solidFill>
              <a:srgbClr val="213341"/>
            </a:solidFill>
            <a:prstDash val="solid"/>
          </a:ln>
        </p:spPr>
      </p:sp>
      <p:sp>
        <p:nvSpPr>
          <p:cNvPr id="12" name="Text 10"/>
          <p:cNvSpPr txBox="1"/>
          <p:nvPr/>
        </p:nvSpPr>
        <p:spPr>
          <a:xfrm>
            <a:off x="960120" y="4544568"/>
            <a:ext cx="5486400" cy="292608"/>
          </a:xfrm>
          <a:prstGeom prst="rect">
            <a:avLst/>
          </a:prstGeom>
          <a:noFill/>
          <a:ln/>
        </p:spPr>
        <p:txBody>
          <a:bodyPr wrap="square" lIns="0" tIns="0" rIns="0" bIns="0" rtlCol="0" anchor="ctr"/>
          <a:lstStyle/>
          <a:p>
            <a:pPr indent="0" marL="0">
              <a:buNone/>
            </a:pPr>
            <a:r>
              <a:rPr lang="en-US" sz="1500" b="1" dirty="0">
                <a:solidFill>
                  <a:srgbClr val="FFC15E"/>
                </a:solidFill>
                <a:latin typeface="Arial" pitchFamily="34" charset="0"/>
                <a:ea typeface="Arial" pitchFamily="34" charset="-122"/>
                <a:cs typeface="Arial" pitchFamily="34" charset="-120"/>
              </a:rPr>
              <a:t>The allow-list is load-bearing</a:t>
            </a:r>
            <a:endParaRPr lang="en-US" sz="1500" dirty="0"/>
          </a:p>
        </p:txBody>
      </p:sp>
      <p:sp>
        <p:nvSpPr>
          <p:cNvPr id="13" name="Text 11"/>
          <p:cNvSpPr txBox="1"/>
          <p:nvPr/>
        </p:nvSpPr>
        <p:spPr>
          <a:xfrm>
            <a:off x="960120" y="4864608"/>
            <a:ext cx="10241280" cy="82296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Anyone can call the PoolManager directly, which makes their contract the sender. Asking an unvetted contract who it represents lets it name any address — laundering its own reputation or framing an innocent one. So the getter is only ever called on a router the owner has vetted, over STATICCALL, wrapped in try/catch.</a:t>
            </a:r>
            <a:endParaRPr lang="en-US" sz="1300" dirty="0"/>
          </a:p>
        </p:txBody>
      </p:sp>
      <p:sp>
        <p:nvSpPr>
          <p:cNvPr id="14" name="Text 12"/>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5D717E"/>
                </a:solidFill>
                <a:latin typeface="Calibri" pitchFamily="34" charset="0"/>
                <a:ea typeface="Calibri" pitchFamily="34" charset="-122"/>
                <a:cs typeface="Calibri" pitchFamily="34" charset="-120"/>
              </a:rPr>
              <a:t>21 tests in TraderIdentity.t.sol, including the spoofing attack itself.</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MEASURED, NOT CLAIMED</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Attacker pays 5.3x. Victim pays nothing extra.</a:t>
            </a:r>
            <a:endParaRPr lang="en-US" sz="3400" dirty="0"/>
          </a:p>
        </p:txBody>
      </p:sp>
      <p:sp>
        <p:nvSpPr>
          <p:cNvPr id="4" name="Text 2"/>
          <p:cNvSpPr txBox="1"/>
          <p:nvPr/>
        </p:nvSpPr>
        <p:spPr>
          <a:xfrm>
            <a:off x="640080" y="1691640"/>
            <a:ext cx="10881360" cy="320040"/>
          </a:xfrm>
          <a:prstGeom prst="rect">
            <a:avLst/>
          </a:prstGeom>
          <a:noFill/>
          <a:ln/>
        </p:spPr>
        <p:txBody>
          <a:bodyPr wrap="square" lIns="0" tIns="0" rIns="0" bIns="0" rtlCol="0" anchor="ctr"/>
          <a:lstStyle/>
          <a:p>
            <a:pPr indent="0" marL="0">
              <a:buNone/>
            </a:pPr>
            <a:r>
              <a:rPr lang="en-US" sz="1400" dirty="0">
                <a:solidFill>
                  <a:srgbClr val="8FA3B0"/>
                </a:solidFill>
                <a:latin typeface="Calibri" pitchFamily="34" charset="0"/>
                <a:ea typeface="Calibri" pitchFamily="34" charset="-122"/>
                <a:cs typeface="Calibri" pitchFamily="34" charset="-120"/>
              </a:rPr>
              <a:t>Identical sandwich, two identical pools — one plain, one guarded. Front-run 4 ETH, victim 3 ETH, back-run 4 ETH.</a:t>
            </a:r>
            <a:endParaRPr lang="en-US" sz="1400" dirty="0"/>
          </a:p>
        </p:txBody>
      </p:sp>
      <p:graphicFrame>
        <p:nvGraphicFramePr>
          <p:cNvPr id="5" name="Chart 0" descr=""/>
          <p:cNvGraphicFramePr/>
          <p:nvPr/>
        </p:nvGraphicFramePr>
        <p:xfrm>
          <a:off x="640080" y="219456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92240" y="2194560"/>
            <a:ext cx="4754880" cy="2834640"/>
          </a:xfrm>
          <a:prstGeom prst="roundRect">
            <a:avLst>
              <a:gd name="adj" fmla="val 2581"/>
            </a:avLst>
          </a:prstGeom>
          <a:solidFill>
            <a:srgbClr val="1B2A36"/>
          </a:solidFill>
          <a:ln w="12700">
            <a:solidFill>
              <a:srgbClr val="1B2A36"/>
            </a:solidFill>
            <a:prstDash val="solid"/>
          </a:ln>
        </p:spPr>
      </p:sp>
      <p:sp>
        <p:nvSpPr>
          <p:cNvPr id="7" name="Text 4"/>
          <p:cNvSpPr txBox="1"/>
          <p:nvPr/>
        </p:nvSpPr>
        <p:spPr>
          <a:xfrm>
            <a:off x="8915400" y="2377440"/>
            <a:ext cx="1051560" cy="256032"/>
          </a:xfrm>
          <a:prstGeom prst="rect">
            <a:avLst/>
          </a:prstGeom>
          <a:noFill/>
          <a:ln/>
        </p:spPr>
        <p:txBody>
          <a:bodyPr wrap="square" lIns="0" tIns="0" rIns="0" bIns="0" rtlCol="0" anchor="ctr"/>
          <a:lstStyle/>
          <a:p>
            <a:pPr algn="r" indent="0" marL="0">
              <a:buNone/>
            </a:pPr>
            <a:r>
              <a:rPr lang="en-US" sz="1100" b="1" dirty="0">
                <a:solidFill>
                  <a:srgbClr val="5D717E"/>
                </a:solidFill>
                <a:latin typeface="Arial" pitchFamily="34" charset="0"/>
                <a:ea typeface="Arial" pitchFamily="34" charset="-122"/>
                <a:cs typeface="Arial" pitchFamily="34" charset="-120"/>
              </a:rPr>
              <a:t>Plain</a:t>
            </a:r>
            <a:endParaRPr lang="en-US" sz="1100" dirty="0"/>
          </a:p>
        </p:txBody>
      </p:sp>
      <p:sp>
        <p:nvSpPr>
          <p:cNvPr id="8" name="Text 5"/>
          <p:cNvSpPr txBox="1"/>
          <p:nvPr/>
        </p:nvSpPr>
        <p:spPr>
          <a:xfrm>
            <a:off x="9966960" y="2377440"/>
            <a:ext cx="1097280" cy="256032"/>
          </a:xfrm>
          <a:prstGeom prst="rect">
            <a:avLst/>
          </a:prstGeom>
          <a:noFill/>
          <a:ln/>
        </p:spPr>
        <p:txBody>
          <a:bodyPr wrap="square" lIns="0" tIns="0" rIns="0" bIns="0" rtlCol="0" anchor="ctr"/>
          <a:lstStyle/>
          <a:p>
            <a:pPr algn="r" indent="0" marL="0">
              <a:buNone/>
            </a:pPr>
            <a:r>
              <a:rPr lang="en-US" sz="1100" b="1" dirty="0">
                <a:solidFill>
                  <a:srgbClr val="06D6A0"/>
                </a:solidFill>
                <a:latin typeface="Arial" pitchFamily="34" charset="0"/>
                <a:ea typeface="Arial" pitchFamily="34" charset="-122"/>
                <a:cs typeface="Arial" pitchFamily="34" charset="-120"/>
              </a:rPr>
              <a:t>Shielded</a:t>
            </a:r>
            <a:endParaRPr lang="en-US" sz="1100" dirty="0"/>
          </a:p>
        </p:txBody>
      </p:sp>
      <p:sp>
        <p:nvSpPr>
          <p:cNvPr id="9" name="Text 6"/>
          <p:cNvSpPr txBox="1"/>
          <p:nvPr/>
        </p:nvSpPr>
        <p:spPr>
          <a:xfrm>
            <a:off x="6720840" y="2724912"/>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 receives</a:t>
            </a:r>
            <a:endParaRPr lang="en-US" sz="1200" dirty="0"/>
          </a:p>
        </p:txBody>
      </p:sp>
      <p:sp>
        <p:nvSpPr>
          <p:cNvPr id="10" name="Text 7"/>
          <p:cNvSpPr txBox="1"/>
          <p:nvPr/>
        </p:nvSpPr>
        <p:spPr>
          <a:xfrm>
            <a:off x="8915400" y="2724912"/>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2.990344077</a:t>
            </a:r>
            <a:endParaRPr lang="en-US" sz="1200" dirty="0"/>
          </a:p>
        </p:txBody>
      </p:sp>
      <p:sp>
        <p:nvSpPr>
          <p:cNvPr id="11" name="Text 8"/>
          <p:cNvSpPr txBox="1"/>
          <p:nvPr/>
        </p:nvSpPr>
        <p:spPr>
          <a:xfrm>
            <a:off x="9966960" y="2724912"/>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2.990344077</a:t>
            </a:r>
            <a:endParaRPr lang="en-US" sz="1200" dirty="0"/>
          </a:p>
        </p:txBody>
      </p:sp>
      <p:sp>
        <p:nvSpPr>
          <p:cNvPr id="12" name="Text 9"/>
          <p:cNvSpPr txBox="1"/>
          <p:nvPr/>
        </p:nvSpPr>
        <p:spPr>
          <a:xfrm>
            <a:off x="6720840" y="3255264"/>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fee</a:t>
            </a:r>
            <a:endParaRPr lang="en-US" sz="1200" dirty="0"/>
          </a:p>
        </p:txBody>
      </p:sp>
      <p:sp>
        <p:nvSpPr>
          <p:cNvPr id="13" name="Text 10"/>
          <p:cNvSpPr txBox="1"/>
          <p:nvPr/>
        </p:nvSpPr>
        <p:spPr>
          <a:xfrm>
            <a:off x="8915400" y="3255264"/>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0.30%</a:t>
            </a:r>
            <a:endParaRPr lang="en-US" sz="1200" dirty="0"/>
          </a:p>
        </p:txBody>
      </p:sp>
      <p:sp>
        <p:nvSpPr>
          <p:cNvPr id="14" name="Text 11"/>
          <p:cNvSpPr txBox="1"/>
          <p:nvPr/>
        </p:nvSpPr>
        <p:spPr>
          <a:xfrm>
            <a:off x="9966960" y="3255264"/>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0.30%</a:t>
            </a:r>
            <a:endParaRPr lang="en-US" sz="1200" dirty="0"/>
          </a:p>
        </p:txBody>
      </p:sp>
      <p:sp>
        <p:nvSpPr>
          <p:cNvPr id="15" name="Text 12"/>
          <p:cNvSpPr txBox="1"/>
          <p:nvPr/>
        </p:nvSpPr>
        <p:spPr>
          <a:xfrm>
            <a:off x="6720840" y="3785616"/>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loss to the attack</a:t>
            </a:r>
            <a:endParaRPr lang="en-US" sz="1200" dirty="0"/>
          </a:p>
        </p:txBody>
      </p:sp>
      <p:sp>
        <p:nvSpPr>
          <p:cNvPr id="16" name="Text 13"/>
          <p:cNvSpPr txBox="1"/>
          <p:nvPr/>
        </p:nvSpPr>
        <p:spPr>
          <a:xfrm>
            <a:off x="8915400" y="3785616"/>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7" name="Text 14"/>
          <p:cNvSpPr txBox="1"/>
          <p:nvPr/>
        </p:nvSpPr>
        <p:spPr>
          <a:xfrm>
            <a:off x="9966960" y="3785616"/>
            <a:ext cx="1097280" cy="365760"/>
          </a:xfrm>
          <a:prstGeom prst="rect">
            <a:avLst/>
          </a:prstGeom>
          <a:noFill/>
          <a:ln/>
        </p:spPr>
        <p:txBody>
          <a:bodyPr wrap="square" lIns="0" tIns="0" rIns="0" bIns="0" rtlCol="0" anchor="ctr"/>
          <a:lstStyle/>
          <a:p>
            <a:pPr algn="r" indent="0" marL="0">
              <a:buNone/>
            </a:pPr>
            <a:r>
              <a:rPr lang="en-US" sz="1200" b="1"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8" name="Text 15"/>
          <p:cNvSpPr txBox="1"/>
          <p:nvPr/>
        </p:nvSpPr>
        <p:spPr>
          <a:xfrm>
            <a:off x="6720840" y="4315968"/>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Attacker's net P&amp;L</a:t>
            </a:r>
            <a:endParaRPr lang="en-US" sz="1200" dirty="0"/>
          </a:p>
        </p:txBody>
      </p:sp>
      <p:sp>
        <p:nvSpPr>
          <p:cNvPr id="19" name="Text 16"/>
          <p:cNvSpPr txBox="1"/>
          <p:nvPr/>
        </p:nvSpPr>
        <p:spPr>
          <a:xfrm>
            <a:off x="8915400" y="4315968"/>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-0.011205</a:t>
            </a:r>
            <a:endParaRPr lang="en-US" sz="1200" dirty="0"/>
          </a:p>
        </p:txBody>
      </p:sp>
      <p:sp>
        <p:nvSpPr>
          <p:cNvPr id="20" name="Text 17"/>
          <p:cNvSpPr txBox="1"/>
          <p:nvPr/>
        </p:nvSpPr>
        <p:spPr>
          <a:xfrm>
            <a:off x="9966960" y="4315968"/>
            <a:ext cx="1097280" cy="365760"/>
          </a:xfrm>
          <a:prstGeom prst="rect">
            <a:avLst/>
          </a:prstGeom>
          <a:noFill/>
          <a:ln/>
        </p:spPr>
        <p:txBody>
          <a:bodyPr wrap="square" lIns="0" tIns="0" rIns="0" bIns="0" rtlCol="0" anchor="ctr"/>
          <a:lstStyle/>
          <a:p>
            <a:pPr algn="r" indent="0" marL="0">
              <a:buNone/>
            </a:pPr>
            <a:r>
              <a:rPr lang="en-US" sz="1200" b="1" dirty="0">
                <a:solidFill>
                  <a:srgbClr val="FF6B5B"/>
                </a:solidFill>
                <a:latin typeface="Courier New" pitchFamily="34" charset="0"/>
                <a:ea typeface="Courier New" pitchFamily="34" charset="-122"/>
                <a:cs typeface="Courier New" pitchFamily="34" charset="-120"/>
              </a:rPr>
              <a:t>-0.059211</a:t>
            </a:r>
            <a:endParaRPr lang="en-US" sz="1200" dirty="0"/>
          </a:p>
        </p:txBody>
      </p:sp>
      <p:sp>
        <p:nvSpPr>
          <p:cNvPr id="21" name="Text 18"/>
          <p:cNvSpPr txBox="1"/>
          <p:nvPr/>
        </p:nvSpPr>
        <p:spPr>
          <a:xfrm>
            <a:off x="640080" y="5257800"/>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06D6A0"/>
                </a:solidFill>
                <a:latin typeface="Calibri" pitchFamily="34" charset="0"/>
                <a:ea typeface="Calibri" pitchFamily="34" charset="-122"/>
                <a:cs typeface="Calibri" pitchFamily="34" charset="-120"/>
              </a:rPr>
              <a:t>Extra cost imposed on the attacker: 0.048 ETH — exactly the fee delta on its back-run. Change in what the victim received: zero.</a:t>
            </a:r>
            <a:endParaRPr lang="en-US" sz="1400" dirty="0"/>
          </a:p>
        </p:txBody>
      </p:sp>
      <p:sp>
        <p:nvSpPr>
          <p:cNvPr id="22" name="Text 19"/>
          <p:cNvSpPr txBox="1"/>
          <p:nvPr/>
        </p:nvSpPr>
        <p:spPr>
          <a:xfrm>
            <a:off x="640080" y="5943600"/>
            <a:ext cx="4572000" cy="292608"/>
          </a:xfrm>
          <a:prstGeom prst="rect">
            <a:avLst/>
          </a:prstGeom>
          <a:noFill/>
          <a:ln/>
        </p:spPr>
        <p:txBody>
          <a:bodyPr wrap="square" lIns="0" tIns="0" rIns="0" bIns="0" rtlCol="0" anchor="ctr"/>
          <a:lstStyle/>
          <a:p>
            <a:pPr indent="0" marL="0">
              <a:buNone/>
            </a:pPr>
            <a:r>
              <a:rPr lang="en-US" sz="1300" dirty="0">
                <a:solidFill>
                  <a:srgbClr val="FFC15E"/>
                </a:solidFill>
                <a:latin typeface="Courier New" pitchFamily="34" charset="0"/>
                <a:ea typeface="Courier New" pitchFamily="34" charset="-122"/>
                <a:cs typeface="Courier New" pitchFamily="34" charset="-120"/>
              </a:rPr>
              <a:t>make demo-economics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WHAT IT DOES NOT DO</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deterrent, not a shield</a:t>
            </a:r>
            <a:endParaRPr lang="en-US" sz="3400" dirty="0"/>
          </a:p>
        </p:txBody>
      </p:sp>
      <p:sp>
        <p:nvSpPr>
          <p:cNvPr id="4" name="Shape 2"/>
          <p:cNvSpPr/>
          <p:nvPr/>
        </p:nvSpPr>
        <p:spPr>
          <a:xfrm>
            <a:off x="640080" y="1783080"/>
            <a:ext cx="10881360" cy="1371600"/>
          </a:xfrm>
          <a:prstGeom prst="roundRect">
            <a:avLst>
              <a:gd name="adj" fmla="val 5333"/>
            </a:avLst>
          </a:prstGeom>
          <a:solidFill>
            <a:srgbClr val="213341"/>
          </a:solidFill>
          <a:ln w="12700">
            <a:solidFill>
              <a:srgbClr val="213341"/>
            </a:solidFill>
            <a:prstDash val="solid"/>
          </a:ln>
        </p:spPr>
      </p:sp>
      <p:sp>
        <p:nvSpPr>
          <p:cNvPr id="5" name="Text 3"/>
          <p:cNvSpPr txBox="1"/>
          <p:nvPr/>
        </p:nvSpPr>
        <p:spPr>
          <a:xfrm>
            <a:off x="960120" y="1993392"/>
            <a:ext cx="548640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The victim is still sandwiched</a:t>
            </a:r>
            <a:endParaRPr lang="en-US" sz="1700" dirty="0"/>
          </a:p>
        </p:txBody>
      </p:sp>
      <p:sp>
        <p:nvSpPr>
          <p:cNvPr id="6" name="Text 4"/>
          <p:cNvSpPr txBox="1"/>
          <p:nvPr/>
        </p:nvSpPr>
        <p:spPr>
          <a:xfrm>
            <a:off x="960120" y="2340864"/>
            <a:ext cx="10241280" cy="73152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They lose the same 0.000477 ETH in both pools. The front-run lands before the victim executes, so the price has already moved — a fee charged on the back-run afterwards cannot undo that, and none of it is routed to the victim.</a:t>
            </a:r>
            <a:endParaRPr lang="en-US" sz="1300" dirty="0"/>
          </a:p>
        </p:txBody>
      </p:sp>
      <p:sp>
        <p:nvSpPr>
          <p:cNvPr id="7" name="Shape 5"/>
          <p:cNvSpPr/>
          <p:nvPr/>
        </p:nvSpPr>
        <p:spPr>
          <a:xfrm>
            <a:off x="640080" y="3337560"/>
            <a:ext cx="5120640" cy="1097280"/>
          </a:xfrm>
          <a:prstGeom prst="roundRect">
            <a:avLst>
              <a:gd name="adj" fmla="val 6667"/>
            </a:avLst>
          </a:prstGeom>
          <a:solidFill>
            <a:srgbClr val="1B2A36"/>
          </a:solidFill>
          <a:ln w="12700">
            <a:solidFill>
              <a:srgbClr val="1B2A36"/>
            </a:solidFill>
            <a:prstDash val="solid"/>
          </a:ln>
        </p:spPr>
      </p:sp>
      <p:sp>
        <p:nvSpPr>
          <p:cNvPr id="8" name="Text 6"/>
          <p:cNvSpPr txBox="1"/>
          <p:nvPr/>
        </p:nvSpPr>
        <p:spPr>
          <a:xfrm>
            <a:off x="9144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Pool guard hits bystanders</a:t>
            </a:r>
            <a:endParaRPr lang="en-US" sz="1400" dirty="0"/>
          </a:p>
        </p:txBody>
      </p:sp>
      <p:sp>
        <p:nvSpPr>
          <p:cNvPr id="9" name="Text 7"/>
          <p:cNvSpPr txBox="1"/>
          <p:nvPr/>
        </p:nvSpPr>
        <p:spPr>
          <a:xfrm>
            <a:off x="9144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pool-level guard is pool-wide. Past 10 ETH in a block, a clean trader pays 1.50% too.</a:t>
            </a:r>
            <a:endParaRPr lang="en-US" sz="1200" dirty="0"/>
          </a:p>
        </p:txBody>
      </p:sp>
      <p:sp>
        <p:nvSpPr>
          <p:cNvPr id="10" name="Shape 8"/>
          <p:cNvSpPr/>
          <p:nvPr/>
        </p:nvSpPr>
        <p:spPr>
          <a:xfrm>
            <a:off x="6126480" y="3337560"/>
            <a:ext cx="5120640" cy="1097280"/>
          </a:xfrm>
          <a:prstGeom prst="roundRect">
            <a:avLst>
              <a:gd name="adj" fmla="val 6667"/>
            </a:avLst>
          </a:prstGeom>
          <a:solidFill>
            <a:srgbClr val="1B2A36"/>
          </a:solidFill>
          <a:ln w="12700">
            <a:solidFill>
              <a:srgbClr val="1B2A36"/>
            </a:solidFill>
            <a:prstDash val="solid"/>
          </a:ln>
        </p:spPr>
      </p:sp>
      <p:sp>
        <p:nvSpPr>
          <p:cNvPr id="11" name="Text 9"/>
          <p:cNvSpPr txBox="1"/>
          <p:nvPr/>
        </p:nvSpPr>
        <p:spPr>
          <a:xfrm>
            <a:off x="64008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Cross-block sandwiches</a:t>
            </a:r>
            <a:endParaRPr lang="en-US" sz="1400" dirty="0"/>
          </a:p>
        </p:txBody>
      </p:sp>
      <p:sp>
        <p:nvSpPr>
          <p:cNvPr id="12" name="Text 10"/>
          <p:cNvSpPr txBox="1"/>
          <p:nvPr/>
        </p:nvSpPr>
        <p:spPr>
          <a:xfrm>
            <a:off x="64008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State resets each block, so a buy in block N and a sell in N+1 is not caught on-chain.</a:t>
            </a:r>
            <a:endParaRPr lang="en-US" sz="1200" dirty="0"/>
          </a:p>
        </p:txBody>
      </p:sp>
      <p:sp>
        <p:nvSpPr>
          <p:cNvPr id="13" name="Shape 11"/>
          <p:cNvSpPr/>
          <p:nvPr/>
        </p:nvSpPr>
        <p:spPr>
          <a:xfrm>
            <a:off x="640080" y="4617720"/>
            <a:ext cx="5120640" cy="1097280"/>
          </a:xfrm>
          <a:prstGeom prst="roundRect">
            <a:avLst>
              <a:gd name="adj" fmla="val 6667"/>
            </a:avLst>
          </a:prstGeom>
          <a:solidFill>
            <a:srgbClr val="1B2A36"/>
          </a:solidFill>
          <a:ln w="12700">
            <a:solidFill>
              <a:srgbClr val="1B2A36"/>
            </a:solidFill>
            <a:prstDash val="solid"/>
          </a:ln>
        </p:spPr>
      </p:sp>
      <p:sp>
        <p:nvSpPr>
          <p:cNvPr id="14" name="Text 12"/>
          <p:cNvSpPr txBox="1"/>
          <p:nvPr/>
        </p:nvSpPr>
        <p:spPr>
          <a:xfrm>
            <a:off x="9144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ERC-4337 behind an unvetted router</a:t>
            </a:r>
            <a:endParaRPr lang="en-US" sz="1400" dirty="0"/>
          </a:p>
        </p:txBody>
      </p:sp>
      <p:sp>
        <p:nvSpPr>
          <p:cNvPr id="15" name="Text 13"/>
          <p:cNvSpPr txBox="1"/>
          <p:nvPr/>
        </p:nvSpPr>
        <p:spPr>
          <a:xfrm>
            <a:off x="9144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tx.origin is the bundler, so those users share an identity until the router is allow-listed.</a:t>
            </a:r>
            <a:endParaRPr lang="en-US" sz="1200" dirty="0"/>
          </a:p>
        </p:txBody>
      </p:sp>
      <p:sp>
        <p:nvSpPr>
          <p:cNvPr id="16" name="Shape 14"/>
          <p:cNvSpPr/>
          <p:nvPr/>
        </p:nvSpPr>
        <p:spPr>
          <a:xfrm>
            <a:off x="6126480" y="4617720"/>
            <a:ext cx="5120640" cy="1097280"/>
          </a:xfrm>
          <a:prstGeom prst="roundRect">
            <a:avLst>
              <a:gd name="adj" fmla="val 6667"/>
            </a:avLst>
          </a:prstGeom>
          <a:solidFill>
            <a:srgbClr val="1B2A36"/>
          </a:solidFill>
          <a:ln w="12700">
            <a:solidFill>
              <a:srgbClr val="1B2A36"/>
            </a:solidFill>
            <a:prstDash val="solid"/>
          </a:ln>
        </p:spPr>
      </p:sp>
      <p:sp>
        <p:nvSpPr>
          <p:cNvPr id="17" name="Text 15"/>
          <p:cNvSpPr txBox="1"/>
          <p:nvPr/>
        </p:nvSpPr>
        <p:spPr>
          <a:xfrm>
            <a:off x="64008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Fresh-wallet evasion</a:t>
            </a:r>
            <a:endParaRPr lang="en-US" sz="1400" dirty="0"/>
          </a:p>
        </p:txBody>
      </p:sp>
      <p:sp>
        <p:nvSpPr>
          <p:cNvPr id="18" name="Text 16"/>
          <p:cNvSpPr txBox="1"/>
          <p:nvPr/>
        </p:nvSpPr>
        <p:spPr>
          <a:xfrm>
            <a:off x="64008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A new address dodges reputation — but still pays the first-trade volume fee on every attempt.</a:t>
            </a:r>
            <a:endParaRPr lang="en-US" sz="1200" dirty="0"/>
          </a:p>
        </p:txBody>
      </p:sp>
      <p:sp>
        <p:nvSpPr>
          <p:cNvPr id="19" name="Text 17"/>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Each of these is asserted by a passing test rather than left unsaid.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AVS</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Real BLS quorum, not a stub</a:t>
            </a:r>
            <a:endParaRPr lang="en-US" sz="3400" dirty="0"/>
          </a:p>
        </p:txBody>
      </p:sp>
      <p:sp>
        <p:nvSpPr>
          <p:cNvPr id="4" name="Shape 2"/>
          <p:cNvSpPr/>
          <p:nvPr/>
        </p:nvSpPr>
        <p:spPr>
          <a:xfrm>
            <a:off x="640080" y="1783080"/>
            <a:ext cx="2560320" cy="1600200"/>
          </a:xfrm>
          <a:prstGeom prst="roundRect">
            <a:avLst>
              <a:gd name="adj" fmla="val 4571"/>
            </a:avLst>
          </a:prstGeom>
          <a:solidFill>
            <a:srgbClr val="1B2A36"/>
          </a:solidFill>
          <a:ln w="12700">
            <a:solidFill>
              <a:srgbClr val="1B2A36"/>
            </a:solidFill>
            <a:prstDash val="solid"/>
          </a:ln>
        </p:spPr>
      </p:sp>
      <p:sp>
        <p:nvSpPr>
          <p:cNvPr id="5" name="Text 3"/>
          <p:cNvSpPr txBox="1"/>
          <p:nvPr/>
        </p:nvSpPr>
        <p:spPr>
          <a:xfrm>
            <a:off x="868680"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Hook</a:t>
            </a:r>
            <a:endParaRPr lang="en-US" sz="1600" dirty="0"/>
          </a:p>
        </p:txBody>
      </p:sp>
      <p:sp>
        <p:nvSpPr>
          <p:cNvPr id="6" name="Text 4"/>
          <p:cNvSpPr txBox="1"/>
          <p:nvPr/>
        </p:nvSpPr>
        <p:spPr>
          <a:xfrm>
            <a:off x="868680"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Detects the pattern and creates a scoring task on-chain.</a:t>
            </a:r>
            <a:endParaRPr lang="en-US" sz="1200" dirty="0"/>
          </a:p>
        </p:txBody>
      </p:sp>
      <p:sp>
        <p:nvSpPr>
          <p:cNvPr id="7" name="Text 5"/>
          <p:cNvSpPr txBox="1"/>
          <p:nvPr/>
        </p:nvSpPr>
        <p:spPr>
          <a:xfrm>
            <a:off x="3218688"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410712" y="1783080"/>
            <a:ext cx="2560320" cy="1600200"/>
          </a:xfrm>
          <a:prstGeom prst="roundRect">
            <a:avLst>
              <a:gd name="adj" fmla="val 4571"/>
            </a:avLst>
          </a:prstGeom>
          <a:solidFill>
            <a:srgbClr val="1B2A36"/>
          </a:solidFill>
          <a:ln w="12700">
            <a:solidFill>
              <a:srgbClr val="1B2A36"/>
            </a:solidFill>
            <a:prstDash val="solid"/>
          </a:ln>
        </p:spPr>
      </p:sp>
      <p:sp>
        <p:nvSpPr>
          <p:cNvPr id="9" name="Text 7"/>
          <p:cNvSpPr txBox="1"/>
          <p:nvPr/>
        </p:nvSpPr>
        <p:spPr>
          <a:xfrm>
            <a:off x="3639312"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Operators</a:t>
            </a:r>
            <a:endParaRPr lang="en-US" sz="1600" dirty="0"/>
          </a:p>
        </p:txBody>
      </p:sp>
      <p:sp>
        <p:nvSpPr>
          <p:cNvPr id="10" name="Text 8"/>
          <p:cNvSpPr txBox="1"/>
          <p:nvPr/>
        </p:nvSpPr>
        <p:spPr>
          <a:xfrm>
            <a:off x="3639312"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Independently replay the hook's events and compute a score.</a:t>
            </a:r>
            <a:endParaRPr lang="en-US" sz="1200" dirty="0"/>
          </a:p>
        </p:txBody>
      </p:sp>
      <p:sp>
        <p:nvSpPr>
          <p:cNvPr id="11" name="Text 9"/>
          <p:cNvSpPr txBox="1"/>
          <p:nvPr/>
        </p:nvSpPr>
        <p:spPr>
          <a:xfrm>
            <a:off x="5989320"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181344" y="1783080"/>
            <a:ext cx="2560320" cy="1600200"/>
          </a:xfrm>
          <a:prstGeom prst="roundRect">
            <a:avLst>
              <a:gd name="adj" fmla="val 4571"/>
            </a:avLst>
          </a:prstGeom>
          <a:solidFill>
            <a:srgbClr val="1B2A36"/>
          </a:solidFill>
          <a:ln w="12700">
            <a:solidFill>
              <a:srgbClr val="1B2A36"/>
            </a:solidFill>
            <a:prstDash val="solid"/>
          </a:ln>
        </p:spPr>
      </p:sp>
      <p:sp>
        <p:nvSpPr>
          <p:cNvPr id="13" name="Text 11"/>
          <p:cNvSpPr txBox="1"/>
          <p:nvPr/>
        </p:nvSpPr>
        <p:spPr>
          <a:xfrm>
            <a:off x="6409944" y="1965960"/>
            <a:ext cx="2103120" cy="292608"/>
          </a:xfrm>
          <a:prstGeom prst="rect">
            <a:avLst/>
          </a:prstGeom>
          <a:noFill/>
          <a:ln/>
        </p:spPr>
        <p:txBody>
          <a:bodyPr wrap="square" lIns="0" tIns="0" rIns="0" bIns="0" rtlCol="0" anchor="ctr"/>
          <a:lstStyle/>
          <a:p>
            <a:pPr indent="0" marL="0">
              <a:buNone/>
            </a:pPr>
            <a:r>
              <a:rPr lang="en-US" sz="1600" b="1" dirty="0">
                <a:solidFill>
                  <a:srgbClr val="FFC15E"/>
                </a:solidFill>
                <a:latin typeface="Arial" pitchFamily="34" charset="0"/>
                <a:ea typeface="Arial" pitchFamily="34" charset="-122"/>
                <a:cs typeface="Arial" pitchFamily="34" charset="-120"/>
              </a:rPr>
              <a:t>Aggregator</a:t>
            </a:r>
            <a:endParaRPr lang="en-US" sz="1600" dirty="0"/>
          </a:p>
        </p:txBody>
      </p:sp>
      <p:sp>
        <p:nvSpPr>
          <p:cNvPr id="14" name="Text 12"/>
          <p:cNvSpPr txBox="1"/>
          <p:nvPr/>
        </p:nvSpPr>
        <p:spPr>
          <a:xfrm>
            <a:off x="6409944"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Sums the G1 signatures and the G2 keys, submits once.</a:t>
            </a:r>
            <a:endParaRPr lang="en-US" sz="1200" dirty="0"/>
          </a:p>
        </p:txBody>
      </p:sp>
      <p:sp>
        <p:nvSpPr>
          <p:cNvPr id="15" name="Text 13"/>
          <p:cNvSpPr txBox="1"/>
          <p:nvPr/>
        </p:nvSpPr>
        <p:spPr>
          <a:xfrm>
            <a:off x="8759952"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8951976" y="1783080"/>
            <a:ext cx="2560320" cy="1600200"/>
          </a:xfrm>
          <a:prstGeom prst="roundRect">
            <a:avLst>
              <a:gd name="adj" fmla="val 4571"/>
            </a:avLst>
          </a:prstGeom>
          <a:solidFill>
            <a:srgbClr val="1B2A36"/>
          </a:solidFill>
          <a:ln w="12700">
            <a:solidFill>
              <a:srgbClr val="1B2A36"/>
            </a:solidFill>
            <a:prstDash val="solid"/>
          </a:ln>
        </p:spPr>
      </p:sp>
      <p:sp>
        <p:nvSpPr>
          <p:cNvPr id="17" name="Text 15"/>
          <p:cNvSpPr txBox="1"/>
          <p:nvPr/>
        </p:nvSpPr>
        <p:spPr>
          <a:xfrm>
            <a:off x="9180576" y="1965960"/>
            <a:ext cx="2103120" cy="292608"/>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Chain</a:t>
            </a:r>
            <a:endParaRPr lang="en-US" sz="1600" dirty="0"/>
          </a:p>
        </p:txBody>
      </p:sp>
      <p:sp>
        <p:nvSpPr>
          <p:cNvPr id="18" name="Text 16"/>
          <p:cNvSpPr txBox="1"/>
          <p:nvPr/>
        </p:nvSpPr>
        <p:spPr>
          <a:xfrm>
            <a:off x="9180576"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Pairing precompile verifies; the oracle score is written.</a:t>
            </a:r>
            <a:endParaRPr lang="en-US" sz="1200" dirty="0"/>
          </a:p>
        </p:txBody>
      </p:sp>
      <p:sp>
        <p:nvSpPr>
          <p:cNvPr id="19" name="Shape 17"/>
          <p:cNvSpPr/>
          <p:nvPr/>
        </p:nvSpPr>
        <p:spPr>
          <a:xfrm>
            <a:off x="640080" y="3611880"/>
            <a:ext cx="5669280" cy="2148840"/>
          </a:xfrm>
          <a:prstGeom prst="roundRect">
            <a:avLst>
              <a:gd name="adj" fmla="val 3404"/>
            </a:avLst>
          </a:prstGeom>
          <a:solidFill>
            <a:srgbClr val="213341"/>
          </a:solidFill>
          <a:ln w="12700">
            <a:solidFill>
              <a:srgbClr val="213341"/>
            </a:solidFill>
            <a:prstDash val="solid"/>
          </a:ln>
        </p:spPr>
      </p:sp>
      <p:sp>
        <p:nvSpPr>
          <p:cNvPr id="20" name="Text 18"/>
          <p:cNvSpPr txBox="1"/>
          <p:nvPr/>
        </p:nvSpPr>
        <p:spPr>
          <a:xfrm>
            <a:off x="960120" y="3822192"/>
            <a:ext cx="502920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The verification is genuine</a:t>
            </a:r>
            <a:endParaRPr lang="en-US" sz="1600" dirty="0"/>
          </a:p>
        </p:txBody>
      </p:sp>
      <p:sp>
        <p:nvSpPr>
          <p:cNvPr id="21" name="Text 19"/>
          <p:cNvSpPr txBox="1"/>
          <p:nvPr/>
        </p:nvSpPr>
        <p:spPr>
          <a:xfrm>
            <a:off x="960120" y="4160520"/>
            <a:ext cx="5029200" cy="320040"/>
          </a:xfrm>
          <a:prstGeom prst="rect">
            <a:avLst/>
          </a:prstGeom>
          <a:noFill/>
          <a:ln/>
        </p:spPr>
        <p:txBody>
          <a:bodyPr wrap="square" lIns="0" tIns="0" rIns="0" bIns="0" rtlCol="0" anchor="ctr"/>
          <a:lstStyle/>
          <a:p>
            <a:pPr indent="0" marL="0">
              <a:buNone/>
            </a:pPr>
            <a:r>
              <a:rPr lang="en-US" sz="1200" dirty="0">
                <a:solidFill>
                  <a:srgbClr val="FFC15E"/>
                </a:solidFill>
                <a:latin typeface="Courier New" pitchFamily="34" charset="0"/>
                <a:ea typeface="Courier New" pitchFamily="34" charset="-122"/>
                <a:cs typeface="Courier New" pitchFamily="34" charset="-120"/>
              </a:rPr>
              <a:t>e(σ + γ·apkG1, −g2) · e(H(m) + γ·g1, apkG2) == 1</a:t>
            </a:r>
            <a:endParaRPr lang="en-US" sz="1200" dirty="0"/>
          </a:p>
        </p:txBody>
      </p:sp>
      <p:sp>
        <p:nvSpPr>
          <p:cNvPr id="22" name="Text 20"/>
          <p:cNvSpPr txBox="1"/>
          <p:nvPr/>
        </p:nvSpPr>
        <p:spPr>
          <a:xfrm>
            <a:off x="960120" y="4572000"/>
            <a:ext cx="5029200" cy="100584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BN254 keys in G2, signatures in G1</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Signer keys summed on-chain from the registry</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Forged signatures and duplicate signers rejected</a:t>
            </a:r>
            <a:endParaRPr lang="en-US" sz="1200" dirty="0"/>
          </a:p>
        </p:txBody>
      </p:sp>
      <p:sp>
        <p:nvSpPr>
          <p:cNvPr id="23" name="Shape 21"/>
          <p:cNvSpPr/>
          <p:nvPr/>
        </p:nvSpPr>
        <p:spPr>
          <a:xfrm>
            <a:off x="6675120" y="3611880"/>
            <a:ext cx="4572000" cy="2148840"/>
          </a:xfrm>
          <a:prstGeom prst="roundRect">
            <a:avLst>
              <a:gd name="adj" fmla="val 3404"/>
            </a:avLst>
          </a:prstGeom>
          <a:solidFill>
            <a:srgbClr val="1B2A36"/>
          </a:solidFill>
          <a:ln w="12700">
            <a:solidFill>
              <a:srgbClr val="1B2A36"/>
            </a:solidFill>
            <a:prstDash val="solid"/>
          </a:ln>
        </p:spPr>
      </p:sp>
      <p:sp>
        <p:nvSpPr>
          <p:cNvPr id="24" name="Text 22"/>
          <p:cNvSpPr txBox="1"/>
          <p:nvPr/>
        </p:nvSpPr>
        <p:spPr>
          <a:xfrm>
            <a:off x="6995160" y="3822192"/>
            <a:ext cx="393192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Scoring weights</a:t>
            </a:r>
            <a:endParaRPr lang="en-US" sz="1600" dirty="0"/>
          </a:p>
        </p:txBody>
      </p:sp>
      <p:sp>
        <p:nvSpPr>
          <p:cNvPr id="25" name="Text 23"/>
          <p:cNvSpPr txBox="1"/>
          <p:nvPr/>
        </p:nvSpPr>
        <p:spPr>
          <a:xfrm>
            <a:off x="6995160" y="422452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Sandwich detected</a:t>
            </a:r>
            <a:endParaRPr lang="en-US" sz="1200" dirty="0"/>
          </a:p>
        </p:txBody>
      </p:sp>
      <p:sp>
        <p:nvSpPr>
          <p:cNvPr id="26" name="Text 24"/>
          <p:cNvSpPr txBox="1"/>
          <p:nvPr/>
        </p:nvSpPr>
        <p:spPr>
          <a:xfrm>
            <a:off x="9966960" y="422452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+35</a:t>
            </a:r>
            <a:endParaRPr lang="en-US" sz="1200" dirty="0"/>
          </a:p>
        </p:txBody>
      </p:sp>
      <p:sp>
        <p:nvSpPr>
          <p:cNvPr id="27" name="Text 25"/>
          <p:cNvSpPr txBox="1"/>
          <p:nvPr/>
        </p:nvSpPr>
        <p:spPr>
          <a:xfrm>
            <a:off x="6995160" y="459028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Volume breach</a:t>
            </a:r>
            <a:endParaRPr lang="en-US" sz="1200" dirty="0"/>
          </a:p>
        </p:txBody>
      </p:sp>
      <p:sp>
        <p:nvSpPr>
          <p:cNvPr id="28" name="Text 26"/>
          <p:cNvSpPr txBox="1"/>
          <p:nvPr/>
        </p:nvSpPr>
        <p:spPr>
          <a:xfrm>
            <a:off x="9966960" y="459028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+30</a:t>
            </a:r>
            <a:endParaRPr lang="en-US" sz="1200" dirty="0"/>
          </a:p>
        </p:txBody>
      </p:sp>
      <p:sp>
        <p:nvSpPr>
          <p:cNvPr id="29" name="Text 27"/>
          <p:cNvSpPr txBox="1"/>
          <p:nvPr/>
        </p:nvSpPr>
        <p:spPr>
          <a:xfrm>
            <a:off x="6995160" y="495604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JIT detected</a:t>
            </a:r>
            <a:endParaRPr lang="en-US" sz="1200" dirty="0"/>
          </a:p>
        </p:txBody>
      </p:sp>
      <p:sp>
        <p:nvSpPr>
          <p:cNvPr id="30" name="Text 28"/>
          <p:cNvSpPr txBox="1"/>
          <p:nvPr/>
        </p:nvSpPr>
        <p:spPr>
          <a:xfrm>
            <a:off x="9966960" y="495604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+25</a:t>
            </a:r>
            <a:endParaRPr lang="en-US" sz="1200" dirty="0"/>
          </a:p>
        </p:txBody>
      </p:sp>
      <p:sp>
        <p:nvSpPr>
          <p:cNvPr id="31" name="Text 29"/>
          <p:cNvSpPr txBox="1"/>
          <p:nvPr/>
        </p:nvSpPr>
        <p:spPr>
          <a:xfrm>
            <a:off x="6995160" y="532180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Round-trip pattern</a:t>
            </a:r>
            <a:endParaRPr lang="en-US" sz="1200" dirty="0"/>
          </a:p>
        </p:txBody>
      </p:sp>
      <p:sp>
        <p:nvSpPr>
          <p:cNvPr id="32" name="Text 30"/>
          <p:cNvSpPr txBox="1"/>
          <p:nvPr/>
        </p:nvSpPr>
        <p:spPr>
          <a:xfrm>
            <a:off x="9966960" y="532180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+20</a:t>
            </a:r>
            <a:endParaRPr lang="en-US" sz="1200" dirty="0"/>
          </a:p>
        </p:txBody>
      </p:sp>
      <p:sp>
        <p:nvSpPr>
          <p:cNvPr id="33" name="Text 31"/>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Scores decay 5 points a day, so a reformed address heals back to clean.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SEE IT RUN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The whole loop, on a local chain</a:t>
            </a:r>
            <a:endParaRPr lang="en-US" sz="3400" dirty="0"/>
          </a:p>
        </p:txBody>
      </p:sp>
      <p:sp>
        <p:nvSpPr>
          <p:cNvPr id="4" name="Shape 2"/>
          <p:cNvSpPr/>
          <p:nvPr/>
        </p:nvSpPr>
        <p:spPr>
          <a:xfrm>
            <a:off x="640080" y="1783080"/>
            <a:ext cx="5669280" cy="475488"/>
          </a:xfrm>
          <a:prstGeom prst="roundRect">
            <a:avLst>
              <a:gd name="adj" fmla="val 15385"/>
            </a:avLst>
          </a:prstGeom>
          <a:solidFill>
            <a:srgbClr val="1B2A36"/>
          </a:solidFill>
          <a:ln w="12700">
            <a:solidFill>
              <a:srgbClr val="1B2A36"/>
            </a:solidFill>
            <a:prstDash val="solid"/>
          </a:ln>
        </p:spPr>
      </p:sp>
      <p:sp>
        <p:nvSpPr>
          <p:cNvPr id="5" name="Text 3"/>
          <p:cNvSpPr txBox="1"/>
          <p:nvPr/>
        </p:nvSpPr>
        <p:spPr>
          <a:xfrm>
            <a:off x="896112" y="1856232"/>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anvil</a:t>
            </a:r>
            <a:endParaRPr lang="en-US" sz="1300" dirty="0"/>
          </a:p>
        </p:txBody>
      </p:sp>
      <p:sp>
        <p:nvSpPr>
          <p:cNvPr id="6" name="Text 4"/>
          <p:cNvSpPr txBox="1"/>
          <p:nvPr/>
        </p:nvSpPr>
        <p:spPr>
          <a:xfrm>
            <a:off x="3566160" y="1856232"/>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local chain</a:t>
            </a:r>
            <a:endParaRPr lang="en-US" sz="1200" dirty="0"/>
          </a:p>
        </p:txBody>
      </p:sp>
      <p:sp>
        <p:nvSpPr>
          <p:cNvPr id="7" name="Shape 5"/>
          <p:cNvSpPr/>
          <p:nvPr/>
        </p:nvSpPr>
        <p:spPr>
          <a:xfrm>
            <a:off x="640080" y="2350008"/>
            <a:ext cx="5669280" cy="475488"/>
          </a:xfrm>
          <a:prstGeom prst="roundRect">
            <a:avLst>
              <a:gd name="adj" fmla="val 15385"/>
            </a:avLst>
          </a:prstGeom>
          <a:solidFill>
            <a:srgbClr val="1B2A36"/>
          </a:solidFill>
          <a:ln w="12700">
            <a:solidFill>
              <a:srgbClr val="1B2A36"/>
            </a:solidFill>
            <a:prstDash val="solid"/>
          </a:ln>
        </p:spPr>
      </p:sp>
      <p:sp>
        <p:nvSpPr>
          <p:cNvPr id="8" name="Text 6"/>
          <p:cNvSpPr txBox="1"/>
          <p:nvPr/>
        </p:nvSpPr>
        <p:spPr>
          <a:xfrm>
            <a:off x="896112" y="2423160"/>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deploy-local</a:t>
            </a:r>
            <a:endParaRPr lang="en-US" sz="1300" dirty="0"/>
          </a:p>
        </p:txBody>
      </p:sp>
      <p:sp>
        <p:nvSpPr>
          <p:cNvPr id="9" name="Text 7"/>
          <p:cNvSpPr txBox="1"/>
          <p:nvPr/>
        </p:nvSpPr>
        <p:spPr>
          <a:xfrm>
            <a:off x="3566160" y="2423160"/>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pool, hook, operator quorum</a:t>
            </a:r>
            <a:endParaRPr lang="en-US" sz="1200" dirty="0"/>
          </a:p>
        </p:txBody>
      </p:sp>
      <p:sp>
        <p:nvSpPr>
          <p:cNvPr id="10" name="Shape 8"/>
          <p:cNvSpPr/>
          <p:nvPr/>
        </p:nvSpPr>
        <p:spPr>
          <a:xfrm>
            <a:off x="640080" y="2916936"/>
            <a:ext cx="5669280" cy="475488"/>
          </a:xfrm>
          <a:prstGeom prst="roundRect">
            <a:avLst>
              <a:gd name="adj" fmla="val 15385"/>
            </a:avLst>
          </a:prstGeom>
          <a:solidFill>
            <a:srgbClr val="1B2A36"/>
          </a:solidFill>
          <a:ln w="12700">
            <a:solidFill>
              <a:srgbClr val="1B2A36"/>
            </a:solidFill>
            <a:prstDash val="solid"/>
          </a:ln>
        </p:spPr>
      </p:sp>
      <p:sp>
        <p:nvSpPr>
          <p:cNvPr id="11" name="Text 9"/>
          <p:cNvSpPr txBox="1"/>
          <p:nvPr/>
        </p:nvSpPr>
        <p:spPr>
          <a:xfrm>
            <a:off x="896112" y="2990088"/>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avs</a:t>
            </a:r>
            <a:endParaRPr lang="en-US" sz="1300" dirty="0"/>
          </a:p>
        </p:txBody>
      </p:sp>
      <p:sp>
        <p:nvSpPr>
          <p:cNvPr id="12" name="Text 10"/>
          <p:cNvSpPr txBox="1"/>
          <p:nvPr/>
        </p:nvSpPr>
        <p:spPr>
          <a:xfrm>
            <a:off x="3566160" y="2990088"/>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operators + aggregator</a:t>
            </a:r>
            <a:endParaRPr lang="en-US" sz="1200" dirty="0"/>
          </a:p>
        </p:txBody>
      </p:sp>
      <p:sp>
        <p:nvSpPr>
          <p:cNvPr id="13" name="Shape 11"/>
          <p:cNvSpPr/>
          <p:nvPr/>
        </p:nvSpPr>
        <p:spPr>
          <a:xfrm>
            <a:off x="640080" y="3483864"/>
            <a:ext cx="5669280" cy="475488"/>
          </a:xfrm>
          <a:prstGeom prst="roundRect">
            <a:avLst>
              <a:gd name="adj" fmla="val 15385"/>
            </a:avLst>
          </a:prstGeom>
          <a:solidFill>
            <a:srgbClr val="1B2A36"/>
          </a:solidFill>
          <a:ln w="12700">
            <a:solidFill>
              <a:srgbClr val="1B2A36"/>
            </a:solidFill>
            <a:prstDash val="solid"/>
          </a:ln>
        </p:spPr>
      </p:sp>
      <p:sp>
        <p:nvSpPr>
          <p:cNvPr id="14" name="Text 12"/>
          <p:cNvSpPr txBox="1"/>
          <p:nvPr/>
        </p:nvSpPr>
        <p:spPr>
          <a:xfrm>
            <a:off x="896112" y="3557016"/>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attack</a:t>
            </a:r>
            <a:endParaRPr lang="en-US" sz="1300" dirty="0"/>
          </a:p>
        </p:txBody>
      </p:sp>
      <p:sp>
        <p:nvSpPr>
          <p:cNvPr id="15" name="Text 13"/>
          <p:cNvSpPr txBox="1"/>
          <p:nvPr/>
        </p:nvSpPr>
        <p:spPr>
          <a:xfrm>
            <a:off x="3566160" y="3557016"/>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real three-transaction sandwich</a:t>
            </a:r>
            <a:endParaRPr lang="en-US" sz="1200" dirty="0"/>
          </a:p>
        </p:txBody>
      </p:sp>
      <p:sp>
        <p:nvSpPr>
          <p:cNvPr id="16" name="Shape 14"/>
          <p:cNvSpPr/>
          <p:nvPr/>
        </p:nvSpPr>
        <p:spPr>
          <a:xfrm>
            <a:off x="6675120" y="1783080"/>
            <a:ext cx="4572000" cy="2240280"/>
          </a:xfrm>
          <a:prstGeom prst="roundRect">
            <a:avLst>
              <a:gd name="adj" fmla="val 3265"/>
            </a:avLst>
          </a:prstGeom>
          <a:solidFill>
            <a:srgbClr val="213341"/>
          </a:solidFill>
          <a:ln w="12700">
            <a:solidFill>
              <a:srgbClr val="213341"/>
            </a:solidFill>
            <a:prstDash val="solid"/>
          </a:ln>
        </p:spPr>
      </p:sp>
      <p:sp>
        <p:nvSpPr>
          <p:cNvPr id="17" name="Text 15"/>
          <p:cNvSpPr txBox="1"/>
          <p:nvPr/>
        </p:nvSpPr>
        <p:spPr>
          <a:xfrm>
            <a:off x="6995160" y="1965960"/>
            <a:ext cx="393192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What comes out</a:t>
            </a:r>
            <a:endParaRPr lang="en-US" sz="1400" dirty="0"/>
          </a:p>
        </p:txBody>
      </p:sp>
      <p:sp>
        <p:nvSpPr>
          <p:cNvPr id="18" name="Text 16"/>
          <p:cNvSpPr txBox="1"/>
          <p:nvPr/>
        </p:nvSpPr>
        <p:spPr>
          <a:xfrm>
            <a:off x="6995160" y="2286000"/>
            <a:ext cx="3931920" cy="1554480"/>
          </a:xfrm>
          <a:prstGeom prst="rect">
            <a:avLst/>
          </a:prstGeom>
          <a:noFill/>
          <a:ln/>
        </p:spPr>
        <p:txBody>
          <a:bodyPr wrap="square" lIns="0" tIns="0" rIns="0" bIns="0" rtlCol="0" anchor="ctr"/>
          <a:lstStyle/>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buy   4.0 -&gt;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victim  buy   1.0 -&gt;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sell  4.0 -&gt; 15000 pips</a:t>
            </a:r>
            <a:endParaRPr lang="en-US" sz="1100" dirty="0"/>
          </a:p>
          <a:p>
            <a:pPr indent="0" marL="0">
              <a:lnSpc>
                <a:spcPts val="1500"/>
              </a:lnSpc>
              <a:buNone/>
            </a:pP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Flagged: bot</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Router score: 0</a:t>
            </a:r>
            <a:endParaRPr lang="en-US" sz="1100" dirty="0"/>
          </a:p>
        </p:txBody>
      </p:sp>
      <p:sp>
        <p:nvSpPr>
          <p:cNvPr id="19" name="Text 17"/>
          <p:cNvSpPr txBox="1"/>
          <p:nvPr/>
        </p:nvSpPr>
        <p:spPr>
          <a:xfrm>
            <a:off x="640080" y="4206240"/>
            <a:ext cx="10881360" cy="59436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Bot and victim are separate EOAs through the same router — the exact case that used to defeat the hook. Run it twice and the bot reprices to 1.05% while the victim still pays 0.30%.</a:t>
            </a:r>
            <a:endParaRPr lang="en-US" sz="1300" dirty="0"/>
          </a:p>
        </p:txBody>
      </p:sp>
      <p:sp>
        <p:nvSpPr>
          <p:cNvPr id="20" name="Shape 18"/>
          <p:cNvSpPr/>
          <p:nvPr/>
        </p:nvSpPr>
        <p:spPr>
          <a:xfrm>
            <a:off x="640080" y="4937760"/>
            <a:ext cx="2560320" cy="960120"/>
          </a:xfrm>
          <a:prstGeom prst="roundRect">
            <a:avLst>
              <a:gd name="adj" fmla="val 7619"/>
            </a:avLst>
          </a:prstGeom>
          <a:solidFill>
            <a:srgbClr val="1B2A36"/>
          </a:solidFill>
          <a:ln w="12700">
            <a:solidFill>
              <a:srgbClr val="1B2A36"/>
            </a:solidFill>
            <a:prstDash val="solid"/>
          </a:ln>
        </p:spPr>
      </p:sp>
      <p:sp>
        <p:nvSpPr>
          <p:cNvPr id="21" name="Text 19"/>
          <p:cNvSpPr txBox="1"/>
          <p:nvPr/>
        </p:nvSpPr>
        <p:spPr>
          <a:xfrm>
            <a:off x="868680"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247</a:t>
            </a:r>
            <a:endParaRPr lang="en-US" sz="2200" dirty="0"/>
          </a:p>
        </p:txBody>
      </p:sp>
      <p:sp>
        <p:nvSpPr>
          <p:cNvPr id="22" name="Text 20"/>
          <p:cNvSpPr txBox="1"/>
          <p:nvPr/>
        </p:nvSpPr>
        <p:spPr>
          <a:xfrm>
            <a:off x="868680"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tests, 20 suites</a:t>
            </a:r>
            <a:endParaRPr lang="en-US" sz="1100" dirty="0"/>
          </a:p>
        </p:txBody>
      </p:sp>
      <p:sp>
        <p:nvSpPr>
          <p:cNvPr id="23" name="Shape 21"/>
          <p:cNvSpPr/>
          <p:nvPr/>
        </p:nvSpPr>
        <p:spPr>
          <a:xfrm>
            <a:off x="3410712" y="4937760"/>
            <a:ext cx="2560320" cy="960120"/>
          </a:xfrm>
          <a:prstGeom prst="roundRect">
            <a:avLst>
              <a:gd name="adj" fmla="val 7619"/>
            </a:avLst>
          </a:prstGeom>
          <a:solidFill>
            <a:srgbClr val="1B2A36"/>
          </a:solidFill>
          <a:ln w="12700">
            <a:solidFill>
              <a:srgbClr val="1B2A36"/>
            </a:solidFill>
            <a:prstDash val="solid"/>
          </a:ln>
        </p:spPr>
      </p:sp>
      <p:sp>
        <p:nvSpPr>
          <p:cNvPr id="24" name="Text 22"/>
          <p:cNvSpPr txBox="1"/>
          <p:nvPr/>
        </p:nvSpPr>
        <p:spPr>
          <a:xfrm>
            <a:off x="3639312"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 txs</a:t>
            </a:r>
            <a:endParaRPr lang="en-US" sz="2200" dirty="0"/>
          </a:p>
        </p:txBody>
      </p:sp>
      <p:sp>
        <p:nvSpPr>
          <p:cNvPr id="25" name="Text 23"/>
          <p:cNvSpPr txBox="1"/>
          <p:nvPr/>
        </p:nvSpPr>
        <p:spPr>
          <a:xfrm>
            <a:off x="3639312"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one block, real sandwich</a:t>
            </a:r>
            <a:endParaRPr lang="en-US" sz="1100" dirty="0"/>
          </a:p>
        </p:txBody>
      </p:sp>
      <p:sp>
        <p:nvSpPr>
          <p:cNvPr id="26" name="Shape 24"/>
          <p:cNvSpPr/>
          <p:nvPr/>
        </p:nvSpPr>
        <p:spPr>
          <a:xfrm>
            <a:off x="6181344" y="4937760"/>
            <a:ext cx="2560320" cy="960120"/>
          </a:xfrm>
          <a:prstGeom prst="roundRect">
            <a:avLst>
              <a:gd name="adj" fmla="val 7619"/>
            </a:avLst>
          </a:prstGeom>
          <a:solidFill>
            <a:srgbClr val="1B2A36"/>
          </a:solidFill>
          <a:ln w="12700">
            <a:solidFill>
              <a:srgbClr val="1B2A36"/>
            </a:solidFill>
            <a:prstDash val="solid"/>
          </a:ln>
        </p:spPr>
      </p:sp>
      <p:sp>
        <p:nvSpPr>
          <p:cNvPr id="27" name="Text 25"/>
          <p:cNvSpPr txBox="1"/>
          <p:nvPr/>
        </p:nvSpPr>
        <p:spPr>
          <a:xfrm>
            <a:off x="6409944"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3/3</a:t>
            </a:r>
            <a:endParaRPr lang="en-US" sz="2200" dirty="0"/>
          </a:p>
        </p:txBody>
      </p:sp>
      <p:sp>
        <p:nvSpPr>
          <p:cNvPr id="28" name="Text 26"/>
          <p:cNvSpPr txBox="1"/>
          <p:nvPr/>
        </p:nvSpPr>
        <p:spPr>
          <a:xfrm>
            <a:off x="6409944"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operators signed</a:t>
            </a:r>
            <a:endParaRPr lang="en-US" sz="1100" dirty="0"/>
          </a:p>
        </p:txBody>
      </p:sp>
      <p:sp>
        <p:nvSpPr>
          <p:cNvPr id="29" name="Shape 27"/>
          <p:cNvSpPr/>
          <p:nvPr/>
        </p:nvSpPr>
        <p:spPr>
          <a:xfrm>
            <a:off x="8951976" y="4937760"/>
            <a:ext cx="2560320" cy="960120"/>
          </a:xfrm>
          <a:prstGeom prst="roundRect">
            <a:avLst>
              <a:gd name="adj" fmla="val 7619"/>
            </a:avLst>
          </a:prstGeom>
          <a:solidFill>
            <a:srgbClr val="1B2A36"/>
          </a:solidFill>
          <a:ln w="12700">
            <a:solidFill>
              <a:srgbClr val="1B2A36"/>
            </a:solidFill>
            <a:prstDash val="solid"/>
          </a:ln>
        </p:spPr>
      </p:sp>
      <p:sp>
        <p:nvSpPr>
          <p:cNvPr id="30" name="Text 28"/>
          <p:cNvSpPr txBox="1"/>
          <p:nvPr/>
        </p:nvSpPr>
        <p:spPr>
          <a:xfrm>
            <a:off x="9180576"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10.5k</a:t>
            </a:r>
            <a:endParaRPr lang="en-US" sz="2200" dirty="0"/>
          </a:p>
        </p:txBody>
      </p:sp>
      <p:sp>
        <p:nvSpPr>
          <p:cNvPr id="31" name="Text 29"/>
          <p:cNvSpPr txBox="1"/>
          <p:nvPr/>
        </p:nvSpPr>
        <p:spPr>
          <a:xfrm>
            <a:off x="9180576"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gas, steady state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685800"/>
            <a:ext cx="8686800" cy="777240"/>
          </a:xfrm>
          <a:prstGeom prst="rect">
            <a:avLst/>
          </a:prstGeom>
          <a:noFill/>
          <a:ln/>
        </p:spPr>
        <p:txBody>
          <a:bodyPr wrap="square" lIns="0" tIns="0" rIns="0" bIns="0" rtlCol="0" anchor="ctr"/>
          <a:lstStyle/>
          <a:p>
            <a:pPr indent="0" marL="0">
              <a:buNone/>
            </a:pPr>
            <a:r>
              <a:rPr lang="en-US" sz="4200" b="1" dirty="0">
                <a:solidFill>
                  <a:srgbClr val="EAF2F6"/>
                </a:solidFill>
                <a:latin typeface="Arial" pitchFamily="34" charset="0"/>
                <a:ea typeface="Arial" pitchFamily="34" charset="-122"/>
                <a:cs typeface="Arial" pitchFamily="34" charset="-120"/>
              </a:rPr>
              <a:t>GradientShield</a:t>
            </a:r>
            <a:endParaRPr lang="en-US" sz="4200" dirty="0"/>
          </a:p>
        </p:txBody>
      </p:sp>
      <p:sp>
        <p:nvSpPr>
          <p:cNvPr id="3" name="Text 1"/>
          <p:cNvSpPr txBox="1"/>
          <p:nvPr/>
        </p:nvSpPr>
        <p:spPr>
          <a:xfrm>
            <a:off x="640080" y="1463040"/>
            <a:ext cx="5486400" cy="320040"/>
          </a:xfrm>
          <a:prstGeom prst="rect">
            <a:avLst/>
          </a:prstGeom>
          <a:noFill/>
          <a:ln/>
        </p:spPr>
        <p:txBody>
          <a:bodyPr wrap="square" lIns="0" tIns="0" rIns="0" bIns="0" rtlCol="0" anchor="ctr"/>
          <a:lstStyle/>
          <a:p>
            <a:pPr indent="0" marL="0">
              <a:buNone/>
            </a:pPr>
            <a:r>
              <a:rPr lang="en-US" sz="1400" dirty="0">
                <a:solidFill>
                  <a:srgbClr val="06D6A0"/>
                </a:solidFill>
                <a:latin typeface="Calibri" pitchFamily="34" charset="0"/>
                <a:ea typeface="Calibri" pitchFamily="34" charset="-122"/>
                <a:cs typeface="Calibri" pitchFamily="34" charset="-120"/>
              </a:rPr>
              <a:t>Project HK-UHI10-1050</a:t>
            </a:r>
            <a:endParaRPr lang="en-US" sz="1400" dirty="0"/>
          </a:p>
        </p:txBody>
      </p:sp>
      <p:sp>
        <p:nvSpPr>
          <p:cNvPr id="4" name="Shape 2"/>
          <p:cNvSpPr/>
          <p:nvPr/>
        </p:nvSpPr>
        <p:spPr>
          <a:xfrm>
            <a:off x="640080" y="2011680"/>
            <a:ext cx="10881360" cy="1143000"/>
          </a:xfrm>
          <a:prstGeom prst="roundRect">
            <a:avLst>
              <a:gd name="adj" fmla="val 6400"/>
            </a:avLst>
          </a:prstGeom>
          <a:solidFill>
            <a:srgbClr val="213341"/>
          </a:solidFill>
          <a:ln w="12700">
            <a:solidFill>
              <a:srgbClr val="213341"/>
            </a:solidFill>
            <a:prstDash val="solid"/>
          </a:ln>
        </p:spPr>
      </p:sp>
      <p:sp>
        <p:nvSpPr>
          <p:cNvPr id="5" name="Text 3"/>
          <p:cNvSpPr txBox="1"/>
          <p:nvPr/>
        </p:nvSpPr>
        <p:spPr>
          <a:xfrm>
            <a:off x="960120" y="2194560"/>
            <a:ext cx="3657600" cy="2743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Repository</a:t>
            </a:r>
            <a:endParaRPr lang="en-US" sz="1300" dirty="0"/>
          </a:p>
        </p:txBody>
      </p:sp>
      <p:sp>
        <p:nvSpPr>
          <p:cNvPr id="6" name="Text 4"/>
          <p:cNvSpPr txBox="1"/>
          <p:nvPr/>
        </p:nvSpPr>
        <p:spPr>
          <a:xfrm>
            <a:off x="960120" y="2468880"/>
            <a:ext cx="7772400" cy="411480"/>
          </a:xfrm>
          <a:prstGeom prst="rect">
            <a:avLst/>
          </a:prstGeom>
          <a:noFill/>
          <a:ln/>
        </p:spPr>
        <p:txBody>
          <a:bodyPr wrap="square" lIns="0" tIns="0" rIns="0" bIns="0" rtlCol="0" anchor="ctr"/>
          <a:lstStyle/>
          <a:p>
            <a:pPr indent="0" marL="0">
              <a:buNone/>
            </a:pPr>
            <a:r>
              <a:rPr lang="en-US" sz="2100" b="1" dirty="0">
                <a:solidFill>
                  <a:srgbClr val="06D6A0"/>
                </a:solidFill>
                <a:latin typeface="Courier New" pitchFamily="34" charset="0"/>
                <a:ea typeface="Courier New" pitchFamily="34" charset="-122"/>
                <a:cs typeface="Courier New" pitchFamily="34" charset="-120"/>
              </a:rPr>
              <a:t>github.com/sivajialla/gradient-shield</a:t>
            </a:r>
            <a:endParaRPr lang="en-US" sz="2100" dirty="0"/>
          </a:p>
        </p:txBody>
      </p:sp>
      <p:sp>
        <p:nvSpPr>
          <p:cNvPr id="7" name="Text 5"/>
          <p:cNvSpPr txBox="1"/>
          <p:nvPr/>
        </p:nvSpPr>
        <p:spPr>
          <a:xfrm>
            <a:off x="9052560" y="2542032"/>
            <a:ext cx="2194560" cy="320040"/>
          </a:xfrm>
          <a:prstGeom prst="rect">
            <a:avLst/>
          </a:prstGeom>
          <a:noFill/>
          <a:ln/>
        </p:spPr>
        <p:txBody>
          <a:bodyPr wrap="square" lIns="0" tIns="0" rIns="0" bIns="0" rtlCol="0" anchor="ctr"/>
          <a:lstStyle/>
          <a:p>
            <a:pPr algn="r" indent="0" marL="0">
              <a:buNone/>
            </a:pPr>
            <a:r>
              <a:rPr lang="en-US" sz="1300" dirty="0">
                <a:solidFill>
                  <a:srgbClr val="5D717E"/>
                </a:solidFill>
                <a:latin typeface="Calibri" pitchFamily="34" charset="0"/>
                <a:ea typeface="Calibri" pitchFamily="34" charset="-122"/>
                <a:cs typeface="Calibri" pitchFamily="34" charset="-120"/>
              </a:rPr>
              <a:t>MIT licensed</a:t>
            </a:r>
            <a:endParaRPr lang="en-US" sz="1300" dirty="0"/>
          </a:p>
        </p:txBody>
      </p:sp>
      <p:sp>
        <p:nvSpPr>
          <p:cNvPr id="8" name="Shape 6"/>
          <p:cNvSpPr/>
          <p:nvPr/>
        </p:nvSpPr>
        <p:spPr>
          <a:xfrm>
            <a:off x="640080" y="3337560"/>
            <a:ext cx="5669280" cy="1417320"/>
          </a:xfrm>
          <a:prstGeom prst="roundRect">
            <a:avLst>
              <a:gd name="adj" fmla="val 5161"/>
            </a:avLst>
          </a:prstGeom>
          <a:solidFill>
            <a:srgbClr val="1B2A36"/>
          </a:solidFill>
          <a:ln w="12700">
            <a:solidFill>
              <a:srgbClr val="1B2A36"/>
            </a:solidFill>
            <a:prstDash val="solid"/>
          </a:ln>
        </p:spPr>
      </p:sp>
      <p:sp>
        <p:nvSpPr>
          <p:cNvPr id="9" name="Text 7"/>
          <p:cNvSpPr txBox="1"/>
          <p:nvPr/>
        </p:nvSpPr>
        <p:spPr>
          <a:xfrm>
            <a:off x="914400" y="3520440"/>
            <a:ext cx="502920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Verify in one command</a:t>
            </a:r>
            <a:endParaRPr lang="en-US" sz="1400" dirty="0"/>
          </a:p>
        </p:txBody>
      </p:sp>
      <p:sp>
        <p:nvSpPr>
          <p:cNvPr id="10" name="Text 8"/>
          <p:cNvSpPr txBox="1"/>
          <p:nvPr/>
        </p:nvSpPr>
        <p:spPr>
          <a:xfrm>
            <a:off x="914400" y="3840480"/>
            <a:ext cx="5120640" cy="548640"/>
          </a:xfrm>
          <a:prstGeom prst="rect">
            <a:avLst/>
          </a:prstGeom>
          <a:noFill/>
          <a:ln/>
        </p:spPr>
        <p:txBody>
          <a:bodyPr wrap="square" lIns="0" tIns="0" rIns="0" bIns="0" rtlCol="0" anchor="ctr"/>
          <a:lstStyle/>
          <a:p>
            <a:pPr indent="0" marL="0">
              <a:lnSpc>
                <a:spcPts val="1700"/>
              </a:lnSpc>
              <a:buNone/>
            </a:pPr>
            <a:r>
              <a:rPr lang="en-US" sz="1200" dirty="0">
                <a:solidFill>
                  <a:srgbClr val="FFC15E"/>
                </a:solidFill>
                <a:latin typeface="Courier New" pitchFamily="34" charset="0"/>
                <a:ea typeface="Courier New" pitchFamily="34" charset="-122"/>
                <a:cs typeface="Courier New" pitchFamily="34" charset="-120"/>
              </a:rPr>
              <a:t>git clone --recurse-submodules &lt;repo&gt;</a:t>
            </a:r>
            <a:endParaRPr lang="en-US" sz="1200" dirty="0"/>
          </a:p>
          <a:p>
            <a:pPr indent="0" marL="0">
              <a:lnSpc>
                <a:spcPts val="1700"/>
              </a:lnSpc>
              <a:buNone/>
            </a:pPr>
            <a:r>
              <a:rPr lang="en-US" sz="1200" dirty="0">
                <a:solidFill>
                  <a:srgbClr val="FFC15E"/>
                </a:solidFill>
                <a:latin typeface="Courier New" pitchFamily="34" charset="0"/>
                <a:ea typeface="Courier New" pitchFamily="34" charset="-122"/>
                <a:cs typeface="Courier New" pitchFamily="34" charset="-120"/>
              </a:rPr>
              <a:t>forge test</a:t>
            </a:r>
            <a:endParaRPr lang="en-US" sz="1200" dirty="0"/>
          </a:p>
        </p:txBody>
      </p:sp>
      <p:sp>
        <p:nvSpPr>
          <p:cNvPr id="11" name="Text 9"/>
          <p:cNvSpPr txBox="1"/>
          <p:nvPr/>
        </p:nvSpPr>
        <p:spPr>
          <a:xfrm>
            <a:off x="914400" y="4407408"/>
            <a:ext cx="5029200" cy="256032"/>
          </a:xfrm>
          <a:prstGeom prst="rect">
            <a:avLst/>
          </a:prstGeom>
          <a:noFill/>
          <a:ln/>
        </p:spPr>
        <p:txBody>
          <a:bodyPr wrap="square" lIns="0" tIns="0" rIns="0" bIns="0" rtlCol="0" anchor="ctr"/>
          <a:lstStyle/>
          <a:p>
            <a:pPr indent="0" marL="0">
              <a:buNone/>
            </a:pPr>
            <a:r>
              <a:rPr lang="en-US" sz="1200" dirty="0">
                <a:solidFill>
                  <a:srgbClr val="06D6A0"/>
                </a:solidFill>
                <a:latin typeface="Calibri" pitchFamily="34" charset="0"/>
                <a:ea typeface="Calibri" pitchFamily="34" charset="-122"/>
                <a:cs typeface="Calibri" pitchFamily="34" charset="-120"/>
              </a:rPr>
              <a:t>247 passing, no further setup</a:t>
            </a:r>
            <a:endParaRPr lang="en-US" sz="1200" dirty="0"/>
          </a:p>
        </p:txBody>
      </p:sp>
      <p:sp>
        <p:nvSpPr>
          <p:cNvPr id="12" name="Shape 10"/>
          <p:cNvSpPr/>
          <p:nvPr/>
        </p:nvSpPr>
        <p:spPr>
          <a:xfrm>
            <a:off x="6675120" y="3337560"/>
            <a:ext cx="4572000" cy="1417320"/>
          </a:xfrm>
          <a:prstGeom prst="roundRect">
            <a:avLst>
              <a:gd name="adj" fmla="val 5161"/>
            </a:avLst>
          </a:prstGeom>
          <a:solidFill>
            <a:srgbClr val="1B2A36"/>
          </a:solidFill>
          <a:ln w="12700">
            <a:solidFill>
              <a:srgbClr val="1B2A36"/>
            </a:solidFill>
            <a:prstDash val="solid"/>
          </a:ln>
        </p:spPr>
      </p:sp>
      <p:sp>
        <p:nvSpPr>
          <p:cNvPr id="13" name="Text 11"/>
          <p:cNvSpPr txBox="1"/>
          <p:nvPr/>
        </p:nvSpPr>
        <p:spPr>
          <a:xfrm>
            <a:off x="6949440" y="3520440"/>
            <a:ext cx="402336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What is in it</a:t>
            </a:r>
            <a:endParaRPr lang="en-US" sz="1400" dirty="0"/>
          </a:p>
        </p:txBody>
      </p:sp>
      <p:sp>
        <p:nvSpPr>
          <p:cNvPr id="14" name="Text 12"/>
          <p:cNvSpPr txBox="1"/>
          <p:nvPr/>
        </p:nvSpPr>
        <p:spPr>
          <a:xfrm>
            <a:off x="6949440" y="3858768"/>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Uniswap v4 hook</a:t>
            </a:r>
            <a:endParaRPr lang="en-US" sz="1200" dirty="0"/>
          </a:p>
        </p:txBody>
      </p:sp>
      <p:sp>
        <p:nvSpPr>
          <p:cNvPr id="15" name="Text 13"/>
          <p:cNvSpPr txBox="1"/>
          <p:nvPr/>
        </p:nvSpPr>
        <p:spPr>
          <a:xfrm>
            <a:off x="9784080" y="3858768"/>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12.8 KB</a:t>
            </a:r>
            <a:endParaRPr lang="en-US" sz="1200" dirty="0"/>
          </a:p>
        </p:txBody>
      </p:sp>
      <p:sp>
        <p:nvSpPr>
          <p:cNvPr id="16" name="Text 14"/>
          <p:cNvSpPr txBox="1"/>
          <p:nvPr/>
        </p:nvSpPr>
        <p:spPr>
          <a:xfrm>
            <a:off x="6949440" y="4142232"/>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BLS quorum AVS</a:t>
            </a:r>
            <a:endParaRPr lang="en-US" sz="1200" dirty="0"/>
          </a:p>
        </p:txBody>
      </p:sp>
      <p:sp>
        <p:nvSpPr>
          <p:cNvPr id="17" name="Text 15"/>
          <p:cNvSpPr txBox="1"/>
          <p:nvPr/>
        </p:nvSpPr>
        <p:spPr>
          <a:xfrm>
            <a:off x="9784080" y="4142232"/>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BN254</a:t>
            </a:r>
            <a:endParaRPr lang="en-US" sz="1200" dirty="0"/>
          </a:p>
        </p:txBody>
      </p:sp>
      <p:sp>
        <p:nvSpPr>
          <p:cNvPr id="18" name="Text 16"/>
          <p:cNvSpPr txBox="1"/>
          <p:nvPr/>
        </p:nvSpPr>
        <p:spPr>
          <a:xfrm>
            <a:off x="6949440" y="4425696"/>
            <a:ext cx="2834640" cy="256032"/>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Live demo</a:t>
            </a:r>
            <a:endParaRPr lang="en-US" sz="1200" dirty="0"/>
          </a:p>
        </p:txBody>
      </p:sp>
      <p:sp>
        <p:nvSpPr>
          <p:cNvPr id="19" name="Text 17"/>
          <p:cNvSpPr txBox="1"/>
          <p:nvPr/>
        </p:nvSpPr>
        <p:spPr>
          <a:xfrm>
            <a:off x="9784080" y="4425696"/>
            <a:ext cx="1188720" cy="256032"/>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4 commands</a:t>
            </a:r>
            <a:endParaRPr lang="en-US" sz="1200" dirty="0"/>
          </a:p>
        </p:txBody>
      </p:sp>
      <p:sp>
        <p:nvSpPr>
          <p:cNvPr id="20" name="Shape 18"/>
          <p:cNvSpPr/>
          <p:nvPr/>
        </p:nvSpPr>
        <p:spPr>
          <a:xfrm>
            <a:off x="640080" y="4937760"/>
            <a:ext cx="10881360" cy="1234440"/>
          </a:xfrm>
          <a:prstGeom prst="roundRect">
            <a:avLst>
              <a:gd name="adj" fmla="val 5926"/>
            </a:avLst>
          </a:prstGeom>
          <a:solidFill>
            <a:srgbClr val="213341"/>
          </a:solidFill>
          <a:ln w="12700">
            <a:solidFill>
              <a:srgbClr val="213341"/>
            </a:solidFill>
            <a:prstDash val="solid"/>
          </a:ln>
        </p:spPr>
      </p:sp>
      <p:sp>
        <p:nvSpPr>
          <p:cNvPr id="21" name="Text 19"/>
          <p:cNvSpPr txBox="1"/>
          <p:nvPr/>
        </p:nvSpPr>
        <p:spPr>
          <a:xfrm>
            <a:off x="960120" y="5120640"/>
            <a:ext cx="4937760" cy="274320"/>
          </a:xfrm>
          <a:prstGeom prst="rect">
            <a:avLst/>
          </a:prstGeom>
          <a:noFill/>
          <a:ln/>
        </p:spPr>
        <p:txBody>
          <a:bodyPr wrap="square" lIns="0" tIns="0" rIns="0" bIns="0" rtlCol="0" anchor="ctr"/>
          <a:lstStyle/>
          <a:p>
            <a:pPr indent="0" marL="0">
              <a:buNone/>
            </a:pPr>
            <a:r>
              <a:rPr lang="en-US" sz="1500" b="1" dirty="0">
                <a:solidFill>
                  <a:srgbClr val="06D6A0"/>
                </a:solidFill>
                <a:latin typeface="Arial" pitchFamily="34" charset="0"/>
                <a:ea typeface="Arial" pitchFamily="34" charset="-122"/>
                <a:cs typeface="Arial" pitchFamily="34" charset="-120"/>
              </a:rPr>
              <a:t>MEV protection</a:t>
            </a:r>
            <a:endParaRPr lang="en-US" sz="1500" dirty="0"/>
          </a:p>
        </p:txBody>
      </p:sp>
      <p:sp>
        <p:nvSpPr>
          <p:cNvPr id="22" name="Text 20"/>
          <p:cNvSpPr txBox="1"/>
          <p:nvPr/>
        </p:nvSpPr>
        <p:spPr>
          <a:xfrm>
            <a:off x="960120" y="5413248"/>
            <a:ext cx="4937760" cy="548640"/>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Sandwich and JIT priced out on the first trade; the attacker pays 5.3x.</a:t>
            </a:r>
            <a:endParaRPr lang="en-US" sz="1200" dirty="0"/>
          </a:p>
        </p:txBody>
      </p:sp>
      <p:sp>
        <p:nvSpPr>
          <p:cNvPr id="23" name="Text 21"/>
          <p:cNvSpPr txBox="1"/>
          <p:nvPr/>
        </p:nvSpPr>
        <p:spPr>
          <a:xfrm>
            <a:off x="6309360" y="5120640"/>
            <a:ext cx="4937760" cy="274320"/>
          </a:xfrm>
          <a:prstGeom prst="rect">
            <a:avLst/>
          </a:prstGeom>
          <a:noFill/>
          <a:ln/>
        </p:spPr>
        <p:txBody>
          <a:bodyPr wrap="square" lIns="0" tIns="0" rIns="0" bIns="0" rtlCol="0" anchor="ctr"/>
          <a:lstStyle/>
          <a:p>
            <a:pPr indent="0" marL="0">
              <a:buNone/>
            </a:pPr>
            <a:r>
              <a:rPr lang="en-US" sz="1500" b="1" dirty="0">
                <a:solidFill>
                  <a:srgbClr val="06D6A0"/>
                </a:solidFill>
                <a:latin typeface="Arial" pitchFamily="34" charset="0"/>
                <a:ea typeface="Arial" pitchFamily="34" charset="-122"/>
                <a:cs typeface="Arial" pitchFamily="34" charset="-120"/>
              </a:rPr>
              <a:t>Sustainable liquidity</a:t>
            </a:r>
            <a:endParaRPr lang="en-US" sz="1500" dirty="0"/>
          </a:p>
        </p:txBody>
      </p:sp>
      <p:sp>
        <p:nvSpPr>
          <p:cNvPr id="24" name="Text 22"/>
          <p:cNvSpPr txBox="1"/>
          <p:nvPr/>
        </p:nvSpPr>
        <p:spPr>
          <a:xfrm>
            <a:off x="6309360" y="5413248"/>
            <a:ext cx="4937760" cy="548640"/>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penalty is an LP fee, so extraction is redirected into LP yield.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GradientShield</dc:title>
  <dc:subject>PptxGenJS Presentation</dc:subject>
  <dc:creator>GradientShield</dc:creator>
  <cp:lastModifiedBy>GradientShield</cp:lastModifiedBy>
  <cp:revision>1</cp:revision>
  <dcterms:created xsi:type="dcterms:W3CDTF">2026-09-02T02:09:53Z</dcterms:created>
  <dcterms:modified xsi:type="dcterms:W3CDTF">2026-09-02T02:09:53Z</dcterms:modified>
</cp:coreProperties>
</file>